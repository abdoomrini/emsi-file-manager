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324" r:id="rId2"/>
    <p:sldId id="325" r:id="rId3"/>
    <p:sldId id="326" r:id="rId4"/>
    <p:sldId id="327" r:id="rId5"/>
    <p:sldId id="328" r:id="rId6"/>
    <p:sldId id="329" r:id="rId7"/>
    <p:sldId id="330" r:id="rId8"/>
    <p:sldId id="331" r:id="rId9"/>
    <p:sldId id="332" r:id="rId10"/>
    <p:sldId id="33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4691"/>
  </p:normalViewPr>
  <p:slideViewPr>
    <p:cSldViewPr snapToGrid="0">
      <p:cViewPr varScale="1">
        <p:scale>
          <a:sx n="107" d="100"/>
          <a:sy n="107" d="100"/>
        </p:scale>
        <p:origin x="11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129BA-965D-394C-AA2C-4D8E72726BF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E1B75-4A72-7C43-A05C-64CF18E2A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1901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EAB33-A044-C921-B1D4-1D5D79A48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8B8AE-0848-9297-5329-4834EB6B7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BF075-CC92-5544-A59D-87270718B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48871-EA67-2DDA-0AB8-BD153B5BB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E1B75-4A72-7C43-A05C-64CF18E2A08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2151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D1D0-29B4-F14F-6554-B8A4478E7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E3196-4F41-F786-BB49-762BA0FC3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90CA4-2527-2783-D31F-1CB8B218C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CF33D-455A-F769-25FA-6F8338E97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E1B75-4A72-7C43-A05C-64CF18E2A08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996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0AAB6-330D-CB98-A673-2B354997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DCA7F-9473-D099-4A94-4C9CE7099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27C10-EA88-224E-BB8F-27BAE9242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B8ED1-4927-4494-D777-6DCFAAAFE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E1B75-4A72-7C43-A05C-64CF18E2A08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0771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4D1E3-139D-EEFA-E140-404F3D6AD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3833A-14A1-55F0-CB85-B5D036D90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CA469-3289-0808-C47C-A5406291F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12B94-C054-9937-4BFB-4FFE163FB6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E1B75-4A72-7C43-A05C-64CF18E2A08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7253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53734-D616-934D-6B39-89BF6E6E1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BEB29-1E0E-1EE0-F830-77FE7B11C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AD092-C122-68B0-78FD-6BACF2F05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C9930-DB2F-5E76-7583-B132CC24D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E1B75-4A72-7C43-A05C-64CF18E2A08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8384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9A618-6F30-BCB8-3DFE-C03B8C27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640D2-85D7-3994-FC48-845C9C064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758C8-E188-64AB-5F27-C9E4D654A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12D79-F1F8-D1B3-6134-4DA8623AF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E1B75-4A72-7C43-A05C-64CF18E2A08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5770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41857-A987-A8F7-2248-39D5087FC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1E967-36BC-EADE-3367-4928F5056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8779B3-5565-D504-A41C-BC6BC6598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DA844-68DE-BB75-B660-57D39EFB0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E1B75-4A72-7C43-A05C-64CF18E2A08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3987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1926D-B123-D581-693C-8A2A92CC2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28B58D-0E00-800C-025D-054DDA597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F9F66-2A89-AC7B-FDE2-88088C070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61EC9-07B2-0408-89FF-460FCFEAA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E1B75-4A72-7C43-A05C-64CF18E2A08C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459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26342-7678-BA5D-17B9-D7B120597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DC9501-EB03-0FF2-12F1-EC7459F3C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28817-D075-FB7B-9DA9-4218EBF70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8F345-CB8C-7E3C-56E8-A745B5787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E1B75-4A72-7C43-A05C-64CF18E2A08C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4033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41394-6E52-4C44-8B2A-EA00A930717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0FBC693-1DED-224C-BB4C-79088F2AA503}" type="slidenum">
              <a:rPr lang="fr-FR" smtClean="0"/>
              <a:t>‹N°›</a:t>
            </a:fld>
            <a:endParaRPr lang="fr-F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rgbClr val="00756C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rgbClr val="00756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1649503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41394-6E52-4C44-8B2A-EA00A930717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0FBC693-1DED-224C-BB4C-79088F2AA503}" type="slidenum">
              <a:rPr lang="fr-FR" smtClean="0"/>
              <a:t>‹N°›</a:t>
            </a:fld>
            <a:endParaRPr lang="fr-FR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5BDD980-8595-5F0D-C92B-594B62C2CF76}"/>
              </a:ext>
            </a:extLst>
          </p:cNvPr>
          <p:cNvGrpSpPr/>
          <p:nvPr/>
        </p:nvGrpSpPr>
        <p:grpSpPr>
          <a:xfrm>
            <a:off x="764510" y="743025"/>
            <a:ext cx="10662465" cy="5351115"/>
            <a:chOff x="764510" y="743025"/>
            <a:chExt cx="10662465" cy="535111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E031243-F8A9-F687-CD7B-2D6AF4A6D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10575" y="1611040"/>
              <a:ext cx="4216400" cy="44831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099C880-5395-BE60-B2F5-93B802160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764510" y="743025"/>
              <a:ext cx="4216400" cy="4483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7451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41394-6E52-4C44-8B2A-EA00A930717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BC693-1DED-224C-BB4C-79088F2AA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921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41394-6E52-4C44-8B2A-EA00A930717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FBC693-1DED-224C-BB4C-79088F2AA503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rgbClr val="00756C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72249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41394-6E52-4C44-8B2A-EA00A930717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FBC693-1DED-224C-BB4C-79088F2AA503}" type="slidenum">
              <a:rPr lang="fr-FR" smtClean="0"/>
              <a:t>‹N°›</a:t>
            </a:fld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E31110-5E22-A209-4D02-8C30F8994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575" y="1611040"/>
            <a:ext cx="42164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98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8908" y="0"/>
            <a:ext cx="10559569" cy="1327481"/>
          </a:xfrm>
        </p:spPr>
        <p:txBody>
          <a:bodyPr anchor="b">
            <a:normAutofit/>
          </a:bodyPr>
          <a:lstStyle>
            <a:lvl1pPr algn="l">
              <a:defRPr sz="66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8907" y="1976137"/>
            <a:ext cx="10559570" cy="4174141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41394-6E52-4C44-8B2A-EA00A930717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FBC693-1DED-224C-BB4C-79088F2AA503}" type="slidenum">
              <a:rPr lang="fr-FR" smtClean="0"/>
              <a:t>‹N°›</a:t>
            </a:fld>
            <a:endParaRPr lang="fr-FR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F6A167-A840-BB5E-8776-A6160A36F6C5}"/>
              </a:ext>
            </a:extLst>
          </p:cNvPr>
          <p:cNvGrpSpPr/>
          <p:nvPr/>
        </p:nvGrpSpPr>
        <p:grpSpPr>
          <a:xfrm>
            <a:off x="-2" y="1245116"/>
            <a:ext cx="12192001" cy="480983"/>
            <a:chOff x="-2" y="1245116"/>
            <a:chExt cx="12192001" cy="48098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FCC2F66-95B1-EE4D-01B4-2DE71C3C2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8969"/>
            <a:stretch/>
          </p:blipFill>
          <p:spPr>
            <a:xfrm rot="5400000">
              <a:off x="3899361" y="-2654247"/>
              <a:ext cx="480983" cy="827970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4D88D50-59EC-67D0-3994-83E0E3C78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1712"/>
            <a:stretch/>
          </p:blipFill>
          <p:spPr>
            <a:xfrm rot="5400000">
              <a:off x="9995363" y="-470538"/>
              <a:ext cx="480981" cy="39122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5253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41394-6E52-4C44-8B2A-EA00A930717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BC693-1DED-224C-BB4C-79088F2AA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3377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41394-6E52-4C44-8B2A-EA00A930717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BC693-1DED-224C-BB4C-79088F2AA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2837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41394-6E52-4C44-8B2A-EA00A930717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BC693-1DED-224C-BB4C-79088F2AA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246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41394-6E52-4C44-8B2A-EA00A930717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BC693-1DED-224C-BB4C-79088F2AA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8913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rgbClr val="007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41394-6E52-4C44-8B2A-EA00A930717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FBC693-1DED-224C-BB4C-79088F2AA503}" type="slidenum">
              <a:rPr lang="fr-FR" smtClean="0"/>
              <a:t>‹N°›</a:t>
            </a:fld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3C08A0-FB37-441A-01A3-5F44D53DC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0"/>
            <a:ext cx="322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542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 rot="16200000">
            <a:off x="5313123" y="-5338175"/>
            <a:ext cx="1553227" cy="12204526"/>
          </a:xfrm>
          <a:prstGeom prst="rect">
            <a:avLst/>
          </a:prstGeom>
          <a:solidFill>
            <a:srgbClr val="007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41394-6E52-4C44-8B2A-EA00A930717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FBC693-1DED-224C-BB4C-79088F2AA503}" type="slidenum">
              <a:rPr lang="fr-FR" smtClean="0"/>
              <a:t>‹N°›</a:t>
            </a:fld>
            <a:endParaRPr lang="fr-F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FC23FC-2ADB-CC4E-734B-5ACE884BA63E}"/>
              </a:ext>
            </a:extLst>
          </p:cNvPr>
          <p:cNvGrpSpPr/>
          <p:nvPr/>
        </p:nvGrpSpPr>
        <p:grpSpPr>
          <a:xfrm>
            <a:off x="8350" y="1540836"/>
            <a:ext cx="12192001" cy="480983"/>
            <a:chOff x="-2" y="1245116"/>
            <a:chExt cx="12192001" cy="48098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45FA1D7-0382-923F-A9B6-D950D5D0B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8969"/>
            <a:stretch/>
          </p:blipFill>
          <p:spPr>
            <a:xfrm rot="5400000">
              <a:off x="3899361" y="-2654247"/>
              <a:ext cx="480983" cy="827970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E0CF778-68EF-044D-79D8-DF712D246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1712"/>
            <a:stretch/>
          </p:blipFill>
          <p:spPr>
            <a:xfrm rot="5400000">
              <a:off x="9995363" y="-470538"/>
              <a:ext cx="480981" cy="3912291"/>
            </a:xfrm>
            <a:prstGeom prst="rect">
              <a:avLst/>
            </a:prstGeom>
          </p:spPr>
        </p:pic>
      </p:grp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476460F-8CB4-5A0D-D606-37007FB3B5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3900" y="2354263"/>
            <a:ext cx="10755313" cy="364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88BA582-7806-6F0E-F449-F8C431585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4803"/>
            <a:ext cx="9601200" cy="148590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0240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4F6D7CD-E263-58DA-0656-D81CA44F8DA1}"/>
              </a:ext>
            </a:extLst>
          </p:cNvPr>
          <p:cNvGrpSpPr/>
          <p:nvPr/>
        </p:nvGrpSpPr>
        <p:grpSpPr>
          <a:xfrm rot="10800000">
            <a:off x="0" y="4870838"/>
            <a:ext cx="12212877" cy="2034345"/>
            <a:chOff x="-12526" y="-12526"/>
            <a:chExt cx="12212877" cy="2034345"/>
          </a:xfrm>
        </p:grpSpPr>
        <p:sp>
          <p:nvSpPr>
            <p:cNvPr id="8" name="Rectangle 7" title="Background Shape"/>
            <p:cNvSpPr/>
            <p:nvPr/>
          </p:nvSpPr>
          <p:spPr>
            <a:xfrm rot="16200000">
              <a:off x="5313123" y="-5338175"/>
              <a:ext cx="1553227" cy="12204526"/>
            </a:xfrm>
            <a:prstGeom prst="rect">
              <a:avLst/>
            </a:prstGeom>
            <a:solidFill>
              <a:srgbClr val="0075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2FC23FC-2ADB-CC4E-734B-5ACE884BA63E}"/>
                </a:ext>
              </a:extLst>
            </p:cNvPr>
            <p:cNvGrpSpPr/>
            <p:nvPr/>
          </p:nvGrpSpPr>
          <p:grpSpPr>
            <a:xfrm>
              <a:off x="8350" y="1540836"/>
              <a:ext cx="12192001" cy="480983"/>
              <a:chOff x="-2" y="1245116"/>
              <a:chExt cx="12192001" cy="480983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B45FA1D7-0382-923F-A9B6-D950D5D0BF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b="18969"/>
              <a:stretch/>
            </p:blipFill>
            <p:spPr>
              <a:xfrm rot="5400000">
                <a:off x="3899361" y="-2654247"/>
                <a:ext cx="480983" cy="8279709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FE0CF778-68EF-044D-79D8-DF712D2468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61712"/>
              <a:stretch/>
            </p:blipFill>
            <p:spPr>
              <a:xfrm rot="5400000">
                <a:off x="9995363" y="-470538"/>
                <a:ext cx="480981" cy="3912291"/>
              </a:xfrm>
              <a:prstGeom prst="rect">
                <a:avLst/>
              </a:prstGeom>
            </p:spPr>
          </p:pic>
        </p:grp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41394-6E52-4C44-8B2A-EA00A930717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FBC693-1DED-224C-BB4C-79088F2AA503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476460F-8CB4-5A0D-D606-37007FB3B5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3900" y="1794077"/>
            <a:ext cx="10755313" cy="2847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88BA582-7806-6F0E-F449-F8C431585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4803"/>
            <a:ext cx="9601200" cy="148590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0134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rgbClr val="007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41394-6E52-4C44-8B2A-EA00A930717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FBC693-1DED-224C-BB4C-79088F2AA503}" type="slidenum">
              <a:rPr lang="fr-FR" smtClean="0"/>
              <a:t>‹N°›</a:t>
            </a:fld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A22765-E586-DDA8-405B-65133269A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079" y="0"/>
            <a:ext cx="322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91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41394-6E52-4C44-8B2A-EA00A930717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BC693-1DED-224C-BB4C-79088F2AA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7163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41394-6E52-4C44-8B2A-EA00A930717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BC693-1DED-224C-BB4C-79088F2AA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672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1F41394-6E52-4C44-8B2A-EA00A9307176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B0FBC693-1DED-224C-BB4C-79088F2AA503}" type="slidenum">
              <a:rPr lang="fr-FR" smtClean="0"/>
              <a:t>‹N°›</a:t>
            </a:fld>
            <a:endParaRPr lang="fr-F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E13356-CA76-D254-A3F3-46E68A5F25D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9376" y="0"/>
            <a:ext cx="322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48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87731-8AD8-A13C-B37F-F8A314C5F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3B3FF-0906-1F48-6554-EA1E2D63F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1328513"/>
            <a:ext cx="8361229" cy="4200973"/>
          </a:xfrm>
        </p:spPr>
        <p:txBody>
          <a:bodyPr anchor="ctr"/>
          <a:lstStyle/>
          <a:p>
            <a:r>
              <a:rPr lang="en-US" dirty="0"/>
              <a:t>ÉTHIQUE DE L’IA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9662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EB432-F601-A093-AC00-A7F379E8C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703B-573A-5B7F-F5C7-1ABBFBC02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489474" cy="724989"/>
          </a:xfrm>
        </p:spPr>
        <p:txBody>
          <a:bodyPr>
            <a:noAutofit/>
          </a:bodyPr>
          <a:lstStyle/>
          <a:p>
            <a:r>
              <a:rPr lang="en-US" sz="3600" dirty="0"/>
              <a:t>1. </a:t>
            </a:r>
            <a:r>
              <a:rPr lang="en-US" sz="3600" dirty="0" err="1"/>
              <a:t>Qu’est-ce</a:t>
            </a:r>
            <a:r>
              <a:rPr lang="en-US" sz="3600" dirty="0"/>
              <a:t> que la </a:t>
            </a:r>
            <a:r>
              <a:rPr lang="en-US" sz="3600" dirty="0" err="1"/>
              <a:t>gouvernance</a:t>
            </a:r>
            <a:r>
              <a:rPr lang="en-US" sz="3600" dirty="0"/>
              <a:t> de </a:t>
            </a:r>
            <a:r>
              <a:rPr lang="en-US" sz="3600" dirty="0" err="1"/>
              <a:t>l’IA</a:t>
            </a:r>
            <a:r>
              <a:rPr lang="en-US" sz="3600" dirty="0"/>
              <a:t> ?</a:t>
            </a:r>
            <a:endParaRPr lang="fr-FR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AEC06D-E7B5-599E-F6BA-B5B26E2D6760}"/>
              </a:ext>
            </a:extLst>
          </p:cNvPr>
          <p:cNvSpPr txBox="1"/>
          <p:nvPr/>
        </p:nvSpPr>
        <p:spPr>
          <a:xfrm>
            <a:off x="1371600" y="1410789"/>
            <a:ext cx="10633166" cy="4196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/>
              <a:t>Définition</a:t>
            </a:r>
            <a:r>
              <a:rPr lang="en-US" b="1" dirty="0"/>
              <a:t> :</a:t>
            </a:r>
            <a:br>
              <a:rPr lang="en-US" dirty="0"/>
            </a:br>
            <a:r>
              <a:rPr lang="en-US" dirty="0"/>
              <a:t>La </a:t>
            </a:r>
            <a:r>
              <a:rPr lang="en-US" i="1" dirty="0" err="1"/>
              <a:t>gouvernance</a:t>
            </a:r>
            <a:r>
              <a:rPr lang="en-US" i="1" dirty="0"/>
              <a:t> de </a:t>
            </a:r>
            <a:r>
              <a:rPr lang="en-US" i="1" dirty="0" err="1"/>
              <a:t>l’intelligence</a:t>
            </a:r>
            <a:r>
              <a:rPr lang="en-US" i="1" dirty="0"/>
              <a:t> </a:t>
            </a:r>
            <a:r>
              <a:rPr lang="en-US" i="1" dirty="0" err="1"/>
              <a:t>artificielle</a:t>
            </a:r>
            <a:r>
              <a:rPr lang="en-US" dirty="0"/>
              <a:t> </a:t>
            </a:r>
            <a:r>
              <a:rPr lang="en-US" dirty="0" err="1"/>
              <a:t>désigne</a:t>
            </a:r>
            <a:r>
              <a:rPr lang="en-US" dirty="0"/>
              <a:t> </a:t>
            </a:r>
            <a:r>
              <a:rPr lang="en-US" dirty="0" err="1"/>
              <a:t>l’ensemble</a:t>
            </a:r>
            <a:r>
              <a:rPr lang="en-US" dirty="0"/>
              <a:t> des </a:t>
            </a:r>
            <a:r>
              <a:rPr lang="en-US" b="1" dirty="0" err="1"/>
              <a:t>règles</a:t>
            </a:r>
            <a:r>
              <a:rPr lang="en-US" b="1" dirty="0"/>
              <a:t>, pratiques et </a:t>
            </a:r>
            <a:r>
              <a:rPr lang="en-US" b="1" dirty="0" err="1"/>
              <a:t>responsabilités</a:t>
            </a:r>
            <a:r>
              <a:rPr lang="en-US" dirty="0"/>
              <a:t> </a:t>
            </a:r>
            <a:r>
              <a:rPr lang="en-US" dirty="0" err="1"/>
              <a:t>permettant</a:t>
            </a:r>
            <a:r>
              <a:rPr lang="en-US" dirty="0"/>
              <a:t> </a:t>
            </a:r>
            <a:r>
              <a:rPr lang="en-US" dirty="0" err="1"/>
              <a:t>d’assurer</a:t>
            </a:r>
            <a:r>
              <a:rPr lang="en-US" dirty="0"/>
              <a:t> que les </a:t>
            </a:r>
            <a:r>
              <a:rPr lang="en-US" dirty="0" err="1"/>
              <a:t>systèmes</a:t>
            </a:r>
            <a:r>
              <a:rPr lang="en-US" dirty="0"/>
              <a:t> </a:t>
            </a:r>
            <a:r>
              <a:rPr lang="en-US" dirty="0" err="1"/>
              <a:t>d’IA</a:t>
            </a:r>
            <a:r>
              <a:rPr lang="en-US" dirty="0"/>
              <a:t> </a:t>
            </a:r>
            <a:r>
              <a:rPr lang="en-US" dirty="0" err="1"/>
              <a:t>soient</a:t>
            </a:r>
            <a:r>
              <a:rPr lang="en-US" dirty="0"/>
              <a:t> </a:t>
            </a:r>
            <a:r>
              <a:rPr lang="en-US" b="1" dirty="0" err="1"/>
              <a:t>fiables</a:t>
            </a:r>
            <a:r>
              <a:rPr lang="en-US" b="1" dirty="0"/>
              <a:t>, </a:t>
            </a:r>
            <a:r>
              <a:rPr lang="en-US" b="1" dirty="0" err="1"/>
              <a:t>équitables</a:t>
            </a:r>
            <a:r>
              <a:rPr lang="en-US" b="1" dirty="0"/>
              <a:t>, </a:t>
            </a:r>
            <a:r>
              <a:rPr lang="en-US" b="1" dirty="0" err="1"/>
              <a:t>transparents</a:t>
            </a:r>
            <a:r>
              <a:rPr lang="en-US" b="1" dirty="0"/>
              <a:t> et </a:t>
            </a:r>
            <a:r>
              <a:rPr lang="en-US" b="1" dirty="0" err="1"/>
              <a:t>éthiques</a:t>
            </a:r>
            <a:r>
              <a:rPr lang="en-US" dirty="0"/>
              <a:t> tout au long de </a:t>
            </a:r>
            <a:r>
              <a:rPr lang="en-US" dirty="0" err="1"/>
              <a:t>leur</a:t>
            </a:r>
            <a:r>
              <a:rPr lang="en-US" dirty="0"/>
              <a:t> cycle de vie.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Elle </a:t>
            </a:r>
            <a:r>
              <a:rPr lang="en-US" dirty="0" err="1"/>
              <a:t>implique</a:t>
            </a:r>
            <a:r>
              <a:rPr lang="en-US" dirty="0"/>
              <a:t>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b="1" dirty="0"/>
              <a:t>supervision </a:t>
            </a:r>
            <a:r>
              <a:rPr lang="en-US" b="1" dirty="0" err="1"/>
              <a:t>humaine</a:t>
            </a:r>
            <a:r>
              <a:rPr lang="en-US" b="1" dirty="0"/>
              <a:t> </a:t>
            </a:r>
            <a:r>
              <a:rPr lang="en-US" b="1" dirty="0" err="1"/>
              <a:t>constante</a:t>
            </a:r>
            <a:r>
              <a:rPr lang="en-US" dirty="0"/>
              <a:t>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des </a:t>
            </a:r>
            <a:r>
              <a:rPr lang="en-US" b="1" dirty="0" err="1"/>
              <a:t>règles</a:t>
            </a:r>
            <a:r>
              <a:rPr lang="en-US" b="1" dirty="0"/>
              <a:t> </a:t>
            </a:r>
            <a:r>
              <a:rPr lang="en-US" b="1" dirty="0" err="1"/>
              <a:t>claires</a:t>
            </a:r>
            <a:r>
              <a:rPr lang="en-US" b="1" dirty="0"/>
              <a:t> de </a:t>
            </a:r>
            <a:r>
              <a:rPr lang="en-US" b="1" dirty="0" err="1"/>
              <a:t>responsabilité</a:t>
            </a:r>
            <a:r>
              <a:rPr lang="en-US" dirty="0"/>
              <a:t>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des </a:t>
            </a:r>
            <a:r>
              <a:rPr lang="en-US" b="1" dirty="0" err="1"/>
              <a:t>mécanismes</a:t>
            </a:r>
            <a:r>
              <a:rPr lang="en-US" b="1" dirty="0"/>
              <a:t> de </a:t>
            </a:r>
            <a:r>
              <a:rPr lang="en-US" b="1" dirty="0" err="1"/>
              <a:t>contrôle</a:t>
            </a:r>
            <a:r>
              <a:rPr lang="en-US" b="1" dirty="0"/>
              <a:t> et </a:t>
            </a:r>
            <a:r>
              <a:rPr lang="en-US" b="1" dirty="0" err="1"/>
              <a:t>d’audit</a:t>
            </a:r>
            <a:r>
              <a:rPr lang="en-US" dirty="0"/>
              <a:t>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et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b="1" dirty="0"/>
              <a:t>culture </a:t>
            </a:r>
            <a:r>
              <a:rPr lang="en-US" b="1" dirty="0" err="1"/>
              <a:t>éthique</a:t>
            </a:r>
            <a:r>
              <a:rPr lang="en-US" b="1" dirty="0"/>
              <a:t> </a:t>
            </a:r>
            <a:r>
              <a:rPr lang="en-US" b="1" dirty="0" err="1"/>
              <a:t>partagée</a:t>
            </a:r>
            <a:r>
              <a:rPr lang="en-US" dirty="0"/>
              <a:t> au sein des </a:t>
            </a:r>
            <a:r>
              <a:rPr lang="en-US" dirty="0" err="1"/>
              <a:t>organisations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6843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AA334-FF32-9918-334F-D30649473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F86F1-CED1-72E2-EDE3-DFB88F835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489474" cy="724989"/>
          </a:xfrm>
        </p:spPr>
        <p:txBody>
          <a:bodyPr>
            <a:noAutofit/>
          </a:bodyPr>
          <a:lstStyle/>
          <a:p>
            <a:r>
              <a:rPr lang="en-US" sz="3600" dirty="0"/>
              <a:t>1. Les trois </a:t>
            </a:r>
            <a:r>
              <a:rPr lang="en-US" sz="3600" dirty="0" err="1"/>
              <a:t>piliers</a:t>
            </a:r>
            <a:r>
              <a:rPr lang="en-US" sz="3600" dirty="0"/>
              <a:t> de la </a:t>
            </a:r>
            <a:r>
              <a:rPr lang="en-US" sz="3600" dirty="0" err="1"/>
              <a:t>gouvernance</a:t>
            </a:r>
            <a:r>
              <a:rPr lang="en-US" sz="3600" dirty="0"/>
              <a:t> de </a:t>
            </a:r>
            <a:r>
              <a:rPr lang="en-US" sz="3600" dirty="0" err="1"/>
              <a:t>l’IA</a:t>
            </a:r>
            <a:endParaRPr lang="fr-FR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BF03B7-F951-D39E-F4CD-3E268C9F2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967767"/>
              </p:ext>
            </p:extLst>
          </p:nvPr>
        </p:nvGraphicFramePr>
        <p:xfrm>
          <a:off x="1371600" y="1854926"/>
          <a:ext cx="10332720" cy="4317275"/>
        </p:xfrm>
        <a:graphic>
          <a:graphicData uri="http://schemas.openxmlformats.org/drawingml/2006/table">
            <a:tbl>
              <a:tblPr firstRow="1" firstCol="1">
                <a:tableStyleId>{08FB837D-C827-4EFA-A057-4D05807E0F7C}</a:tableStyleId>
              </a:tblPr>
              <a:tblGrid>
                <a:gridCol w="3444240">
                  <a:extLst>
                    <a:ext uri="{9D8B030D-6E8A-4147-A177-3AD203B41FA5}">
                      <a16:colId xmlns:a16="http://schemas.microsoft.com/office/drawing/2014/main" val="190878854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79060546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806574396"/>
                    </a:ext>
                  </a:extLst>
                </a:gridCol>
              </a:tblGrid>
              <a:tr h="507914">
                <a:tc>
                  <a:txBody>
                    <a:bodyPr/>
                    <a:lstStyle/>
                    <a:p>
                      <a:r>
                        <a:rPr lang="en-US" b="1"/>
                        <a:t>Pilier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Exemple concret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9512"/>
                  </a:ext>
                </a:extLst>
              </a:tr>
              <a:tr h="1269787">
                <a:tc>
                  <a:txBody>
                    <a:bodyPr/>
                    <a:lstStyle/>
                    <a:p>
                      <a:r>
                        <a:rPr lang="en-US" b="1"/>
                        <a:t>1. Responsabilité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Identifier qui </a:t>
                      </a:r>
                      <a:r>
                        <a:rPr lang="en-US" dirty="0" err="1"/>
                        <a:t>est</a:t>
                      </a:r>
                      <a:r>
                        <a:rPr lang="en-US" dirty="0"/>
                        <a:t> </a:t>
                      </a:r>
                      <a:r>
                        <a:rPr lang="en-US"/>
                        <a:t>responsable </a:t>
                      </a:r>
                      <a:r>
                        <a:rPr lang="en-US" dirty="0"/>
                        <a:t>des actions de </a:t>
                      </a:r>
                      <a:r>
                        <a:rPr lang="en-US" dirty="0" err="1"/>
                        <a:t>l’IA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Si une voiture autonome cause un accident, qui est responsable 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875953"/>
                  </a:ext>
                </a:extLst>
              </a:tr>
              <a:tr h="1269787">
                <a:tc>
                  <a:txBody>
                    <a:bodyPr/>
                    <a:lstStyle/>
                    <a:p>
                      <a:r>
                        <a:rPr lang="en-US" b="1"/>
                        <a:t>2. Transparence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Comprendre comment et pourquoi une IA prend une décision.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Un algorithme bancaire doit expliquer un refus de crédit.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056537"/>
                  </a:ext>
                </a:extLst>
              </a:tr>
              <a:tr h="1269787">
                <a:tc>
                  <a:txBody>
                    <a:bodyPr/>
                    <a:lstStyle/>
                    <a:p>
                      <a:r>
                        <a:rPr lang="en-US" b="1"/>
                        <a:t>3. Contrôle humain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Maintenir une supervision et une capacité d’intervention humaine.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 </a:t>
                      </a:r>
                      <a:r>
                        <a:rPr lang="en-US" dirty="0" err="1"/>
                        <a:t>médecin</a:t>
                      </a:r>
                      <a:r>
                        <a:rPr lang="en-US" dirty="0"/>
                        <a:t> doit </a:t>
                      </a:r>
                      <a:r>
                        <a:rPr lang="en-US" dirty="0" err="1"/>
                        <a:t>pouvoir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désactiver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une</a:t>
                      </a:r>
                      <a:r>
                        <a:rPr lang="en-US" dirty="0"/>
                        <a:t> IA de diagnostic </a:t>
                      </a:r>
                      <a:r>
                        <a:rPr lang="en-US" dirty="0" err="1"/>
                        <a:t>erronée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729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006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BC0B6-59A1-A682-3C8A-ACB05AB6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02DE5-E8E8-D592-F852-AD0B8A9D3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489474" cy="724989"/>
          </a:xfrm>
        </p:spPr>
        <p:txBody>
          <a:bodyPr>
            <a:noAutofit/>
          </a:bodyPr>
          <a:lstStyle/>
          <a:p>
            <a:r>
              <a:rPr lang="en-US" sz="3600" dirty="0"/>
              <a:t>2. Qui </a:t>
            </a:r>
            <a:r>
              <a:rPr lang="en-US" sz="3600" dirty="0" err="1"/>
              <a:t>est</a:t>
            </a:r>
            <a:r>
              <a:rPr lang="en-US" sz="3600" dirty="0"/>
              <a:t> </a:t>
            </a:r>
            <a:r>
              <a:rPr lang="en-US" sz="3600" dirty="0" err="1"/>
              <a:t>responsable</a:t>
            </a:r>
            <a:r>
              <a:rPr lang="en-US" sz="3600" dirty="0"/>
              <a:t> </a:t>
            </a:r>
            <a:r>
              <a:rPr lang="en-US" sz="3600" dirty="0" err="1"/>
              <a:t>quand</a:t>
            </a:r>
            <a:r>
              <a:rPr lang="en-US" sz="3600" dirty="0"/>
              <a:t> </a:t>
            </a:r>
            <a:r>
              <a:rPr lang="en-US" sz="3600" dirty="0" err="1"/>
              <a:t>l’IA</a:t>
            </a:r>
            <a:r>
              <a:rPr lang="en-US" sz="3600" dirty="0"/>
              <a:t> se trompe ?”</a:t>
            </a:r>
            <a:endParaRPr lang="fr-FR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F0FDF-7DB0-A57D-C841-176D2DACF24B}"/>
              </a:ext>
            </a:extLst>
          </p:cNvPr>
          <p:cNvSpPr txBox="1"/>
          <p:nvPr/>
        </p:nvSpPr>
        <p:spPr>
          <a:xfrm>
            <a:off x="1371599" y="1410789"/>
            <a:ext cx="1037190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L’un</a:t>
            </a:r>
            <a:r>
              <a:rPr lang="en-US" dirty="0"/>
              <a:t> des plus grands </a:t>
            </a:r>
            <a:r>
              <a:rPr lang="en-US" dirty="0" err="1"/>
              <a:t>défis</a:t>
            </a:r>
            <a:r>
              <a:rPr lang="en-US" dirty="0"/>
              <a:t> de </a:t>
            </a:r>
            <a:r>
              <a:rPr lang="en-US" dirty="0" err="1"/>
              <a:t>l’éthique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IA </a:t>
            </a:r>
            <a:r>
              <a:rPr lang="en-US" dirty="0" err="1"/>
              <a:t>est</a:t>
            </a:r>
            <a:r>
              <a:rPr lang="en-US" dirty="0"/>
              <a:t> la </a:t>
            </a:r>
            <a:r>
              <a:rPr lang="en-US" b="1" dirty="0" err="1"/>
              <a:t>répartition</a:t>
            </a:r>
            <a:r>
              <a:rPr lang="en-US" b="1" dirty="0"/>
              <a:t> de la </a:t>
            </a:r>
            <a:r>
              <a:rPr lang="en-US" b="1" dirty="0" err="1"/>
              <a:t>responsabilité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Lorsqu’un</a:t>
            </a:r>
            <a:r>
              <a:rPr lang="en-US" dirty="0"/>
              <a:t> </a:t>
            </a:r>
            <a:r>
              <a:rPr lang="en-US" dirty="0" err="1"/>
              <a:t>système</a:t>
            </a:r>
            <a:r>
              <a:rPr lang="en-US" dirty="0"/>
              <a:t> </a:t>
            </a:r>
            <a:r>
              <a:rPr lang="en-US" dirty="0" err="1"/>
              <a:t>d’IA</a:t>
            </a:r>
            <a:r>
              <a:rPr lang="en-US" dirty="0"/>
              <a:t> </a:t>
            </a:r>
            <a:r>
              <a:rPr lang="en-US" dirty="0" err="1"/>
              <a:t>commet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erreur</a:t>
            </a:r>
            <a:r>
              <a:rPr lang="en-US" dirty="0"/>
              <a:t>, </a:t>
            </a:r>
            <a:r>
              <a:rPr lang="en-US" dirty="0" err="1"/>
              <a:t>plusieurs</a:t>
            </a:r>
            <a:r>
              <a:rPr lang="en-US" dirty="0"/>
              <a:t> </a:t>
            </a:r>
            <a:r>
              <a:rPr lang="en-US" dirty="0" err="1"/>
              <a:t>acteurs</a:t>
            </a:r>
            <a:r>
              <a:rPr lang="en-US" dirty="0"/>
              <a:t> </a:t>
            </a:r>
            <a:r>
              <a:rPr lang="en-US" dirty="0" err="1"/>
              <a:t>peuvent</a:t>
            </a:r>
            <a:r>
              <a:rPr lang="en-US" dirty="0"/>
              <a:t> </a:t>
            </a:r>
            <a:r>
              <a:rPr lang="en-US" dirty="0" err="1"/>
              <a:t>être</a:t>
            </a:r>
            <a:r>
              <a:rPr lang="en-US" dirty="0"/>
              <a:t> </a:t>
            </a:r>
            <a:r>
              <a:rPr lang="en-US" dirty="0" err="1"/>
              <a:t>concernés</a:t>
            </a:r>
            <a:r>
              <a:rPr lang="en-US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 </a:t>
            </a:r>
            <a:r>
              <a:rPr lang="en-US" b="1" dirty="0" err="1"/>
              <a:t>développeurs</a:t>
            </a:r>
            <a:r>
              <a:rPr lang="en-US" dirty="0"/>
              <a:t> (</a:t>
            </a:r>
            <a:r>
              <a:rPr lang="en-US" dirty="0" err="1"/>
              <a:t>conçoivent</a:t>
            </a:r>
            <a:r>
              <a:rPr lang="en-US" dirty="0"/>
              <a:t> le </a:t>
            </a:r>
            <a:r>
              <a:rPr lang="en-US" dirty="0" err="1"/>
              <a:t>modèle</a:t>
            </a:r>
            <a:r>
              <a:rPr lang="en-US" dirty="0"/>
              <a:t>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 </a:t>
            </a:r>
            <a:r>
              <a:rPr lang="en-US" b="1" dirty="0" err="1"/>
              <a:t>entreprises</a:t>
            </a:r>
            <a:r>
              <a:rPr lang="en-US" dirty="0"/>
              <a:t> (</a:t>
            </a:r>
            <a:r>
              <a:rPr lang="en-US" dirty="0" err="1"/>
              <a:t>décident</a:t>
            </a:r>
            <a:r>
              <a:rPr lang="en-US" dirty="0"/>
              <a:t> de son usage),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 </a:t>
            </a:r>
            <a:r>
              <a:rPr lang="en-US" b="1" dirty="0" err="1"/>
              <a:t>utilisateurs</a:t>
            </a:r>
            <a:r>
              <a:rPr lang="en-US" dirty="0"/>
              <a:t> (</a:t>
            </a:r>
            <a:r>
              <a:rPr lang="en-US" dirty="0" err="1"/>
              <a:t>l’appliquent</a:t>
            </a:r>
            <a:r>
              <a:rPr lang="en-US" dirty="0"/>
              <a:t> dans un </a:t>
            </a:r>
            <a:r>
              <a:rPr lang="en-US" dirty="0" err="1"/>
              <a:t>contexte</a:t>
            </a:r>
            <a:r>
              <a:rPr lang="en-US" dirty="0"/>
              <a:t> </a:t>
            </a:r>
            <a:r>
              <a:rPr lang="en-US" dirty="0" err="1"/>
              <a:t>donné</a:t>
            </a:r>
            <a:r>
              <a:rPr lang="en-US" dirty="0"/>
              <a:t>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voire</a:t>
            </a:r>
            <a:r>
              <a:rPr lang="en-US" dirty="0"/>
              <a:t> le </a:t>
            </a:r>
            <a:r>
              <a:rPr lang="en-US" b="1" dirty="0" err="1"/>
              <a:t>constructeur</a:t>
            </a:r>
            <a:r>
              <a:rPr lang="en-US" b="1" dirty="0"/>
              <a:t> matériel</a:t>
            </a:r>
            <a:r>
              <a:rPr lang="en-US" dirty="0"/>
              <a:t> (</a:t>
            </a:r>
            <a:r>
              <a:rPr lang="en-US" dirty="0" err="1"/>
              <a:t>capteurs</a:t>
            </a:r>
            <a:r>
              <a:rPr lang="en-US" dirty="0"/>
              <a:t>, </a:t>
            </a:r>
            <a:r>
              <a:rPr lang="en-US" dirty="0" err="1"/>
              <a:t>véhicules</a:t>
            </a:r>
            <a:r>
              <a:rPr lang="en-US" dirty="0"/>
              <a:t>, robots).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err="1"/>
              <a:t>Exemple</a:t>
            </a:r>
            <a:r>
              <a:rPr lang="en-US" dirty="0"/>
              <a:t> :</a:t>
            </a:r>
          </a:p>
          <a:p>
            <a:r>
              <a:rPr lang="en-US" dirty="0"/>
              <a:t>Une voiture </a:t>
            </a:r>
            <a:r>
              <a:rPr lang="en-US" dirty="0" err="1"/>
              <a:t>autonome</a:t>
            </a:r>
            <a:r>
              <a:rPr lang="en-US" dirty="0"/>
              <a:t> </a:t>
            </a:r>
            <a:r>
              <a:rPr lang="en-US" dirty="0" err="1"/>
              <a:t>freine</a:t>
            </a:r>
            <a:r>
              <a:rPr lang="en-US" dirty="0"/>
              <a:t> trop tard et </a:t>
            </a:r>
            <a:r>
              <a:rPr lang="en-US" dirty="0" err="1"/>
              <a:t>provoque</a:t>
            </a:r>
            <a:r>
              <a:rPr lang="en-US" dirty="0"/>
              <a:t> un accident.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Est-</a:t>
            </a:r>
            <a:r>
              <a:rPr lang="en-US" dirty="0" err="1"/>
              <a:t>ce</a:t>
            </a:r>
            <a:r>
              <a:rPr lang="en-US" dirty="0"/>
              <a:t> la faute du </a:t>
            </a:r>
            <a:r>
              <a:rPr lang="en-US" dirty="0" err="1"/>
              <a:t>développeur</a:t>
            </a:r>
            <a:r>
              <a:rPr lang="en-US" dirty="0"/>
              <a:t> de </a:t>
            </a:r>
            <a:r>
              <a:rPr lang="en-US" dirty="0" err="1"/>
              <a:t>l’algorithme</a:t>
            </a:r>
            <a:r>
              <a:rPr lang="en-US" dirty="0"/>
              <a:t>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 fabricant du </a:t>
            </a:r>
            <a:r>
              <a:rPr lang="en-US" dirty="0" err="1"/>
              <a:t>capteur</a:t>
            </a:r>
            <a:r>
              <a:rPr lang="en-US" dirty="0"/>
              <a:t>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 </a:t>
            </a:r>
            <a:r>
              <a:rPr lang="en-US" dirty="0" err="1"/>
              <a:t>l’utilisateur</a:t>
            </a:r>
            <a:r>
              <a:rPr lang="en-US" dirty="0"/>
              <a:t> qui </a:t>
            </a:r>
            <a:r>
              <a:rPr lang="en-US" dirty="0" err="1"/>
              <a:t>n’a</a:t>
            </a:r>
            <a:r>
              <a:rPr lang="en-US" dirty="0"/>
              <a:t> pas </a:t>
            </a:r>
            <a:r>
              <a:rPr lang="en-US" dirty="0" err="1"/>
              <a:t>surveillé</a:t>
            </a:r>
            <a:r>
              <a:rPr lang="en-US" dirty="0"/>
              <a:t> la route ?</a:t>
            </a:r>
          </a:p>
          <a:p>
            <a:endParaRPr lang="en-US" dirty="0"/>
          </a:p>
          <a:p>
            <a:r>
              <a:rPr lang="en-US" dirty="0"/>
              <a:t>Le </a:t>
            </a:r>
            <a:r>
              <a:rPr lang="en-US" dirty="0" err="1"/>
              <a:t>principe</a:t>
            </a:r>
            <a:r>
              <a:rPr lang="en-US" dirty="0"/>
              <a:t> </a:t>
            </a:r>
            <a:r>
              <a:rPr lang="en-US" dirty="0" err="1"/>
              <a:t>éthique</a:t>
            </a:r>
            <a:r>
              <a:rPr lang="en-US" dirty="0"/>
              <a:t> dominant : </a:t>
            </a:r>
            <a:r>
              <a:rPr lang="en-US" b="1" dirty="0"/>
              <a:t>la </a:t>
            </a:r>
            <a:r>
              <a:rPr lang="en-US" b="1" dirty="0" err="1"/>
              <a:t>responsabilité</a:t>
            </a:r>
            <a:r>
              <a:rPr lang="en-US" b="1" dirty="0"/>
              <a:t> </a:t>
            </a:r>
            <a:r>
              <a:rPr lang="en-US" b="1" dirty="0" err="1"/>
              <a:t>reste</a:t>
            </a:r>
            <a:r>
              <a:rPr lang="en-US" b="1" dirty="0"/>
              <a:t> </a:t>
            </a:r>
            <a:r>
              <a:rPr lang="en-US" b="1" dirty="0" err="1"/>
              <a:t>humaine</a:t>
            </a:r>
            <a:r>
              <a:rPr lang="en-US" b="1" dirty="0"/>
              <a:t>.</a:t>
            </a:r>
            <a:br>
              <a:rPr lang="en-US" dirty="0"/>
            </a:br>
            <a:r>
              <a:rPr lang="en-US" dirty="0" err="1"/>
              <a:t>Même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décision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automatisée</a:t>
            </a:r>
            <a:r>
              <a:rPr lang="en-US" dirty="0"/>
              <a:t>, </a:t>
            </a:r>
            <a:r>
              <a:rPr lang="en-US" b="1" dirty="0" err="1"/>
              <a:t>l’humain</a:t>
            </a:r>
            <a:r>
              <a:rPr lang="en-US" b="1" dirty="0"/>
              <a:t> doit </a:t>
            </a:r>
            <a:r>
              <a:rPr lang="en-US" b="1" dirty="0" err="1"/>
              <a:t>toujours</a:t>
            </a:r>
            <a:r>
              <a:rPr lang="en-US" b="1" dirty="0"/>
              <a:t> </a:t>
            </a:r>
            <a:r>
              <a:rPr lang="en-US" b="1" dirty="0" err="1"/>
              <a:t>pouvoir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répondre</a:t>
            </a:r>
            <a:r>
              <a:rPr lang="en-US" b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608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06F10-FDE1-9AD6-53C4-56E8EB25E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16A69-58A8-99E1-892B-06E40752D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489474" cy="724989"/>
          </a:xfrm>
        </p:spPr>
        <p:txBody>
          <a:bodyPr>
            <a:noAutofit/>
          </a:bodyPr>
          <a:lstStyle/>
          <a:p>
            <a:r>
              <a:rPr lang="en-US" sz="3600" dirty="0"/>
              <a:t>3. Les </a:t>
            </a:r>
            <a:r>
              <a:rPr lang="en-US" sz="3600" dirty="0" err="1"/>
              <a:t>niveaux</a:t>
            </a:r>
            <a:r>
              <a:rPr lang="en-US" sz="3600" dirty="0"/>
              <a:t> de </a:t>
            </a:r>
            <a:r>
              <a:rPr lang="en-US" sz="3600" dirty="0" err="1"/>
              <a:t>responsabilité</a:t>
            </a:r>
            <a:endParaRPr lang="fr-FR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C4C1B4-1A8E-C804-BD25-02F180078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925594"/>
              </p:ext>
            </p:extLst>
          </p:nvPr>
        </p:nvGraphicFramePr>
        <p:xfrm>
          <a:off x="1371600" y="1601289"/>
          <a:ext cx="9601200" cy="2286000"/>
        </p:xfrm>
        <a:graphic>
          <a:graphicData uri="http://schemas.openxmlformats.org/drawingml/2006/table">
            <a:tbl>
              <a:tblPr firstRow="1" firstCol="1">
                <a:tableStyleId>{08FB837D-C827-4EFA-A057-4D05807E0F7C}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115620812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76751136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3450197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Niveau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Acteurs impliqués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Responsabilités principales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0294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Conception (Design)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Chercheurs, ingénieurs, data scientists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Concevoir des modèles équitables, sûrs, explicables.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6727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Déploiement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Entreprises, décideurs, chefs de projet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Utiliser l’IA de manière conforme et éthique.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686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Utilisation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Employés, opérateurs, usagers finaux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Comprendre</a:t>
                      </a:r>
                      <a:r>
                        <a:rPr lang="en-US" dirty="0"/>
                        <a:t> les </a:t>
                      </a:r>
                      <a:r>
                        <a:rPr lang="en-US" dirty="0" err="1"/>
                        <a:t>limites</a:t>
                      </a:r>
                      <a:r>
                        <a:rPr lang="en-US" dirty="0"/>
                        <a:t>, signaler les </a:t>
                      </a:r>
                      <a:r>
                        <a:rPr lang="en-US" dirty="0" err="1"/>
                        <a:t>erreurs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190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08FE64C-9028-6155-4A7C-B1F604D8CDD9}"/>
              </a:ext>
            </a:extLst>
          </p:cNvPr>
          <p:cNvSpPr txBox="1"/>
          <p:nvPr/>
        </p:nvSpPr>
        <p:spPr>
          <a:xfrm>
            <a:off x="1371600" y="4184694"/>
            <a:ext cx="9601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Exemple</a:t>
            </a:r>
            <a:r>
              <a:rPr lang="en-US" dirty="0"/>
              <a:t> :</a:t>
            </a:r>
          </a:p>
          <a:p>
            <a:endParaRPr lang="en-US" dirty="0"/>
          </a:p>
          <a:p>
            <a:r>
              <a:rPr lang="en-US" dirty="0"/>
              <a:t>Si </a:t>
            </a:r>
            <a:r>
              <a:rPr lang="en-US" dirty="0" err="1"/>
              <a:t>une</a:t>
            </a:r>
            <a:r>
              <a:rPr lang="en-US" dirty="0"/>
              <a:t> IA de tri de CV </a:t>
            </a:r>
            <a:r>
              <a:rPr lang="en-US" dirty="0" err="1"/>
              <a:t>discrimine</a:t>
            </a:r>
            <a:r>
              <a:rPr lang="en-US" dirty="0"/>
              <a:t> des femmes, la faute ne </a:t>
            </a:r>
            <a:r>
              <a:rPr lang="en-US" dirty="0" err="1"/>
              <a:t>revient</a:t>
            </a:r>
            <a:r>
              <a:rPr lang="en-US" dirty="0"/>
              <a:t> pas à “</a:t>
            </a:r>
            <a:r>
              <a:rPr lang="en-US" dirty="0" err="1"/>
              <a:t>l’IA</a:t>
            </a:r>
            <a:r>
              <a:rPr lang="en-US" dirty="0"/>
              <a:t>”, </a:t>
            </a:r>
            <a:r>
              <a:rPr lang="en-US" dirty="0" err="1"/>
              <a:t>mais</a:t>
            </a:r>
            <a:r>
              <a:rPr lang="en-US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à </a:t>
            </a:r>
            <a:r>
              <a:rPr lang="en-US" dirty="0" err="1"/>
              <a:t>l’équipe</a:t>
            </a:r>
            <a:r>
              <a:rPr lang="en-US" dirty="0"/>
              <a:t> qui a </a:t>
            </a:r>
            <a:r>
              <a:rPr lang="en-US" dirty="0" err="1"/>
              <a:t>choisi</a:t>
            </a:r>
            <a:r>
              <a:rPr lang="en-US" dirty="0"/>
              <a:t> des données </a:t>
            </a:r>
            <a:r>
              <a:rPr lang="en-US" dirty="0" err="1"/>
              <a:t>biaisées</a:t>
            </a:r>
            <a:r>
              <a:rPr lang="en-US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 </a:t>
            </a:r>
            <a:r>
              <a:rPr lang="en-US" dirty="0" err="1"/>
              <a:t>recruteur</a:t>
            </a:r>
            <a:r>
              <a:rPr lang="en-US" dirty="0"/>
              <a:t> qui </a:t>
            </a:r>
            <a:r>
              <a:rPr lang="en-US" dirty="0" err="1"/>
              <a:t>n’a</a:t>
            </a:r>
            <a:r>
              <a:rPr lang="en-US" dirty="0"/>
              <a:t> pas </a:t>
            </a:r>
            <a:r>
              <a:rPr lang="en-US" dirty="0" err="1"/>
              <a:t>vérifié</a:t>
            </a:r>
            <a:r>
              <a:rPr lang="en-US" dirty="0"/>
              <a:t> les </a:t>
            </a:r>
            <a:r>
              <a:rPr lang="en-US" dirty="0" err="1"/>
              <a:t>résultats</a:t>
            </a:r>
            <a:r>
              <a:rPr lang="en-US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 à </a:t>
            </a:r>
            <a:r>
              <a:rPr lang="en-US" dirty="0" err="1"/>
              <a:t>l’entreprise</a:t>
            </a:r>
            <a:r>
              <a:rPr lang="en-US" dirty="0"/>
              <a:t> qui a </a:t>
            </a:r>
            <a:r>
              <a:rPr lang="en-US" dirty="0" err="1"/>
              <a:t>ignoré</a:t>
            </a:r>
            <a:r>
              <a:rPr lang="en-US" dirty="0"/>
              <a:t> les </a:t>
            </a:r>
            <a:r>
              <a:rPr lang="en-US" dirty="0" err="1"/>
              <a:t>signaux</a:t>
            </a:r>
            <a:r>
              <a:rPr lang="en-US" dirty="0"/>
              <a:t> </a:t>
            </a:r>
            <a:r>
              <a:rPr lang="en-US" dirty="0" err="1"/>
              <a:t>d’alerte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0099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E408C-983B-8BB1-BD98-AAC91CAA1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D512D-DF1C-0554-EBE2-689501026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489474" cy="724989"/>
          </a:xfrm>
        </p:spPr>
        <p:txBody>
          <a:bodyPr>
            <a:noAutofit/>
          </a:bodyPr>
          <a:lstStyle/>
          <a:p>
            <a:r>
              <a:rPr lang="en-US" sz="3600" dirty="0"/>
              <a:t>4. La “</a:t>
            </a:r>
            <a:r>
              <a:rPr lang="en-US" sz="3600" dirty="0" err="1"/>
              <a:t>boîte</a:t>
            </a:r>
            <a:r>
              <a:rPr lang="en-US" sz="3600" dirty="0"/>
              <a:t> noire” et le </a:t>
            </a:r>
            <a:r>
              <a:rPr lang="en-US" sz="3600" dirty="0" err="1"/>
              <a:t>problème</a:t>
            </a:r>
            <a:r>
              <a:rPr lang="en-US" sz="3600" dirty="0"/>
              <a:t> de la transparence</a:t>
            </a:r>
            <a:endParaRPr lang="fr-FR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35FFE-7CEB-2160-8331-55DEA63F9A41}"/>
              </a:ext>
            </a:extLst>
          </p:cNvPr>
          <p:cNvSpPr txBox="1"/>
          <p:nvPr/>
        </p:nvSpPr>
        <p:spPr>
          <a:xfrm>
            <a:off x="1371600" y="1840919"/>
            <a:ext cx="103327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La </a:t>
            </a:r>
            <a:r>
              <a:rPr lang="en-US" b="1" dirty="0" err="1"/>
              <a:t>boîte</a:t>
            </a:r>
            <a:r>
              <a:rPr lang="en-US" b="1" dirty="0"/>
              <a:t> noire</a:t>
            </a:r>
            <a:r>
              <a:rPr lang="en-US" dirty="0"/>
              <a:t> </a:t>
            </a:r>
            <a:r>
              <a:rPr lang="en-US" dirty="0" err="1"/>
              <a:t>désigne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IA </a:t>
            </a:r>
            <a:r>
              <a:rPr lang="en-US" dirty="0" err="1"/>
              <a:t>dont</a:t>
            </a:r>
            <a:r>
              <a:rPr lang="en-US" dirty="0"/>
              <a:t> le </a:t>
            </a:r>
            <a:r>
              <a:rPr lang="en-US" dirty="0" err="1"/>
              <a:t>fonctionnement</a:t>
            </a:r>
            <a:r>
              <a:rPr lang="en-US" dirty="0"/>
              <a:t> interne </a:t>
            </a:r>
            <a:r>
              <a:rPr lang="en-US" dirty="0" err="1"/>
              <a:t>est</a:t>
            </a:r>
            <a:r>
              <a:rPr lang="en-US" dirty="0"/>
              <a:t> opaque, </a:t>
            </a:r>
            <a:r>
              <a:rPr lang="en-US" dirty="0" err="1"/>
              <a:t>même</a:t>
            </a:r>
            <a:r>
              <a:rPr lang="en-US" dirty="0"/>
              <a:t> pour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créateurs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Exemple</a:t>
            </a:r>
            <a:r>
              <a:rPr lang="en-US" dirty="0"/>
              <a:t> :</a:t>
            </a:r>
          </a:p>
          <a:p>
            <a:r>
              <a:rPr lang="en-US" dirty="0"/>
              <a:t>Un </a:t>
            </a:r>
            <a:r>
              <a:rPr lang="en-US" dirty="0" err="1"/>
              <a:t>réseau</a:t>
            </a:r>
            <a:r>
              <a:rPr lang="en-US" dirty="0"/>
              <a:t> de </a:t>
            </a:r>
            <a:r>
              <a:rPr lang="en-US" dirty="0" err="1"/>
              <a:t>neurones</a:t>
            </a:r>
            <a:r>
              <a:rPr lang="en-US" dirty="0"/>
              <a:t> </a:t>
            </a:r>
            <a:r>
              <a:rPr lang="en-US" dirty="0" err="1"/>
              <a:t>profond</a:t>
            </a:r>
            <a:r>
              <a:rPr lang="en-US" dirty="0"/>
              <a:t> </a:t>
            </a:r>
            <a:r>
              <a:rPr lang="en-US" dirty="0" err="1"/>
              <a:t>rejette</a:t>
            </a:r>
            <a:r>
              <a:rPr lang="en-US" dirty="0"/>
              <a:t> des </a:t>
            </a:r>
            <a:r>
              <a:rPr lang="en-US" dirty="0" err="1"/>
              <a:t>candidats</a:t>
            </a:r>
            <a:r>
              <a:rPr lang="en-US" dirty="0"/>
              <a:t> à un </a:t>
            </a:r>
            <a:r>
              <a:rPr lang="en-US" dirty="0" err="1"/>
              <a:t>emploi</a:t>
            </a:r>
            <a:r>
              <a:rPr lang="en-US" dirty="0"/>
              <a:t>,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personne</a:t>
            </a:r>
            <a:r>
              <a:rPr lang="en-US" dirty="0"/>
              <a:t> ne </a:t>
            </a:r>
            <a:r>
              <a:rPr lang="en-US" dirty="0" err="1"/>
              <a:t>sait</a:t>
            </a:r>
            <a:r>
              <a:rPr lang="en-US" dirty="0"/>
              <a:t> </a:t>
            </a:r>
            <a:r>
              <a:rPr lang="en-US" i="1" dirty="0" err="1"/>
              <a:t>pourquoi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Les </a:t>
            </a:r>
            <a:r>
              <a:rPr lang="en-US" dirty="0" err="1"/>
              <a:t>décisions</a:t>
            </a:r>
            <a:r>
              <a:rPr lang="en-US" dirty="0"/>
              <a:t> </a:t>
            </a:r>
            <a:r>
              <a:rPr lang="en-US" dirty="0" err="1"/>
              <a:t>deviennent</a:t>
            </a:r>
            <a:r>
              <a:rPr lang="en-US" dirty="0"/>
              <a:t> impossibles à justifier </a:t>
            </a:r>
            <a:r>
              <a:rPr lang="en-US" dirty="0" err="1"/>
              <a:t>ou</a:t>
            </a:r>
            <a:r>
              <a:rPr lang="en-US" dirty="0"/>
              <a:t> à </a:t>
            </a:r>
            <a:r>
              <a:rPr lang="en-US" dirty="0" err="1"/>
              <a:t>corriger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Ce manque de transparence pose des </a:t>
            </a:r>
            <a:r>
              <a:rPr lang="en-US" b="1" dirty="0" err="1"/>
              <a:t>problèmes</a:t>
            </a:r>
            <a:r>
              <a:rPr lang="en-US" b="1" dirty="0"/>
              <a:t> </a:t>
            </a:r>
            <a:r>
              <a:rPr lang="en-US" b="1" dirty="0" err="1"/>
              <a:t>éthiques</a:t>
            </a:r>
            <a:r>
              <a:rPr lang="en-US" b="1" dirty="0"/>
              <a:t> </a:t>
            </a:r>
            <a:r>
              <a:rPr lang="en-US" b="1" dirty="0" err="1"/>
              <a:t>majeurs</a:t>
            </a:r>
            <a:r>
              <a:rPr lang="en-US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impossibilité</a:t>
            </a:r>
            <a:r>
              <a:rPr lang="en-US" dirty="0"/>
              <a:t> de contester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décision</a:t>
            </a:r>
            <a:r>
              <a:rPr lang="en-US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absence de </a:t>
            </a:r>
            <a:r>
              <a:rPr lang="en-US" dirty="0" err="1"/>
              <a:t>traçabilité</a:t>
            </a:r>
            <a:r>
              <a:rPr lang="en-US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perte</a:t>
            </a:r>
            <a:r>
              <a:rPr lang="en-US" dirty="0"/>
              <a:t> de </a:t>
            </a:r>
            <a:r>
              <a:rPr lang="en-US" dirty="0" err="1"/>
              <a:t>confiance</a:t>
            </a:r>
            <a:r>
              <a:rPr lang="en-US" dirty="0"/>
              <a:t> dans la </a:t>
            </a:r>
            <a:r>
              <a:rPr lang="en-US" dirty="0" err="1"/>
              <a:t>technologie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Bonne pratique :</a:t>
            </a:r>
            <a:endParaRPr lang="en-US" dirty="0"/>
          </a:p>
          <a:p>
            <a:r>
              <a:rPr lang="en-US" dirty="0" err="1"/>
              <a:t>Toujours</a:t>
            </a:r>
            <a:r>
              <a:rPr lang="en-US" dirty="0"/>
              <a:t> </a:t>
            </a:r>
            <a:r>
              <a:rPr lang="en-US" dirty="0" err="1"/>
              <a:t>prévoir</a:t>
            </a:r>
            <a:r>
              <a:rPr lang="en-US" dirty="0"/>
              <a:t> un </a:t>
            </a:r>
            <a:r>
              <a:rPr lang="en-US" b="1" dirty="0" err="1"/>
              <a:t>mécanisme</a:t>
            </a:r>
            <a:r>
              <a:rPr lang="en-US" b="1" dirty="0"/>
              <a:t> </a:t>
            </a:r>
            <a:r>
              <a:rPr lang="en-US" b="1" dirty="0" err="1"/>
              <a:t>d’explicabilité</a:t>
            </a:r>
            <a:r>
              <a:rPr lang="en-US" dirty="0"/>
              <a:t> (logs, </a:t>
            </a:r>
            <a:r>
              <a:rPr lang="en-US" dirty="0" err="1"/>
              <a:t>critères</a:t>
            </a:r>
            <a:r>
              <a:rPr lang="en-US" dirty="0"/>
              <a:t>, justification) dans les </a:t>
            </a:r>
            <a:r>
              <a:rPr lang="en-US" dirty="0" err="1"/>
              <a:t>systèmes</a:t>
            </a:r>
            <a:r>
              <a:rPr lang="en-US" dirty="0"/>
              <a:t> critiques.</a:t>
            </a:r>
          </a:p>
        </p:txBody>
      </p:sp>
    </p:spTree>
    <p:extLst>
      <p:ext uri="{BB962C8B-B14F-4D97-AF65-F5344CB8AC3E}">
        <p14:creationId xmlns:p14="http://schemas.microsoft.com/office/powerpoint/2010/main" val="781562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5E1EE-3C2F-89C7-FB52-0978757B8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A6B04-EF13-9E85-09AC-A8EC4B80C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489474" cy="724989"/>
          </a:xfrm>
        </p:spPr>
        <p:txBody>
          <a:bodyPr>
            <a:noAutofit/>
          </a:bodyPr>
          <a:lstStyle/>
          <a:p>
            <a:r>
              <a:rPr lang="en-US" sz="3600" dirty="0"/>
              <a:t>5. Le </a:t>
            </a:r>
            <a:r>
              <a:rPr lang="en-US" sz="3600" dirty="0" err="1"/>
              <a:t>principe</a:t>
            </a:r>
            <a:r>
              <a:rPr lang="en-US" sz="3600" dirty="0"/>
              <a:t> de </a:t>
            </a:r>
            <a:r>
              <a:rPr lang="en-US" sz="3600" dirty="0" err="1"/>
              <a:t>responsabilité</a:t>
            </a:r>
            <a:r>
              <a:rPr lang="en-US" sz="3600" dirty="0"/>
              <a:t> </a:t>
            </a:r>
            <a:r>
              <a:rPr lang="en-US" sz="3600" dirty="0" err="1"/>
              <a:t>partagée</a:t>
            </a:r>
            <a:endParaRPr lang="fr-FR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078730-4E15-472E-BA74-30BFD41C8FFF}"/>
              </a:ext>
            </a:extLst>
          </p:cNvPr>
          <p:cNvSpPr txBox="1"/>
          <p:nvPr/>
        </p:nvSpPr>
        <p:spPr>
          <a:xfrm>
            <a:off x="1371600" y="1410789"/>
            <a:ext cx="1033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 </a:t>
            </a:r>
            <a:r>
              <a:rPr lang="en-US" dirty="0" err="1"/>
              <a:t>développement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IA </a:t>
            </a:r>
            <a:r>
              <a:rPr lang="en-US" dirty="0" err="1"/>
              <a:t>n’est</a:t>
            </a:r>
            <a:r>
              <a:rPr lang="en-US" dirty="0"/>
              <a:t> jamais le fruit d’un seul </a:t>
            </a:r>
            <a:r>
              <a:rPr lang="en-US" dirty="0" err="1"/>
              <a:t>individu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La </a:t>
            </a:r>
            <a:r>
              <a:rPr lang="en-US" dirty="0" err="1"/>
              <a:t>responsabilité</a:t>
            </a:r>
            <a:r>
              <a:rPr lang="en-US" dirty="0"/>
              <a:t> doit </a:t>
            </a:r>
            <a:r>
              <a:rPr lang="en-US" dirty="0" err="1"/>
              <a:t>donc</a:t>
            </a:r>
            <a:r>
              <a:rPr lang="en-US" dirty="0"/>
              <a:t> </a:t>
            </a:r>
            <a:r>
              <a:rPr lang="en-US" dirty="0" err="1"/>
              <a:t>être</a:t>
            </a:r>
            <a:r>
              <a:rPr lang="en-US" dirty="0"/>
              <a:t> </a:t>
            </a:r>
            <a:r>
              <a:rPr lang="en-US" b="1" dirty="0"/>
              <a:t>collective</a:t>
            </a:r>
            <a:r>
              <a:rPr lang="en-US" dirty="0"/>
              <a:t>, tout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restant</a:t>
            </a:r>
            <a:r>
              <a:rPr lang="en-US" dirty="0"/>
              <a:t> </a:t>
            </a:r>
            <a:r>
              <a:rPr lang="en-US" b="1" dirty="0" err="1"/>
              <a:t>traçable</a:t>
            </a:r>
            <a:r>
              <a:rPr lang="en-US" dirty="0"/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93EB8F4-83F5-ECEC-CB68-EDA7DFB45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327928"/>
              </p:ext>
            </p:extLst>
          </p:nvPr>
        </p:nvGraphicFramePr>
        <p:xfrm>
          <a:off x="1371600" y="2613660"/>
          <a:ext cx="10332720" cy="2651760"/>
        </p:xfrm>
        <a:graphic>
          <a:graphicData uri="http://schemas.openxmlformats.org/drawingml/2006/table">
            <a:tbl>
              <a:tblPr firstRow="1" firstCol="1">
                <a:tableStyleId>{08FB837D-C827-4EFA-A057-4D05807E0F7C}</a:tableStyleId>
              </a:tblPr>
              <a:tblGrid>
                <a:gridCol w="3444240">
                  <a:extLst>
                    <a:ext uri="{9D8B030D-6E8A-4147-A177-3AD203B41FA5}">
                      <a16:colId xmlns:a16="http://schemas.microsoft.com/office/drawing/2014/main" val="1646811077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72491855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16060554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Étape du cycle de vie de l’IA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Acteur principal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Responsabilité éthique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8190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Collecte des données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Data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Éviter les biais, respecter le RGPD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321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Modélisation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Data scientist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Assurer la fiabilité et l’explicabilité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1486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Déploiement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Entreprise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Garantir un usage conforme à la finalité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671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Utilisation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Employé / utilisateur final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Comprendre</a:t>
                      </a:r>
                      <a:r>
                        <a:rPr lang="en-US" dirty="0"/>
                        <a:t> les </a:t>
                      </a:r>
                      <a:r>
                        <a:rPr lang="en-US" dirty="0" err="1"/>
                        <a:t>limites</a:t>
                      </a:r>
                      <a:r>
                        <a:rPr lang="en-US" dirty="0"/>
                        <a:t> et signaler les </a:t>
                      </a:r>
                      <a:r>
                        <a:rPr lang="en-US" dirty="0" err="1"/>
                        <a:t>erreurs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6355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D1188D8-90D1-C3AF-20C4-2456E536481E}"/>
              </a:ext>
            </a:extLst>
          </p:cNvPr>
          <p:cNvSpPr txBox="1"/>
          <p:nvPr/>
        </p:nvSpPr>
        <p:spPr>
          <a:xfrm>
            <a:off x="1729740" y="5784838"/>
            <a:ext cx="8732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Si un </a:t>
            </a:r>
            <a:r>
              <a:rPr lang="en-US" dirty="0" err="1"/>
              <a:t>hôpital</a:t>
            </a:r>
            <a:r>
              <a:rPr lang="en-US" dirty="0"/>
              <a:t> </a:t>
            </a:r>
            <a:r>
              <a:rPr lang="en-US" dirty="0" err="1"/>
              <a:t>utilise</a:t>
            </a:r>
            <a:r>
              <a:rPr lang="en-US" dirty="0"/>
              <a:t> un </a:t>
            </a:r>
            <a:r>
              <a:rPr lang="en-US" dirty="0" err="1"/>
              <a:t>algorithme</a:t>
            </a:r>
            <a:r>
              <a:rPr lang="en-US" dirty="0"/>
              <a:t> de diagnostic sans validation </a:t>
            </a:r>
            <a:r>
              <a:rPr lang="en-US" dirty="0" err="1"/>
              <a:t>clinique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b="1" dirty="0"/>
              <a:t>direction</a:t>
            </a:r>
            <a:r>
              <a:rPr lang="en-US" dirty="0"/>
              <a:t> (et non </a:t>
            </a:r>
            <a:r>
              <a:rPr lang="en-US" dirty="0" err="1"/>
              <a:t>l’algorithme</a:t>
            </a:r>
            <a:r>
              <a:rPr lang="en-US" dirty="0"/>
              <a:t>) qui </a:t>
            </a:r>
            <a:r>
              <a:rPr lang="en-US" dirty="0" err="1"/>
              <a:t>porte</a:t>
            </a:r>
            <a:r>
              <a:rPr lang="en-US" dirty="0"/>
              <a:t> la </a:t>
            </a:r>
            <a:r>
              <a:rPr lang="en-US" dirty="0" err="1"/>
              <a:t>responsabilité</a:t>
            </a:r>
            <a:r>
              <a:rPr lang="en-US" dirty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2648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8C3B0-E656-AB2D-1EA0-942802A7E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41FA6-09FB-50C7-8174-6C9EFB31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489474" cy="724989"/>
          </a:xfrm>
        </p:spPr>
        <p:txBody>
          <a:bodyPr>
            <a:noAutofit/>
          </a:bodyPr>
          <a:lstStyle/>
          <a:p>
            <a:r>
              <a:rPr lang="en-US" sz="3200" dirty="0"/>
              <a:t>6. </a:t>
            </a:r>
            <a:r>
              <a:rPr lang="en-US" sz="3200" dirty="0" err="1"/>
              <a:t>Gouvernance</a:t>
            </a:r>
            <a:r>
              <a:rPr lang="en-US" sz="3200" dirty="0"/>
              <a:t> </a:t>
            </a:r>
            <a:r>
              <a:rPr lang="en-US" sz="3200" dirty="0" err="1"/>
              <a:t>éthique</a:t>
            </a:r>
            <a:r>
              <a:rPr lang="en-US" sz="3200" dirty="0"/>
              <a:t> : </a:t>
            </a:r>
            <a:r>
              <a:rPr lang="en-US" sz="3200" dirty="0" err="1"/>
              <a:t>vers</a:t>
            </a:r>
            <a:r>
              <a:rPr lang="en-US" sz="3200" dirty="0"/>
              <a:t> des cadres </a:t>
            </a:r>
            <a:r>
              <a:rPr lang="en-US" sz="3200" dirty="0" err="1"/>
              <a:t>internationaux</a:t>
            </a:r>
            <a:endParaRPr lang="fr-FR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D770A9-7683-AAC1-715B-406FACC622C9}"/>
              </a:ext>
            </a:extLst>
          </p:cNvPr>
          <p:cNvSpPr txBox="1"/>
          <p:nvPr/>
        </p:nvSpPr>
        <p:spPr>
          <a:xfrm>
            <a:off x="1371600" y="1410789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 </a:t>
            </a:r>
            <a:r>
              <a:rPr lang="en-US" dirty="0" err="1"/>
              <a:t>nombreux</a:t>
            </a:r>
            <a:r>
              <a:rPr lang="en-US" dirty="0"/>
              <a:t> </a:t>
            </a:r>
            <a:r>
              <a:rPr lang="en-US" dirty="0" err="1"/>
              <a:t>organismes</a:t>
            </a:r>
            <a:r>
              <a:rPr lang="en-US" dirty="0"/>
              <a:t> </a:t>
            </a:r>
            <a:r>
              <a:rPr lang="en-US" dirty="0" err="1"/>
              <a:t>ont</a:t>
            </a:r>
            <a:r>
              <a:rPr lang="en-US" dirty="0"/>
              <a:t> </a:t>
            </a:r>
            <a:r>
              <a:rPr lang="en-US" dirty="0" err="1"/>
              <a:t>proposé</a:t>
            </a:r>
            <a:r>
              <a:rPr lang="en-US" dirty="0"/>
              <a:t> des </a:t>
            </a:r>
            <a:r>
              <a:rPr lang="en-US" b="1" dirty="0"/>
              <a:t>principes </a:t>
            </a:r>
            <a:r>
              <a:rPr lang="en-US" b="1" dirty="0" err="1"/>
              <a:t>directeurs</a:t>
            </a:r>
            <a:r>
              <a:rPr lang="en-US" dirty="0"/>
              <a:t> pour </a:t>
            </a:r>
            <a:r>
              <a:rPr lang="en-US" dirty="0" err="1"/>
              <a:t>encadrer</a:t>
            </a:r>
            <a:r>
              <a:rPr lang="en-US" dirty="0"/>
              <a:t> </a:t>
            </a:r>
            <a:r>
              <a:rPr lang="en-US" dirty="0" err="1"/>
              <a:t>l’IA</a:t>
            </a:r>
            <a:r>
              <a:rPr lang="en-US" dirty="0"/>
              <a:t> </a:t>
            </a:r>
            <a:r>
              <a:rPr lang="en-US" dirty="0" err="1"/>
              <a:t>responsable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071B14-3897-5E1F-0243-547443FAE994}"/>
              </a:ext>
            </a:extLst>
          </p:cNvPr>
          <p:cNvSpPr txBox="1"/>
          <p:nvPr/>
        </p:nvSpPr>
        <p:spPr>
          <a:xfrm>
            <a:off x="1729740" y="5046173"/>
            <a:ext cx="8732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L’</a:t>
            </a:r>
            <a:r>
              <a:rPr lang="en-US" b="1" dirty="0"/>
              <a:t>AI Act </a:t>
            </a:r>
            <a:r>
              <a:rPr lang="en-US" b="1" dirty="0" err="1"/>
              <a:t>européen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les IA </a:t>
            </a:r>
            <a:r>
              <a:rPr lang="en-US" dirty="0" err="1"/>
              <a:t>selon</a:t>
            </a:r>
            <a:r>
              <a:rPr lang="en-US" dirty="0"/>
              <a:t> </a:t>
            </a:r>
            <a:r>
              <a:rPr lang="en-US" dirty="0" err="1"/>
              <a:t>leur</a:t>
            </a:r>
            <a:r>
              <a:rPr lang="en-US" dirty="0"/>
              <a:t> </a:t>
            </a:r>
            <a:r>
              <a:rPr lang="en-US" dirty="0" err="1"/>
              <a:t>niveau</a:t>
            </a:r>
            <a:r>
              <a:rPr lang="en-US" dirty="0"/>
              <a:t> de </a:t>
            </a:r>
            <a:r>
              <a:rPr lang="en-US" dirty="0" err="1"/>
              <a:t>risque</a:t>
            </a:r>
            <a:r>
              <a:rPr lang="en-US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faible</a:t>
            </a:r>
            <a:r>
              <a:rPr lang="en-US" dirty="0"/>
              <a:t>, </a:t>
            </a:r>
            <a:r>
              <a:rPr lang="en-US" dirty="0" err="1"/>
              <a:t>limité</a:t>
            </a:r>
            <a:r>
              <a:rPr lang="en-US" dirty="0"/>
              <a:t>, </a:t>
            </a:r>
            <a:r>
              <a:rPr lang="en-US" dirty="0" err="1"/>
              <a:t>élevé</a:t>
            </a:r>
            <a:r>
              <a:rPr lang="en-US" dirty="0"/>
              <a:t>, inacceptable.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 IA à </a:t>
            </a:r>
            <a:r>
              <a:rPr lang="en-US" dirty="0" err="1"/>
              <a:t>risque</a:t>
            </a:r>
            <a:r>
              <a:rPr lang="en-US" dirty="0"/>
              <a:t> </a:t>
            </a:r>
            <a:r>
              <a:rPr lang="en-US" dirty="0" err="1"/>
              <a:t>élevé</a:t>
            </a:r>
            <a:r>
              <a:rPr lang="en-US" dirty="0"/>
              <a:t> (</a:t>
            </a:r>
            <a:r>
              <a:rPr lang="en-US" dirty="0" err="1"/>
              <a:t>comme</a:t>
            </a:r>
            <a:r>
              <a:rPr lang="en-US" dirty="0"/>
              <a:t> la reconnaissance </a:t>
            </a:r>
            <a:r>
              <a:rPr lang="en-US" dirty="0" err="1"/>
              <a:t>faciale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le scoring social)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b="1" dirty="0" err="1"/>
              <a:t>fortement</a:t>
            </a:r>
            <a:r>
              <a:rPr lang="en-US" b="1" dirty="0"/>
              <a:t> </a:t>
            </a:r>
            <a:r>
              <a:rPr lang="en-US" b="1" dirty="0" err="1"/>
              <a:t>régulées</a:t>
            </a:r>
            <a:r>
              <a:rPr lang="en-US" dirty="0"/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B9801A-5D4A-A834-1AC2-03362E22B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829334"/>
              </p:ext>
            </p:extLst>
          </p:nvPr>
        </p:nvGraphicFramePr>
        <p:xfrm>
          <a:off x="1371600" y="2087267"/>
          <a:ext cx="9601200" cy="2651760"/>
        </p:xfrm>
        <a:graphic>
          <a:graphicData uri="http://schemas.openxmlformats.org/drawingml/2006/table">
            <a:tbl>
              <a:tblPr firstRow="1" firstCol="1">
                <a:tableStyleId>{08FB837D-C827-4EFA-A057-4D05807E0F7C}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1953754374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42745536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Organisation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Principes clés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43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OCDE (2019)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Transparence, sécurité, inclusion, bien-être humain.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8094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UNESCO (2021)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Respect des droits humains, durabilité, équité.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5911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Union Européenne (AI Act)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Contrôle humain, non-discrimination, traçabilité.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205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Monde académique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Appels à </a:t>
                      </a:r>
                      <a:r>
                        <a:rPr lang="en-US" dirty="0" err="1"/>
                        <a:t>une</a:t>
                      </a:r>
                      <a:r>
                        <a:rPr lang="en-US" dirty="0"/>
                        <a:t> IA “explicable”, “</a:t>
                      </a:r>
                      <a:r>
                        <a:rPr lang="en-US" dirty="0" err="1"/>
                        <a:t>juste</a:t>
                      </a:r>
                      <a:r>
                        <a:rPr lang="en-US" dirty="0"/>
                        <a:t>” et “</a:t>
                      </a:r>
                      <a:r>
                        <a:rPr lang="en-US" dirty="0" err="1"/>
                        <a:t>bénéfique</a:t>
                      </a:r>
                      <a:r>
                        <a:rPr lang="en-US" dirty="0"/>
                        <a:t>”.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8826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476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13F4F-88C7-D972-5993-3A132021F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0AD56-CFB0-396D-3AF1-F80CAC8F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489474" cy="724989"/>
          </a:xfrm>
        </p:spPr>
        <p:txBody>
          <a:bodyPr>
            <a:noAutofit/>
          </a:bodyPr>
          <a:lstStyle/>
          <a:p>
            <a:r>
              <a:rPr lang="en-US" sz="3600" dirty="0"/>
              <a:t>7. Cas pratique</a:t>
            </a:r>
            <a:endParaRPr lang="fr-FR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9245D-6E5A-C227-F614-61900833F387}"/>
              </a:ext>
            </a:extLst>
          </p:cNvPr>
          <p:cNvSpPr txBox="1"/>
          <p:nvPr/>
        </p:nvSpPr>
        <p:spPr>
          <a:xfrm>
            <a:off x="1528354" y="1482507"/>
            <a:ext cx="10332720" cy="4196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Situation :</a:t>
            </a:r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Une </a:t>
            </a:r>
            <a:r>
              <a:rPr lang="en-US" dirty="0" err="1"/>
              <a:t>entreprise</a:t>
            </a:r>
            <a:r>
              <a:rPr lang="en-US" dirty="0"/>
              <a:t> lance un assistant vocal pour enfants.</a:t>
            </a:r>
            <a:br>
              <a:rPr lang="en-US" dirty="0"/>
            </a:br>
            <a:r>
              <a:rPr lang="en-US" dirty="0"/>
              <a:t>L’IA </a:t>
            </a:r>
            <a:r>
              <a:rPr lang="en-US" dirty="0" err="1"/>
              <a:t>apprend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écoutant</a:t>
            </a:r>
            <a:r>
              <a:rPr lang="en-US" dirty="0"/>
              <a:t> les conversations et </a:t>
            </a:r>
            <a:r>
              <a:rPr lang="en-US" dirty="0" err="1"/>
              <a:t>s’améliore</a:t>
            </a:r>
            <a:r>
              <a:rPr lang="en-US" dirty="0"/>
              <a:t> avec le temps.</a:t>
            </a:r>
            <a:br>
              <a:rPr lang="en-US" dirty="0"/>
            </a:br>
            <a:r>
              <a:rPr lang="en-US" dirty="0"/>
              <a:t>Mais </a:t>
            </a:r>
            <a:r>
              <a:rPr lang="en-US" dirty="0" err="1"/>
              <a:t>elle</a:t>
            </a:r>
            <a:r>
              <a:rPr lang="en-US" dirty="0"/>
              <a:t> </a:t>
            </a:r>
            <a:r>
              <a:rPr lang="en-US" dirty="0" err="1"/>
              <a:t>stocke</a:t>
            </a:r>
            <a:r>
              <a:rPr lang="en-US" dirty="0"/>
              <a:t> les </a:t>
            </a:r>
            <a:r>
              <a:rPr lang="en-US" dirty="0" err="1"/>
              <a:t>enregistrements</a:t>
            </a:r>
            <a:r>
              <a:rPr lang="en-US" dirty="0"/>
              <a:t> sur des </a:t>
            </a:r>
            <a:r>
              <a:rPr lang="en-US" dirty="0" err="1"/>
              <a:t>serveurs</a:t>
            </a:r>
            <a:r>
              <a:rPr lang="en-US" dirty="0"/>
              <a:t> externes et les </a:t>
            </a:r>
            <a:r>
              <a:rPr lang="en-US" dirty="0" err="1"/>
              <a:t>analyse</a:t>
            </a:r>
            <a:r>
              <a:rPr lang="en-US" dirty="0"/>
              <a:t> sans informer les parents.</a:t>
            </a:r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Questions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Quels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les </a:t>
            </a:r>
            <a:r>
              <a:rPr lang="en-US" dirty="0" err="1"/>
              <a:t>problèmes</a:t>
            </a:r>
            <a:r>
              <a:rPr lang="en-US" dirty="0"/>
              <a:t> </a:t>
            </a:r>
            <a:r>
              <a:rPr lang="en-US" dirty="0" err="1"/>
              <a:t>éthiques</a:t>
            </a:r>
            <a:r>
              <a:rPr lang="en-US" dirty="0"/>
              <a:t> et </a:t>
            </a:r>
            <a:r>
              <a:rPr lang="en-US" dirty="0" err="1"/>
              <a:t>juridiques</a:t>
            </a:r>
            <a:r>
              <a:rPr lang="en-US" dirty="0"/>
              <a:t> 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Qui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responsable</a:t>
            </a:r>
            <a:r>
              <a:rPr lang="en-US" dirty="0"/>
              <a:t> : le </a:t>
            </a:r>
            <a:r>
              <a:rPr lang="en-US" dirty="0" err="1"/>
              <a:t>concepteur</a:t>
            </a:r>
            <a:r>
              <a:rPr lang="en-US" dirty="0"/>
              <a:t>, </a:t>
            </a:r>
            <a:r>
              <a:rPr lang="en-US" dirty="0" err="1"/>
              <a:t>l’entreprise</a:t>
            </a:r>
            <a:r>
              <a:rPr lang="en-US" dirty="0"/>
              <a:t>, </a:t>
            </a:r>
            <a:r>
              <a:rPr lang="en-US" dirty="0" err="1"/>
              <a:t>ou</a:t>
            </a:r>
            <a:r>
              <a:rPr lang="en-US" dirty="0"/>
              <a:t> les parents 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Comment </a:t>
            </a:r>
            <a:r>
              <a:rPr lang="en-US" dirty="0" err="1"/>
              <a:t>aurait</a:t>
            </a:r>
            <a:r>
              <a:rPr lang="en-US" dirty="0"/>
              <a:t>-on </a:t>
            </a:r>
            <a:r>
              <a:rPr lang="en-US" dirty="0" err="1"/>
              <a:t>pu</a:t>
            </a:r>
            <a:r>
              <a:rPr lang="en-US" dirty="0"/>
              <a:t> </a:t>
            </a:r>
            <a:r>
              <a:rPr lang="en-US" dirty="0" err="1"/>
              <a:t>prévenir</a:t>
            </a:r>
            <a:r>
              <a:rPr lang="en-US" dirty="0"/>
              <a:t> </a:t>
            </a:r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risques</a:t>
            </a:r>
            <a:r>
              <a:rPr lang="en-US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303033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5F4D4-C190-DE27-0EC4-149B3AE5C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58F30-0119-6029-93FF-3BF86AED1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45141"/>
            <a:ext cx="10489474" cy="724989"/>
          </a:xfrm>
        </p:spPr>
        <p:txBody>
          <a:bodyPr>
            <a:noAutofit/>
          </a:bodyPr>
          <a:lstStyle/>
          <a:p>
            <a:r>
              <a:rPr lang="en-US" sz="3600" dirty="0"/>
              <a:t>7. Cas pratique</a:t>
            </a:r>
            <a:endParaRPr lang="fr-FR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58C4B3-EC66-5DE4-8085-3647D8117180}"/>
              </a:ext>
            </a:extLst>
          </p:cNvPr>
          <p:cNvSpPr txBox="1"/>
          <p:nvPr/>
        </p:nvSpPr>
        <p:spPr>
          <a:xfrm>
            <a:off x="1371600" y="1070130"/>
            <a:ext cx="1033272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Situation :</a:t>
            </a:r>
          </a:p>
          <a:p>
            <a:endParaRPr lang="en-US" sz="1200" b="1" dirty="0"/>
          </a:p>
          <a:p>
            <a:r>
              <a:rPr lang="en-US" sz="1200" dirty="0"/>
              <a:t>Une </a:t>
            </a:r>
            <a:r>
              <a:rPr lang="en-US" sz="1200" dirty="0" err="1"/>
              <a:t>entreprise</a:t>
            </a:r>
            <a:r>
              <a:rPr lang="en-US" sz="1200" dirty="0"/>
              <a:t> lance un assistant vocal pour enfants.</a:t>
            </a:r>
            <a:br>
              <a:rPr lang="en-US" sz="1200" dirty="0"/>
            </a:br>
            <a:r>
              <a:rPr lang="en-US" sz="1200" dirty="0"/>
              <a:t>L’IA </a:t>
            </a:r>
            <a:r>
              <a:rPr lang="en-US" sz="1200" dirty="0" err="1"/>
              <a:t>apprend</a:t>
            </a:r>
            <a:r>
              <a:rPr lang="en-US" sz="1200" dirty="0"/>
              <a:t> </a:t>
            </a:r>
            <a:r>
              <a:rPr lang="en-US" sz="1200" dirty="0" err="1"/>
              <a:t>en</a:t>
            </a:r>
            <a:r>
              <a:rPr lang="en-US" sz="1200" dirty="0"/>
              <a:t> </a:t>
            </a:r>
            <a:r>
              <a:rPr lang="en-US" sz="1200" dirty="0" err="1"/>
              <a:t>écoutant</a:t>
            </a:r>
            <a:r>
              <a:rPr lang="en-US" sz="1200" dirty="0"/>
              <a:t> les conversations et </a:t>
            </a:r>
            <a:r>
              <a:rPr lang="en-US" sz="1200" dirty="0" err="1"/>
              <a:t>s’améliore</a:t>
            </a:r>
            <a:r>
              <a:rPr lang="en-US" sz="1200" dirty="0"/>
              <a:t> avec le temps.</a:t>
            </a:r>
            <a:br>
              <a:rPr lang="en-US" sz="1200" dirty="0"/>
            </a:br>
            <a:r>
              <a:rPr lang="en-US" sz="1200" dirty="0"/>
              <a:t>Mais </a:t>
            </a:r>
            <a:r>
              <a:rPr lang="en-US" sz="1200" dirty="0" err="1"/>
              <a:t>elle</a:t>
            </a:r>
            <a:r>
              <a:rPr lang="en-US" sz="1200" dirty="0"/>
              <a:t> </a:t>
            </a:r>
            <a:r>
              <a:rPr lang="en-US" sz="1200" dirty="0" err="1"/>
              <a:t>stocke</a:t>
            </a:r>
            <a:r>
              <a:rPr lang="en-US" sz="1200" dirty="0"/>
              <a:t> les </a:t>
            </a:r>
            <a:r>
              <a:rPr lang="en-US" sz="1200" dirty="0" err="1"/>
              <a:t>enregistrements</a:t>
            </a:r>
            <a:r>
              <a:rPr lang="en-US" sz="1200" dirty="0"/>
              <a:t> sur des </a:t>
            </a:r>
            <a:r>
              <a:rPr lang="en-US" sz="1200" dirty="0" err="1"/>
              <a:t>serveurs</a:t>
            </a:r>
            <a:r>
              <a:rPr lang="en-US" sz="1200" dirty="0"/>
              <a:t> externes et les </a:t>
            </a:r>
            <a:r>
              <a:rPr lang="en-US" sz="1200" dirty="0" err="1"/>
              <a:t>analyse</a:t>
            </a:r>
            <a:r>
              <a:rPr lang="en-US" sz="1200" dirty="0"/>
              <a:t> sans informer les parents.</a:t>
            </a:r>
          </a:p>
          <a:p>
            <a:endParaRPr lang="en-US" sz="1200" b="1" dirty="0"/>
          </a:p>
          <a:p>
            <a:r>
              <a:rPr lang="en-US" sz="1200" b="1" dirty="0"/>
              <a:t>Questions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Quels</a:t>
            </a:r>
            <a:r>
              <a:rPr lang="en-US" sz="1200" dirty="0"/>
              <a:t> </a:t>
            </a:r>
            <a:r>
              <a:rPr lang="en-US" sz="1200" dirty="0" err="1"/>
              <a:t>sont</a:t>
            </a:r>
            <a:r>
              <a:rPr lang="en-US" sz="1200" dirty="0"/>
              <a:t> les </a:t>
            </a:r>
            <a:r>
              <a:rPr lang="en-US" sz="1200" dirty="0" err="1"/>
              <a:t>problèmes</a:t>
            </a:r>
            <a:r>
              <a:rPr lang="en-US" sz="1200" dirty="0"/>
              <a:t> </a:t>
            </a:r>
            <a:r>
              <a:rPr lang="en-US" sz="1200" dirty="0" err="1"/>
              <a:t>éthiques</a:t>
            </a:r>
            <a:r>
              <a:rPr lang="en-US" sz="1200" dirty="0"/>
              <a:t> et </a:t>
            </a:r>
            <a:r>
              <a:rPr lang="en-US" sz="1200" dirty="0" err="1"/>
              <a:t>juridiques</a:t>
            </a:r>
            <a:r>
              <a:rPr lang="en-US" sz="1200" dirty="0"/>
              <a:t>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Qui </a:t>
            </a:r>
            <a:r>
              <a:rPr lang="en-US" sz="1200" dirty="0" err="1"/>
              <a:t>est</a:t>
            </a:r>
            <a:r>
              <a:rPr lang="en-US" sz="1200" dirty="0"/>
              <a:t> </a:t>
            </a:r>
            <a:r>
              <a:rPr lang="en-US" sz="1200" dirty="0" err="1"/>
              <a:t>responsable</a:t>
            </a:r>
            <a:r>
              <a:rPr lang="en-US" sz="1200" dirty="0"/>
              <a:t> : le </a:t>
            </a:r>
            <a:r>
              <a:rPr lang="en-US" sz="1200" dirty="0" err="1"/>
              <a:t>concepteur</a:t>
            </a:r>
            <a:r>
              <a:rPr lang="en-US" sz="1200" dirty="0"/>
              <a:t>, </a:t>
            </a:r>
            <a:r>
              <a:rPr lang="en-US" sz="1200" dirty="0" err="1"/>
              <a:t>l’entreprise</a:t>
            </a:r>
            <a:r>
              <a:rPr lang="en-US" sz="1200" dirty="0"/>
              <a:t>, </a:t>
            </a:r>
            <a:r>
              <a:rPr lang="en-US" sz="1200" dirty="0" err="1"/>
              <a:t>ou</a:t>
            </a:r>
            <a:r>
              <a:rPr lang="en-US" sz="1200" dirty="0"/>
              <a:t> les parents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Comment </a:t>
            </a:r>
            <a:r>
              <a:rPr lang="en-US" sz="1200" dirty="0" err="1"/>
              <a:t>aurait</a:t>
            </a:r>
            <a:r>
              <a:rPr lang="en-US" sz="1200" dirty="0"/>
              <a:t>-on </a:t>
            </a:r>
            <a:r>
              <a:rPr lang="en-US" sz="1200" dirty="0" err="1"/>
              <a:t>pu</a:t>
            </a:r>
            <a:r>
              <a:rPr lang="en-US" sz="1200" dirty="0"/>
              <a:t> </a:t>
            </a:r>
            <a:r>
              <a:rPr lang="en-US" sz="1200" dirty="0" err="1"/>
              <a:t>prévenir</a:t>
            </a:r>
            <a:r>
              <a:rPr lang="en-US" sz="1200" dirty="0"/>
              <a:t> </a:t>
            </a:r>
            <a:r>
              <a:rPr lang="en-US" sz="1200" dirty="0" err="1"/>
              <a:t>ces</a:t>
            </a:r>
            <a:r>
              <a:rPr lang="en-US" sz="1200" dirty="0"/>
              <a:t> </a:t>
            </a:r>
            <a:r>
              <a:rPr lang="en-US" sz="1200" dirty="0" err="1"/>
              <a:t>risques</a:t>
            </a:r>
            <a:r>
              <a:rPr lang="en-US" sz="1200" dirty="0"/>
              <a:t> ?</a:t>
            </a:r>
          </a:p>
          <a:p>
            <a:endParaRPr lang="en-US" b="1" dirty="0"/>
          </a:p>
          <a:p>
            <a:r>
              <a:rPr lang="en-US" b="1" dirty="0" err="1"/>
              <a:t>Réponses</a:t>
            </a:r>
            <a:r>
              <a:rPr lang="en-US" b="1" dirty="0"/>
              <a:t> :</a:t>
            </a:r>
            <a:endParaRPr lang="en-US" dirty="0"/>
          </a:p>
          <a:p>
            <a:pPr marL="342900" indent="-342900">
              <a:buAutoNum type="arabicPeriod"/>
            </a:pPr>
            <a:r>
              <a:rPr lang="fr-MA" dirty="0"/>
              <a:t>Problèmes éthiques et juridiques</a:t>
            </a:r>
          </a:p>
          <a:p>
            <a:r>
              <a:rPr lang="fr-MA" dirty="0"/>
              <a:t>L’assistant enregistre des conversations d’enfants sans consentement → atteinte à la vie privée.</a:t>
            </a:r>
          </a:p>
          <a:p>
            <a:r>
              <a:rPr lang="fr-MA" dirty="0"/>
              <a:t>Cela viole le RGPD (absence d’information, finalité non claire, traitement illégal de données de mineurs</a:t>
            </a:r>
            <a:r>
              <a:rPr lang="fr-MA"/>
              <a:t>, sécurité des données).</a:t>
            </a:r>
            <a:endParaRPr lang="fr-MA" dirty="0"/>
          </a:p>
          <a:p>
            <a:endParaRPr lang="fr-MA" dirty="0"/>
          </a:p>
          <a:p>
            <a:r>
              <a:rPr lang="fr-MA" dirty="0"/>
              <a:t>2. Responsabilités </a:t>
            </a:r>
          </a:p>
          <a:p>
            <a:r>
              <a:rPr lang="fr-MA" dirty="0"/>
              <a:t>L’entreprise est responsable du traitement : elle décide de collecter, stocker et analyser les données.</a:t>
            </a:r>
          </a:p>
          <a:p>
            <a:r>
              <a:rPr lang="fr-MA" dirty="0"/>
              <a:t>Les développeurs ont une responsabilité éthique, mais les parents ne sont pas fautifs car non informés.</a:t>
            </a:r>
          </a:p>
          <a:p>
            <a:endParaRPr lang="fr-MA" dirty="0"/>
          </a:p>
          <a:p>
            <a:r>
              <a:rPr lang="fr-MA" dirty="0"/>
              <a:t>3. Comment prévenir</a:t>
            </a:r>
          </a:p>
          <a:p>
            <a:r>
              <a:rPr lang="fr-MA" dirty="0"/>
              <a:t>Mettre en place transparence, consentement parental, et anonymisation des données.</a:t>
            </a:r>
          </a:p>
          <a:p>
            <a:r>
              <a:rPr lang="fr-MA" dirty="0"/>
              <a:t>Appliquer le “</a:t>
            </a:r>
            <a:r>
              <a:rPr lang="fr-MA" dirty="0" err="1"/>
              <a:t>privacy</a:t>
            </a:r>
            <a:r>
              <a:rPr lang="fr-MA" dirty="0"/>
              <a:t> by design” : limiter la collecte, stocker localement et activer des contrôles parentaux.</a:t>
            </a:r>
          </a:p>
        </p:txBody>
      </p:sp>
    </p:spTree>
    <p:extLst>
      <p:ext uri="{BB962C8B-B14F-4D97-AF65-F5344CB8AC3E}">
        <p14:creationId xmlns:p14="http://schemas.microsoft.com/office/powerpoint/2010/main" val="800752474"/>
      </p:ext>
    </p:extLst>
  </p:cSld>
  <p:clrMapOvr>
    <a:masterClrMapping/>
  </p:clrMapOvr>
</p:sld>
</file>

<file path=ppt/theme/theme1.xml><?xml version="1.0" encoding="utf-8"?>
<a:theme xmlns:a="http://schemas.openxmlformats.org/drawingml/2006/main" name="EST-Monir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-Monir" id="{477FD7E8-AA15-8D49-8C4A-98A604068A9F}" vid="{A7F9506B-51F3-2E4C-841A-3B3953FCF0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EST-Monir</Template>
  <TotalTime>232</TotalTime>
  <Words>1030</Words>
  <Application>Microsoft Office PowerPoint</Application>
  <PresentationFormat>Grand écran</PresentationFormat>
  <Paragraphs>143</Paragraphs>
  <Slides>10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Franklin Gothic Book</vt:lpstr>
      <vt:lpstr>EST-Monir</vt:lpstr>
      <vt:lpstr>ÉTHIQUE DE L’IA</vt:lpstr>
      <vt:lpstr>1. Qu’est-ce que la gouvernance de l’IA ?</vt:lpstr>
      <vt:lpstr>1. Les trois piliers de la gouvernance de l’IA</vt:lpstr>
      <vt:lpstr>2. Qui est responsable quand l’IA se trompe ?”</vt:lpstr>
      <vt:lpstr>3. Les niveaux de responsabilité</vt:lpstr>
      <vt:lpstr>4. La “boîte noire” et le problème de la transparence</vt:lpstr>
      <vt:lpstr>5. Le principe de responsabilité partagée</vt:lpstr>
      <vt:lpstr>6. Gouvernance éthique : vers des cadres internationaux</vt:lpstr>
      <vt:lpstr>7. Cas pratique</vt:lpstr>
      <vt:lpstr>7. Cas pratique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ABDERRAHMANE</cp:lastModifiedBy>
  <cp:revision>183</cp:revision>
  <dcterms:created xsi:type="dcterms:W3CDTF">2025-10-12T16:19:19Z</dcterms:created>
  <dcterms:modified xsi:type="dcterms:W3CDTF">2025-12-03T01:52:28Z</dcterms:modified>
</cp:coreProperties>
</file>