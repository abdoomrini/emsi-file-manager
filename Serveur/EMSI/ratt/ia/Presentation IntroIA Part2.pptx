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87" r:id="rId5"/>
    <p:sldId id="290" r:id="rId6"/>
    <p:sldId id="289" r:id="rId7"/>
    <p:sldId id="288" r:id="rId8"/>
    <p:sldId id="299" r:id="rId9"/>
    <p:sldId id="270" r:id="rId10"/>
    <p:sldId id="292" r:id="rId11"/>
    <p:sldId id="293" r:id="rId12"/>
    <p:sldId id="294" r:id="rId13"/>
    <p:sldId id="295" r:id="rId14"/>
    <p:sldId id="296" r:id="rId15"/>
    <p:sldId id="297" r:id="rId16"/>
    <p:sldId id="298" r:id="rId17"/>
    <p:sldId id="286" r:id="rId18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DBED569-4797-4DF1-A0F4-6AAB3CD982D8}" styleName="Style léger 3 - Accentuation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4345" autoAdjust="0"/>
  </p:normalViewPr>
  <p:slideViewPr>
    <p:cSldViewPr>
      <p:cViewPr varScale="1">
        <p:scale>
          <a:sx n="49" d="100"/>
          <a:sy n="49" d="100"/>
        </p:scale>
        <p:origin x="1974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94022B-9B53-4962-822B-61CD6A020315}" type="datetimeFigureOut">
              <a:rPr lang="fr-FR" smtClean="0"/>
              <a:t>30/10/2025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7D22F0-1866-4590-9C03-A48A7C5F502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467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D22F0-1866-4590-9C03-A48A7C5F502D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971412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D22F0-1866-4590-9C03-A48A7C5F502D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58831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MA" b="1" dirty="0"/>
              <a:t>IA forte/faible</a:t>
            </a:r>
            <a:r>
              <a:rPr lang="fr-MA" dirty="0"/>
              <a:t> → concerne </a:t>
            </a:r>
            <a:r>
              <a:rPr lang="fr-MA" b="1" dirty="0"/>
              <a:t>le niveau d’intelligence ou de conscience</a:t>
            </a:r>
            <a:r>
              <a:rPr lang="fr-MA" dirty="0"/>
              <a:t> (ce que l’IA </a:t>
            </a:r>
            <a:r>
              <a:rPr lang="fr-MA" i="1" dirty="0"/>
              <a:t>est</a:t>
            </a:r>
            <a:r>
              <a:rPr lang="fr-MA" dirty="0"/>
              <a:t> capable de faire).</a:t>
            </a:r>
          </a:p>
          <a:p>
            <a:r>
              <a:rPr lang="fr-MA" b="1" dirty="0"/>
              <a:t>IA symbolique/connexionniste</a:t>
            </a:r>
            <a:r>
              <a:rPr lang="fr-MA" dirty="0"/>
              <a:t> → concerne </a:t>
            </a:r>
            <a:r>
              <a:rPr lang="fr-MA" b="1" dirty="0"/>
              <a:t>la méthode utilisée pour y arriver</a:t>
            </a:r>
            <a:r>
              <a:rPr lang="fr-MA" dirty="0"/>
              <a:t> (comment elle </a:t>
            </a:r>
            <a:r>
              <a:rPr lang="fr-MA" i="1" dirty="0"/>
              <a:t>fonctionne</a:t>
            </a:r>
            <a:r>
              <a:rPr lang="fr-MA" dirty="0"/>
              <a:t>).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D22F0-1866-4590-9C03-A48A7C5F502D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40097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995E4-09F1-F6D8-6FDC-32D3D0C60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6251C37-7E64-EC8F-DCF6-15560A0F15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F7E215A-E5EB-6990-845B-74CFDEED8F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E2BE5DD-19AC-A598-3CBE-CAA34C5F0E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D22F0-1866-4590-9C03-A48A7C5F502D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186861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D22F0-1866-4590-9C03-A48A7C5F502D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93431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MA" dirty="0"/>
              <a:t>Ce schéma montre que </a:t>
            </a:r>
            <a:r>
              <a:rPr lang="fr-MA" b="1" dirty="0"/>
              <a:t>l’IA symbolique</a:t>
            </a:r>
            <a:r>
              <a:rPr lang="fr-MA" dirty="0"/>
              <a:t> repose sur la </a:t>
            </a:r>
            <a:r>
              <a:rPr lang="fr-MA" i="1" dirty="0"/>
              <a:t>déduction logique</a:t>
            </a:r>
            <a:r>
              <a:rPr lang="fr-MA" dirty="0"/>
              <a:t> à partir de règles et de faits, tandis que </a:t>
            </a:r>
            <a:r>
              <a:rPr lang="fr-MA" b="1" dirty="0"/>
              <a:t>l’IA connexionniste</a:t>
            </a:r>
            <a:r>
              <a:rPr lang="fr-MA" dirty="0"/>
              <a:t> s’appuie sur l’</a:t>
            </a:r>
            <a:r>
              <a:rPr lang="fr-MA" i="1" dirty="0"/>
              <a:t>induction statistique</a:t>
            </a:r>
            <a:r>
              <a:rPr lang="fr-MA" dirty="0"/>
              <a:t> à partir de données.</a:t>
            </a:r>
            <a:br>
              <a:rPr lang="fr-MA" dirty="0"/>
            </a:br>
            <a:r>
              <a:rPr lang="fr-MA" dirty="0"/>
              <a:t>L’IA symbolique est </a:t>
            </a:r>
            <a:r>
              <a:rPr lang="fr-MA" b="1" dirty="0"/>
              <a:t>explicable</a:t>
            </a:r>
            <a:r>
              <a:rPr lang="fr-MA" dirty="0"/>
              <a:t> et adaptée au </a:t>
            </a:r>
            <a:r>
              <a:rPr lang="fr-MA" b="1" dirty="0"/>
              <a:t>raisonnement abstrait</a:t>
            </a:r>
            <a:r>
              <a:rPr lang="fr-MA" dirty="0"/>
              <a:t>, mais peu performante pour la perception.</a:t>
            </a:r>
            <a:br>
              <a:rPr lang="fr-MA" dirty="0"/>
            </a:br>
            <a:r>
              <a:rPr lang="fr-MA" dirty="0"/>
              <a:t>L’IA connexionniste, au contraire, excelle dans la </a:t>
            </a:r>
            <a:r>
              <a:rPr lang="fr-MA" b="1" dirty="0"/>
              <a:t>perception et la reconnaissance de formes</a:t>
            </a:r>
            <a:r>
              <a:rPr lang="fr-MA" dirty="0"/>
              <a:t>, mais reste </a:t>
            </a:r>
            <a:r>
              <a:rPr lang="fr-MA" b="1" dirty="0"/>
              <a:t>peu explicable</a:t>
            </a:r>
            <a:r>
              <a:rPr lang="fr-MA" dirty="0"/>
              <a:t> et limitée pour le raisonnement logique.</a:t>
            </a:r>
            <a:br>
              <a:rPr lang="fr-MA" dirty="0"/>
            </a:br>
            <a:r>
              <a:rPr lang="fr-MA" dirty="0"/>
              <a:t>Les recherches actuelles visent à combiner ces deux approches pour tendre vers une </a:t>
            </a:r>
            <a:r>
              <a:rPr lang="fr-MA" b="1" dirty="0"/>
              <a:t>IA générale (AGI)</a:t>
            </a:r>
            <a:r>
              <a:rPr lang="fr-MA" dirty="0"/>
              <a:t> plus complète et cohérente.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D22F0-1866-4590-9C03-A48A7C5F502D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53766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MA" dirty="0"/>
              <a:t>Cette approche repose sur la </a:t>
            </a:r>
            <a:r>
              <a:rPr lang="fr-MA" b="1" dirty="0"/>
              <a:t>manipulation de symboles, de règles et de faits logiques</a:t>
            </a:r>
            <a:r>
              <a:rPr lang="fr-MA" dirty="0"/>
              <a:t> pour reproduire le raisonnement humain.</a:t>
            </a:r>
            <a:br>
              <a:rPr lang="fr-MA" dirty="0"/>
            </a:br>
            <a:r>
              <a:rPr lang="fr-MA" dirty="0"/>
              <a:t>Elle est à la base des </a:t>
            </a:r>
            <a:r>
              <a:rPr lang="fr-MA" b="1" dirty="0"/>
              <a:t>systèmes experts</a:t>
            </a:r>
            <a:r>
              <a:rPr lang="fr-MA" dirty="0"/>
              <a:t> et des </a:t>
            </a:r>
            <a:r>
              <a:rPr lang="fr-MA" b="1" dirty="0"/>
              <a:t>ontologies</a:t>
            </a:r>
            <a:r>
              <a:rPr lang="fr-MA" dirty="0"/>
              <a:t> : des modèles capables de déduire des conclusions à partir de connaissances explicites.</a:t>
            </a:r>
            <a:br>
              <a:rPr lang="fr-MA" dirty="0"/>
            </a:br>
            <a:r>
              <a:rPr lang="fr-MA" dirty="0"/>
              <a:t>➡️ Avantages : explicable, fiable, adaptée à la conceptualisation.</a:t>
            </a:r>
            <a:br>
              <a:rPr lang="fr-MA" dirty="0"/>
            </a:br>
            <a:r>
              <a:rPr lang="fr-MA" dirty="0"/>
              <a:t>➡️ Limites : raisonnement rigide, faible généralisation, inefficace pour la perception visuelle.</a:t>
            </a:r>
          </a:p>
          <a:p>
            <a:endParaRPr lang="fr-MA" dirty="0"/>
          </a:p>
          <a:p>
            <a:endParaRPr lang="fr-MA" dirty="0"/>
          </a:p>
          <a:p>
            <a:r>
              <a:rPr lang="fr-MA" b="1" dirty="0"/>
              <a:t>🔗 2. IA connexionniste</a:t>
            </a:r>
          </a:p>
          <a:p>
            <a:r>
              <a:rPr lang="fr-MA" dirty="0"/>
              <a:t>Inspirée du fonctionnement du cerveau, elle repose sur les </a:t>
            </a:r>
            <a:r>
              <a:rPr lang="fr-MA" b="1" dirty="0"/>
              <a:t>réseaux de neurones</a:t>
            </a:r>
            <a:r>
              <a:rPr lang="fr-MA" dirty="0"/>
              <a:t> et l’</a:t>
            </a:r>
            <a:r>
              <a:rPr lang="fr-MA" b="1" dirty="0"/>
              <a:t>apprentissage automatique</a:t>
            </a:r>
            <a:r>
              <a:rPr lang="fr-MA" dirty="0"/>
              <a:t>.</a:t>
            </a:r>
            <a:br>
              <a:rPr lang="fr-MA" dirty="0"/>
            </a:br>
            <a:r>
              <a:rPr lang="fr-MA" dirty="0"/>
              <a:t>Elle apprend à reconnaître des schémas à partir de grandes quantités de données (images, sons, textes).</a:t>
            </a:r>
            <a:br>
              <a:rPr lang="fr-MA" dirty="0"/>
            </a:br>
            <a:r>
              <a:rPr lang="fr-MA" dirty="0"/>
              <a:t>➡️ Avantages : performante pour la perception et la reconnaissance de motifs.</a:t>
            </a:r>
            <a:br>
              <a:rPr lang="fr-MA" dirty="0"/>
            </a:br>
            <a:r>
              <a:rPr lang="fr-MA" dirty="0"/>
              <a:t>➡️ Limites : nécessite beaucoup de données, peu explicable, mal adaptée au raisonnement abstrait.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D22F0-1866-4590-9C03-A48A7C5F502D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11903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MA" dirty="0"/>
              <a:t>Derrière chaque IA, il y a une vision du bien et du mal. Les théories morales présentent le </a:t>
            </a:r>
            <a:r>
              <a:rPr lang="fr-MA" b="1" dirty="0"/>
              <a:t>cadre éthique</a:t>
            </a:r>
            <a:r>
              <a:rPr lang="fr-MA" dirty="0"/>
              <a:t> qui guide </a:t>
            </a:r>
            <a:r>
              <a:rPr lang="fr-MA" b="1" dirty="0"/>
              <a:t>le comportement et les décisions</a:t>
            </a:r>
            <a:r>
              <a:rPr lang="fr-MA" dirty="0"/>
              <a:t> de l’IA (ou de ses concepteurs).</a:t>
            </a:r>
          </a:p>
          <a:p>
            <a:endParaRPr lang="fr-MA" dirty="0"/>
          </a:p>
          <a:p>
            <a:r>
              <a:rPr lang="fr-MA" dirty="0"/>
              <a:t>Ces trois théories morales permettent de penser les choix qu’une machine doit ou ne doit pas faire.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D22F0-1866-4590-9C03-A48A7C5F502D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60286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5FAFD-1B68-B32A-0B9A-129C1F97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CC560E9-1CD2-C585-3AA2-0F8C8ADD24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59B4EC42-9866-8BB3-7BBA-E0931F228A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MA" dirty="0"/>
              <a:t>“Cette approche cherche la meilleure conséquence globale. Une IA ‘utilitariste’ choisirait toujours la solution qui maximise le bien collectif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8622929-488D-B4C0-B906-31251EAC97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D22F0-1866-4590-9C03-A48A7C5F502D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282252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MA" dirty="0"/>
              <a:t>C’est le dilemme du tramway : faut-il sacrifier une personne pour en sauver cinq ? L’IA utilitariste dit oui, car elle raisonne en termes de quantité de bien.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D22F0-1866-4590-9C03-A48A7C5F502D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18636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MA" dirty="0"/>
              <a:t>Ici, on ne juge pas l’action par ses résultats, mais par son respect du devoir. L’IA doit suivre des règles morales, même si cela conduit à un résultat moins optimal.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D22F0-1866-4590-9C03-A48A7C5F502D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11262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MA" dirty="0"/>
              <a:t>Le déontologisme donne de la prévisibilité et de la sécurité morale, mais il peut parfois sembler rigide dans des situations complexes.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D22F0-1866-4590-9C03-A48A7C5F502D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75279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MA" dirty="0"/>
              <a:t>L’éthique des vertus cherche à créer des IA qui se comportent avec discernement et bienveillance, pas juste selon des règles ou des calculs.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D22F0-1866-4590-9C03-A48A7C5F502D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079179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MA" dirty="0"/>
              <a:t>“Aucune théorie n’est parfaite. En pratique, les ingénieurs combinent ces approches pour concevoir des IA plus justes et responsables.</a:t>
            </a:r>
          </a:p>
          <a:p>
            <a:endParaRPr lang="fr-MA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MA" dirty="0"/>
              <a:t>L’avenir de l’IA repose sur une éthique combinée : l’efficacité du calcul, la rigueur du devoir et la sagesse des vertus humaines</a:t>
            </a:r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D22F0-1866-4590-9C03-A48A7C5F502D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44784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846577" y="1331214"/>
            <a:ext cx="11925935" cy="8483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900" b="1" i="0">
                <a:solidFill>
                  <a:srgbClr val="355237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3B3B3B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rgbClr val="D7D7D7"/>
                </a:solidFill>
                <a:latin typeface="Arial Black"/>
                <a:cs typeface="Arial Black"/>
              </a:defRPr>
            </a:lvl1pPr>
          </a:lstStyle>
          <a:p>
            <a:pPr marL="474980">
              <a:lnSpc>
                <a:spcPct val="100000"/>
              </a:lnSpc>
              <a:spcBef>
                <a:spcPts val="400"/>
              </a:spcBef>
            </a:pPr>
            <a:fld id="{81D60167-4931-47E6-BA6A-407CBD079E47}" type="slidenum">
              <a:rPr spc="-50" dirty="0"/>
              <a:t>‹N°›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900" b="1" i="0">
                <a:solidFill>
                  <a:srgbClr val="355237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3B3B3B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rgbClr val="D7D7D7"/>
                </a:solidFill>
                <a:latin typeface="Arial Black"/>
                <a:cs typeface="Arial Black"/>
              </a:defRPr>
            </a:lvl1pPr>
          </a:lstStyle>
          <a:p>
            <a:pPr marL="474980">
              <a:lnSpc>
                <a:spcPct val="100000"/>
              </a:lnSpc>
              <a:spcBef>
                <a:spcPts val="400"/>
              </a:spcBef>
            </a:pPr>
            <a:fld id="{81D60167-4931-47E6-BA6A-407CBD079E47}" type="slidenum">
              <a:rPr spc="-50" dirty="0"/>
              <a:t>‹N°›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-1620"/>
            <a:ext cx="6510655" cy="10286365"/>
          </a:xfrm>
          <a:custGeom>
            <a:avLst/>
            <a:gdLst/>
            <a:ahLst/>
            <a:cxnLst/>
            <a:rect l="l" t="t" r="r" b="b"/>
            <a:pathLst>
              <a:path w="6510655" h="10286365">
                <a:moveTo>
                  <a:pt x="6510655" y="0"/>
                </a:moveTo>
                <a:lnTo>
                  <a:pt x="0" y="0"/>
                </a:lnTo>
                <a:lnTo>
                  <a:pt x="0" y="10286238"/>
                </a:lnTo>
                <a:lnTo>
                  <a:pt x="6510655" y="10286238"/>
                </a:lnTo>
                <a:lnTo>
                  <a:pt x="6510655" y="0"/>
                </a:lnTo>
                <a:close/>
              </a:path>
            </a:pathLst>
          </a:custGeom>
          <a:solidFill>
            <a:srgbClr val="01AA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7673975" y="1365465"/>
            <a:ext cx="1052830" cy="1052830"/>
          </a:xfrm>
          <a:custGeom>
            <a:avLst/>
            <a:gdLst/>
            <a:ahLst/>
            <a:cxnLst/>
            <a:rect l="l" t="t" r="r" b="b"/>
            <a:pathLst>
              <a:path w="1052829" h="1052830">
                <a:moveTo>
                  <a:pt x="1052487" y="0"/>
                </a:moveTo>
                <a:lnTo>
                  <a:pt x="0" y="0"/>
                </a:lnTo>
                <a:lnTo>
                  <a:pt x="0" y="1052487"/>
                </a:lnTo>
                <a:lnTo>
                  <a:pt x="1052487" y="1052487"/>
                </a:lnTo>
                <a:lnTo>
                  <a:pt x="1052487" y="0"/>
                </a:lnTo>
                <a:close/>
              </a:path>
            </a:pathLst>
          </a:custGeom>
          <a:solidFill>
            <a:srgbClr val="EBF0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7673975" y="4079201"/>
            <a:ext cx="1052830" cy="1052830"/>
          </a:xfrm>
          <a:custGeom>
            <a:avLst/>
            <a:gdLst/>
            <a:ahLst/>
            <a:cxnLst/>
            <a:rect l="l" t="t" r="r" b="b"/>
            <a:pathLst>
              <a:path w="1052829" h="1052829">
                <a:moveTo>
                  <a:pt x="1052487" y="0"/>
                </a:moveTo>
                <a:lnTo>
                  <a:pt x="0" y="0"/>
                </a:lnTo>
                <a:lnTo>
                  <a:pt x="0" y="1052487"/>
                </a:lnTo>
                <a:lnTo>
                  <a:pt x="1052487" y="1052487"/>
                </a:lnTo>
                <a:lnTo>
                  <a:pt x="1052487" y="0"/>
                </a:lnTo>
                <a:close/>
              </a:path>
            </a:pathLst>
          </a:custGeom>
          <a:solidFill>
            <a:srgbClr val="EBF0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7673975" y="6827735"/>
            <a:ext cx="1052830" cy="1052830"/>
          </a:xfrm>
          <a:custGeom>
            <a:avLst/>
            <a:gdLst/>
            <a:ahLst/>
            <a:cxnLst/>
            <a:rect l="l" t="t" r="r" b="b"/>
            <a:pathLst>
              <a:path w="1052829" h="1052829">
                <a:moveTo>
                  <a:pt x="1052487" y="0"/>
                </a:moveTo>
                <a:lnTo>
                  <a:pt x="0" y="0"/>
                </a:lnTo>
                <a:lnTo>
                  <a:pt x="0" y="1052487"/>
                </a:lnTo>
                <a:lnTo>
                  <a:pt x="1052487" y="1052487"/>
                </a:lnTo>
                <a:lnTo>
                  <a:pt x="1052487" y="0"/>
                </a:lnTo>
                <a:close/>
              </a:path>
            </a:pathLst>
          </a:custGeom>
          <a:solidFill>
            <a:srgbClr val="EBF0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900" b="1" i="0">
                <a:solidFill>
                  <a:srgbClr val="355237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rgbClr val="D7D7D7"/>
                </a:solidFill>
                <a:latin typeface="Arial Black"/>
                <a:cs typeface="Arial Black"/>
              </a:defRPr>
            </a:lvl1pPr>
          </a:lstStyle>
          <a:p>
            <a:pPr marL="474980">
              <a:lnSpc>
                <a:spcPct val="100000"/>
              </a:lnSpc>
              <a:spcBef>
                <a:spcPts val="400"/>
              </a:spcBef>
            </a:pPr>
            <a:fld id="{81D60167-4931-47E6-BA6A-407CBD079E47}" type="slidenum">
              <a:rPr spc="-50" dirty="0"/>
              <a:t>‹N°›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900" b="1" i="0">
                <a:solidFill>
                  <a:srgbClr val="355237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rgbClr val="D7D7D7"/>
                </a:solidFill>
                <a:latin typeface="Arial Black"/>
                <a:cs typeface="Arial Black"/>
              </a:defRPr>
            </a:lvl1pPr>
          </a:lstStyle>
          <a:p>
            <a:pPr marL="474980">
              <a:lnSpc>
                <a:spcPct val="100000"/>
              </a:lnSpc>
              <a:spcBef>
                <a:spcPts val="400"/>
              </a:spcBef>
            </a:pPr>
            <a:fld id="{81D60167-4931-47E6-BA6A-407CBD079E47}" type="slidenum">
              <a:rPr spc="-50" dirty="0"/>
              <a:t>‹N°›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33129" y="2670810"/>
            <a:ext cx="221742" cy="221615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33129" y="5041138"/>
            <a:ext cx="221742" cy="221614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33129" y="7404481"/>
            <a:ext cx="221742" cy="221614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9144000" y="2892425"/>
            <a:ext cx="0" cy="2148840"/>
          </a:xfrm>
          <a:custGeom>
            <a:avLst/>
            <a:gdLst/>
            <a:ahLst/>
            <a:cxnLst/>
            <a:rect l="l" t="t" r="r" b="b"/>
            <a:pathLst>
              <a:path h="2148840">
                <a:moveTo>
                  <a:pt x="0" y="0"/>
                </a:moveTo>
                <a:lnTo>
                  <a:pt x="0" y="2148713"/>
                </a:lnTo>
              </a:path>
            </a:pathLst>
          </a:custGeom>
          <a:ln w="12700">
            <a:solidFill>
              <a:srgbClr val="D0D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9144000" y="5262753"/>
            <a:ext cx="0" cy="2141855"/>
          </a:xfrm>
          <a:custGeom>
            <a:avLst/>
            <a:gdLst/>
            <a:ahLst/>
            <a:cxnLst/>
            <a:rect l="l" t="t" r="r" b="b"/>
            <a:pathLst>
              <a:path h="2141854">
                <a:moveTo>
                  <a:pt x="0" y="2141728"/>
                </a:moveTo>
                <a:lnTo>
                  <a:pt x="0" y="0"/>
                </a:lnTo>
              </a:path>
            </a:pathLst>
          </a:custGeom>
          <a:ln w="12700">
            <a:solidFill>
              <a:srgbClr val="D0D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rgbClr val="D7D7D7"/>
                </a:solidFill>
                <a:latin typeface="Arial Black"/>
                <a:cs typeface="Arial Black"/>
              </a:defRPr>
            </a:lvl1pPr>
          </a:lstStyle>
          <a:p>
            <a:pPr marL="474980">
              <a:lnSpc>
                <a:spcPct val="100000"/>
              </a:lnSpc>
              <a:spcBef>
                <a:spcPts val="400"/>
              </a:spcBef>
            </a:pPr>
            <a:fld id="{81D60167-4931-47E6-BA6A-407CBD079E47}" type="slidenum">
              <a:rPr spc="-50" dirty="0"/>
              <a:t>‹N°›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08707" y="378714"/>
            <a:ext cx="12931140" cy="182671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900" b="1" i="0">
                <a:solidFill>
                  <a:srgbClr val="355237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164448" y="2001774"/>
            <a:ext cx="8982710" cy="30124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3B3B3B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6905096" y="8819169"/>
            <a:ext cx="1031240" cy="10928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rgbClr val="D7D7D7"/>
                </a:solidFill>
                <a:latin typeface="Arial Black"/>
                <a:cs typeface="Arial Black"/>
              </a:defRPr>
            </a:lvl1pPr>
          </a:lstStyle>
          <a:p>
            <a:pPr marL="474980">
              <a:lnSpc>
                <a:spcPct val="100000"/>
              </a:lnSpc>
              <a:spcBef>
                <a:spcPts val="400"/>
              </a:spcBef>
            </a:pPr>
            <a:fld id="{81D60167-4931-47E6-BA6A-407CBD079E47}" type="slidenum">
              <a:rPr spc="-50" dirty="0"/>
              <a:t>‹N°›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62"/>
            <a:ext cx="18288000" cy="1028534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92679" y="2926841"/>
            <a:ext cx="12503785" cy="2110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8210"/>
              </a:lnSpc>
              <a:spcBef>
                <a:spcPts val="100"/>
              </a:spcBef>
            </a:pPr>
            <a:r>
              <a:rPr sz="7200" b="0" spc="-320" dirty="0">
                <a:solidFill>
                  <a:srgbClr val="FFFFFF"/>
                </a:solidFill>
                <a:latin typeface="Arial Black"/>
                <a:cs typeface="Arial Black"/>
              </a:rPr>
              <a:t>I</a:t>
            </a:r>
            <a:r>
              <a:rPr lang="fr-FR" sz="7200" b="0" spc="-320" dirty="0">
                <a:solidFill>
                  <a:srgbClr val="FFFFFF"/>
                </a:solidFill>
                <a:latin typeface="Arial Black"/>
                <a:cs typeface="Arial Black"/>
              </a:rPr>
              <a:t>n</a:t>
            </a:r>
            <a:r>
              <a:rPr sz="7200" b="0" spc="-320" dirty="0" err="1">
                <a:solidFill>
                  <a:srgbClr val="FFFFFF"/>
                </a:solidFill>
                <a:latin typeface="Arial Black"/>
                <a:cs typeface="Arial Black"/>
              </a:rPr>
              <a:t>troductio</a:t>
            </a:r>
            <a:r>
              <a:rPr lang="fr-FR" sz="7200" b="0" spc="-320" dirty="0">
                <a:solidFill>
                  <a:srgbClr val="FFFFFF"/>
                </a:solidFill>
                <a:latin typeface="Arial Black"/>
                <a:cs typeface="Arial Black"/>
              </a:rPr>
              <a:t>n</a:t>
            </a:r>
            <a:r>
              <a:rPr sz="7200" b="0" spc="-68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7200" b="0" spc="-400" dirty="0">
                <a:solidFill>
                  <a:srgbClr val="FFFFFF"/>
                </a:solidFill>
                <a:latin typeface="Arial Black"/>
                <a:cs typeface="Arial Black"/>
              </a:rPr>
              <a:t>et</a:t>
            </a:r>
            <a:r>
              <a:rPr sz="7200" b="0" spc="-66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7200" b="0" spc="-390" dirty="0">
                <a:solidFill>
                  <a:srgbClr val="FFFFFF"/>
                </a:solidFill>
                <a:latin typeface="Arial Black"/>
                <a:cs typeface="Arial Black"/>
              </a:rPr>
              <a:t>Ethiques</a:t>
            </a:r>
            <a:r>
              <a:rPr sz="7200" b="0" spc="-67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7200" b="0" spc="-25" dirty="0">
                <a:solidFill>
                  <a:srgbClr val="FFFFFF"/>
                </a:solidFill>
                <a:latin typeface="Arial Black"/>
                <a:cs typeface="Arial Black"/>
              </a:rPr>
              <a:t>de</a:t>
            </a:r>
            <a:endParaRPr sz="7200" dirty="0">
              <a:latin typeface="Arial Black"/>
              <a:cs typeface="Arial Black"/>
            </a:endParaRPr>
          </a:p>
          <a:p>
            <a:pPr algn="ctr">
              <a:lnSpc>
                <a:spcPts val="8210"/>
              </a:lnSpc>
            </a:pPr>
            <a:r>
              <a:rPr sz="7200" b="0" spc="-345" dirty="0" err="1">
                <a:solidFill>
                  <a:srgbClr val="FFFFFF"/>
                </a:solidFill>
                <a:latin typeface="Arial Black"/>
                <a:cs typeface="Arial Black"/>
              </a:rPr>
              <a:t>l’I</a:t>
            </a:r>
            <a:r>
              <a:rPr lang="fr-FR" sz="7200" b="0" spc="-345" dirty="0">
                <a:solidFill>
                  <a:srgbClr val="FFFFFF"/>
                </a:solidFill>
                <a:latin typeface="Arial Black"/>
                <a:cs typeface="Arial Black"/>
              </a:rPr>
              <a:t>n</a:t>
            </a:r>
            <a:r>
              <a:rPr sz="7200" b="0" spc="-345" dirty="0" err="1">
                <a:solidFill>
                  <a:srgbClr val="FFFFFF"/>
                </a:solidFill>
                <a:latin typeface="Arial Black"/>
                <a:cs typeface="Arial Black"/>
              </a:rPr>
              <a:t>tellig</a:t>
            </a:r>
            <a:r>
              <a:rPr lang="fr-FR" sz="7200" b="0" spc="-345" dirty="0">
                <a:solidFill>
                  <a:srgbClr val="FFFFFF"/>
                </a:solidFill>
                <a:latin typeface="Arial Black"/>
                <a:cs typeface="Arial Black"/>
              </a:rPr>
              <a:t>en</a:t>
            </a:r>
            <a:r>
              <a:rPr sz="7200" b="0" spc="-345" dirty="0" err="1">
                <a:solidFill>
                  <a:srgbClr val="FFFFFF"/>
                </a:solidFill>
                <a:latin typeface="Arial Black"/>
                <a:cs typeface="Arial Black"/>
              </a:rPr>
              <a:t>ce</a:t>
            </a:r>
            <a:r>
              <a:rPr sz="7200" b="0" spc="-71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7200" b="0" spc="-425" dirty="0">
                <a:solidFill>
                  <a:srgbClr val="FFFFFF"/>
                </a:solidFill>
                <a:latin typeface="Arial Black"/>
                <a:cs typeface="Arial Black"/>
              </a:rPr>
              <a:t>Artificielle</a:t>
            </a:r>
            <a:endParaRPr sz="7200" dirty="0">
              <a:latin typeface="Arial Black"/>
              <a:cs typeface="Arial Black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656433" y="8893250"/>
            <a:ext cx="990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620" dirty="0">
                <a:solidFill>
                  <a:srgbClr val="3B3B3B"/>
                </a:solidFill>
                <a:latin typeface="Lucida Sans Unicode"/>
                <a:cs typeface="Lucida Sans Unicode"/>
              </a:rPr>
              <a:t>1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37346086-1CAF-60D2-100E-8977D23C3EDA}"/>
              </a:ext>
            </a:extLst>
          </p:cNvPr>
          <p:cNvSpPr txBox="1"/>
          <p:nvPr/>
        </p:nvSpPr>
        <p:spPr>
          <a:xfrm>
            <a:off x="4953000" y="6549094"/>
            <a:ext cx="6172200" cy="8867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15950" marR="5080" indent="-603885">
              <a:lnSpc>
                <a:spcPct val="100000"/>
              </a:lnSpc>
              <a:spcBef>
                <a:spcPts val="95"/>
              </a:spcBef>
            </a:pPr>
            <a:r>
              <a:rPr sz="2800" spc="-125" dirty="0">
                <a:solidFill>
                  <a:srgbClr val="FFFFFF"/>
                </a:solidFill>
                <a:latin typeface="Lucida Sans Unicode"/>
                <a:cs typeface="Lucida Sans Unicode"/>
              </a:rPr>
              <a:t>Pr.</a:t>
            </a:r>
            <a:r>
              <a:rPr sz="2800" spc="-1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lang="fr-FR" sz="2800" spc="105" dirty="0" err="1">
                <a:solidFill>
                  <a:srgbClr val="FFFFFF"/>
                </a:solidFill>
                <a:latin typeface="Lucida Sans Unicode"/>
                <a:cs typeface="Lucida Sans Unicode"/>
              </a:rPr>
              <a:t>Berhich</a:t>
            </a:r>
            <a:r>
              <a:rPr lang="fr-FR" sz="28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lang="fr-FR" sz="2800" spc="105" dirty="0" err="1">
                <a:solidFill>
                  <a:srgbClr val="FFFFFF"/>
                </a:solidFill>
                <a:latin typeface="Lucida Sans Unicode"/>
                <a:cs typeface="Lucida Sans Unicode"/>
              </a:rPr>
              <a:t>Asmae</a:t>
            </a:r>
            <a:endParaRPr lang="fr-FR" sz="2800" spc="105" dirty="0">
              <a:solidFill>
                <a:srgbClr val="FFFFFF"/>
              </a:solidFill>
              <a:latin typeface="Lucida Sans Unicode"/>
              <a:cs typeface="Lucida Sans Unicode"/>
            </a:endParaRPr>
          </a:p>
          <a:p>
            <a:pPr marL="615950" marR="5080" indent="-603885">
              <a:lnSpc>
                <a:spcPct val="100000"/>
              </a:lnSpc>
              <a:spcBef>
                <a:spcPts val="95"/>
              </a:spcBef>
            </a:pPr>
            <a:r>
              <a:rPr lang="fr-FR" sz="28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berhasmae@gmail.com</a:t>
            </a:r>
            <a:endParaRPr sz="2800" dirty="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52550" y="4256608"/>
            <a:ext cx="4206240" cy="1590040"/>
          </a:xfrm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marL="624840" marR="5080" indent="-612775">
              <a:lnSpc>
                <a:spcPts val="5840"/>
              </a:lnSpc>
              <a:spcBef>
                <a:spcPts val="830"/>
              </a:spcBef>
            </a:pPr>
            <a:r>
              <a:rPr sz="5400" spc="-270" dirty="0">
                <a:solidFill>
                  <a:srgbClr val="FFFFFF"/>
                </a:solidFill>
                <a:latin typeface="Arial Black"/>
                <a:cs typeface="Arial Black"/>
              </a:rPr>
              <a:t>Objectifs</a:t>
            </a:r>
            <a:r>
              <a:rPr sz="5400" spc="-49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5400" spc="-25" dirty="0">
                <a:solidFill>
                  <a:srgbClr val="FFFFFF"/>
                </a:solidFill>
                <a:latin typeface="Arial Black"/>
                <a:cs typeface="Arial Black"/>
              </a:rPr>
              <a:t>du </a:t>
            </a:r>
            <a:r>
              <a:rPr sz="5400" spc="-55" dirty="0" err="1">
                <a:solidFill>
                  <a:srgbClr val="FFFFFF"/>
                </a:solidFill>
                <a:latin typeface="Arial Black"/>
                <a:cs typeface="Arial Black"/>
              </a:rPr>
              <a:t>ch</a:t>
            </a:r>
            <a:r>
              <a:rPr lang="fr-FR" sz="5400" spc="-55" dirty="0">
                <a:solidFill>
                  <a:srgbClr val="FFFFFF"/>
                </a:solidFill>
                <a:latin typeface="Arial Black"/>
                <a:cs typeface="Arial Black"/>
              </a:rPr>
              <a:t>a</a:t>
            </a:r>
            <a:r>
              <a:rPr sz="5400" spc="-55" dirty="0" err="1">
                <a:solidFill>
                  <a:srgbClr val="FFFFFF"/>
                </a:solidFill>
                <a:latin typeface="Arial Black"/>
                <a:cs typeface="Arial Black"/>
              </a:rPr>
              <a:t>pitre</a:t>
            </a:r>
            <a:endParaRPr sz="5400" dirty="0">
              <a:latin typeface="Arial Black"/>
              <a:cs typeface="Arial Black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474980">
              <a:lnSpc>
                <a:spcPct val="100000"/>
              </a:lnSpc>
              <a:spcBef>
                <a:spcPts val="400"/>
              </a:spcBef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  <p:sp>
        <p:nvSpPr>
          <p:cNvPr id="10" name="object 10"/>
          <p:cNvSpPr txBox="1"/>
          <p:nvPr/>
        </p:nvSpPr>
        <p:spPr>
          <a:xfrm>
            <a:off x="16307815" y="8819169"/>
            <a:ext cx="1616075" cy="1204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45"/>
              </a:spcBef>
            </a:pPr>
            <a:endParaRPr sz="1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solidFill>
                  <a:srgbClr val="889E9F"/>
                </a:solidFill>
                <a:latin typeface="Lucida Sans Unicode"/>
                <a:cs typeface="Lucida Sans Unicode"/>
              </a:rPr>
              <a:t>Introduction </a:t>
            </a:r>
            <a:r>
              <a:rPr sz="1400" spc="170" dirty="0">
                <a:solidFill>
                  <a:srgbClr val="889E9F"/>
                </a:solidFill>
                <a:latin typeface="Lucida Sans Unicode"/>
                <a:cs typeface="Lucida Sans Unicode"/>
              </a:rPr>
              <a:t>à</a:t>
            </a:r>
            <a:r>
              <a:rPr sz="1400" dirty="0">
                <a:solidFill>
                  <a:srgbClr val="889E9F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889E9F"/>
                </a:solidFill>
                <a:latin typeface="Lucida Sans Unicode"/>
                <a:cs typeface="Lucida Sans Unicode"/>
              </a:rPr>
              <a:t>l'IA</a:t>
            </a:r>
            <a:endParaRPr sz="1400" dirty="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836534" y="1528140"/>
            <a:ext cx="727710" cy="72771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2255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65"/>
              </a:spcBef>
            </a:pPr>
            <a:r>
              <a:rPr sz="2800" spc="-910" dirty="0">
                <a:solidFill>
                  <a:srgbClr val="3B3B3B"/>
                </a:solidFill>
                <a:latin typeface="Arial Black"/>
                <a:cs typeface="Arial Black"/>
              </a:rPr>
              <a:t>1</a:t>
            </a:r>
            <a:endParaRPr sz="2800">
              <a:latin typeface="Arial Black"/>
              <a:cs typeface="Arial Black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998966" y="1670460"/>
            <a:ext cx="655828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fr-FR" sz="2800" b="0" spc="-145" dirty="0">
                <a:solidFill>
                  <a:srgbClr val="3B3B3B"/>
                </a:solidFill>
                <a:latin typeface="Arial Black"/>
                <a:cs typeface="Arial Black"/>
              </a:rPr>
              <a:t>Les deux grandes approches de l’IA</a:t>
            </a:r>
            <a:endParaRPr sz="2800" dirty="0">
              <a:latin typeface="Arial Black"/>
              <a:cs typeface="Arial Black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36534" y="4241749"/>
            <a:ext cx="727710" cy="72771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231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70"/>
              </a:spcBef>
            </a:pPr>
            <a:r>
              <a:rPr sz="2800" spc="-315" dirty="0">
                <a:solidFill>
                  <a:srgbClr val="3B3B3B"/>
                </a:solidFill>
                <a:latin typeface="Arial Black"/>
                <a:cs typeface="Arial Black"/>
              </a:rPr>
              <a:t>2</a:t>
            </a:r>
            <a:endParaRPr sz="2800">
              <a:latin typeface="Arial Black"/>
              <a:cs typeface="Arial Black"/>
            </a:endParaRPr>
          </a:p>
        </p:txBody>
      </p:sp>
      <p:sp>
        <p:nvSpPr>
          <p:cNvPr id="13" name="object 4">
            <a:extLst>
              <a:ext uri="{FF2B5EF4-FFF2-40B4-BE49-F238E27FC236}">
                <a16:creationId xmlns:a16="http://schemas.microsoft.com/office/drawing/2014/main" id="{551E1775-8A10-F326-FE7C-C60A8505AA9D}"/>
              </a:ext>
            </a:extLst>
          </p:cNvPr>
          <p:cNvSpPr txBox="1">
            <a:spLocks/>
          </p:cNvSpPr>
          <p:nvPr/>
        </p:nvSpPr>
        <p:spPr>
          <a:xfrm>
            <a:off x="9144000" y="4384069"/>
            <a:ext cx="655828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4900" b="1" i="0">
                <a:solidFill>
                  <a:srgbClr val="355237"/>
                </a:solidFill>
                <a:latin typeface="Tahoma"/>
                <a:ea typeface="+mj-ea"/>
                <a:cs typeface="Tahoma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fr-MA" sz="2800" b="0" spc="-145" dirty="0">
                <a:solidFill>
                  <a:srgbClr val="3B3B3B"/>
                </a:solidFill>
                <a:latin typeface="Arial Black"/>
                <a:cs typeface="Arial Black"/>
              </a:rPr>
              <a:t>Les trois théories morales de l’IA</a:t>
            </a:r>
            <a:endParaRPr lang="fr-MA" sz="2800" dirty="0">
              <a:latin typeface="Arial Black"/>
              <a:cs typeface="Arial Black"/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C1860B47-C573-9D94-4185-E5BB6141614F}"/>
              </a:ext>
            </a:extLst>
          </p:cNvPr>
          <p:cNvSpPr txBox="1"/>
          <p:nvPr/>
        </p:nvSpPr>
        <p:spPr>
          <a:xfrm>
            <a:off x="7696200" y="6438900"/>
            <a:ext cx="1981200" cy="17526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474980">
              <a:lnSpc>
                <a:spcPct val="100000"/>
              </a:lnSpc>
              <a:spcBef>
                <a:spcPts val="400"/>
              </a:spcBef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sp>
        <p:nvSpPr>
          <p:cNvPr id="5" name="object 5"/>
          <p:cNvSpPr txBox="1"/>
          <p:nvPr/>
        </p:nvSpPr>
        <p:spPr>
          <a:xfrm>
            <a:off x="16307815" y="8819169"/>
            <a:ext cx="1616075" cy="1204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45"/>
              </a:spcBef>
            </a:pPr>
            <a:endParaRPr sz="1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solidFill>
                  <a:srgbClr val="889E9F"/>
                </a:solidFill>
                <a:latin typeface="Lucida Sans Unicode"/>
                <a:cs typeface="Lucida Sans Unicode"/>
              </a:rPr>
              <a:t>Introduction </a:t>
            </a:r>
            <a:r>
              <a:rPr sz="1400" spc="170" dirty="0">
                <a:solidFill>
                  <a:srgbClr val="889E9F"/>
                </a:solidFill>
                <a:latin typeface="Lucida Sans Unicode"/>
                <a:cs typeface="Lucida Sans Unicode"/>
              </a:rPr>
              <a:t>à</a:t>
            </a:r>
            <a:r>
              <a:rPr sz="1400" dirty="0">
                <a:solidFill>
                  <a:srgbClr val="889E9F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889E9F"/>
                </a:solidFill>
                <a:latin typeface="Lucida Sans Unicode"/>
                <a:cs typeface="Lucida Sans Unicode"/>
              </a:rPr>
              <a:t>l'IA</a:t>
            </a:r>
            <a:endParaRPr sz="1400" dirty="0">
              <a:latin typeface="Lucida Sans Unicode"/>
              <a:cs typeface="Lucida Sans Unicode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3124200" y="100347"/>
            <a:ext cx="20421601" cy="2268440"/>
          </a:xfrm>
          <a:prstGeom prst="rect">
            <a:avLst/>
          </a:prstGeom>
        </p:spPr>
        <p:txBody>
          <a:bodyPr vert="horz" wrap="square" lIns="0" tIns="600582" rIns="0" bIns="0" rtlCol="0">
            <a:spAutoFit/>
          </a:bodyPr>
          <a:lstStyle/>
          <a:p>
            <a:pPr marL="4590415" algn="ctr">
              <a:lnSpc>
                <a:spcPct val="100000"/>
              </a:lnSpc>
              <a:spcBef>
                <a:spcPts val="100"/>
              </a:spcBef>
            </a:pPr>
            <a:r>
              <a:rPr lang="fr-MA" sz="5400" b="0" spc="-220" dirty="0">
                <a:solidFill>
                  <a:srgbClr val="006066"/>
                </a:solidFill>
                <a:latin typeface="Arial Black"/>
              </a:rPr>
              <a:t>Deux approches pour simuler l’intelligence humaine</a:t>
            </a:r>
            <a:endParaRPr sz="5400" b="0" spc="-220" dirty="0">
              <a:solidFill>
                <a:srgbClr val="006066"/>
              </a:solidFill>
              <a:latin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14512" y="3640524"/>
            <a:ext cx="15090584" cy="3356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4965" algn="l"/>
              </a:tabLst>
            </a:pPr>
            <a:r>
              <a:rPr lang="fr-MA" sz="2800" b="1" dirty="0"/>
              <a:t>L’intelligence artificielle repose sur deux grandes approches :</a:t>
            </a:r>
          </a:p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4965" algn="l"/>
              </a:tabLst>
            </a:pPr>
            <a:endParaRPr lang="fr-MA" sz="2800" b="1" dirty="0"/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lang="fr-MA" sz="2800" b="1" dirty="0"/>
              <a:t>	L’IA symbolique (déterministe)</a:t>
            </a:r>
            <a:r>
              <a:rPr lang="fr-MA" sz="2800" dirty="0"/>
              <a:t> — fondée sur le raisonnement logique et les règles.</a:t>
            </a:r>
            <a:br>
              <a:rPr lang="fr-MA" sz="2800" dirty="0"/>
            </a:br>
            <a:r>
              <a:rPr lang="fr-MA" sz="2800" dirty="0"/>
              <a:t>	</a:t>
            </a:r>
            <a:r>
              <a:rPr lang="fr-MA" sz="2800" b="1" dirty="0"/>
              <a:t>L’IA connexionniste (statistique ou probabiliste)</a:t>
            </a:r>
            <a:r>
              <a:rPr lang="fr-MA" sz="2800" dirty="0"/>
              <a:t> — fondée sur l’apprentissage à partir des données</a:t>
            </a:r>
            <a:r>
              <a:rPr lang="fr-MA" sz="2400" dirty="0"/>
              <a:t>.</a:t>
            </a:r>
            <a:endParaRPr sz="2400" dirty="0">
              <a:latin typeface="Lucida Sans Unicode"/>
              <a:cs typeface="Lucida Sans Unicode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4CB5889-1C35-6C3B-AB8E-7662B7753D99}"/>
              </a:ext>
            </a:extLst>
          </p:cNvPr>
          <p:cNvSpPr txBox="1"/>
          <p:nvPr/>
        </p:nvSpPr>
        <p:spPr>
          <a:xfrm>
            <a:off x="1814512" y="7239597"/>
            <a:ext cx="15198470" cy="2059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fr-MA" sz="2800" dirty="0"/>
              <a:t>Ces deux approches poursuivent le même but – reproduire l’intelligence humaine – mais avec des méthodes radicalement différentes. </a:t>
            </a:r>
            <a:endParaRPr lang="fr-FR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C536E-576F-C7E1-17B2-29EBAD78C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C7DE89BB-F248-BD51-D4D5-B8DF59E6857F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474980">
              <a:lnSpc>
                <a:spcPct val="100000"/>
              </a:lnSpc>
              <a:spcBef>
                <a:spcPts val="400"/>
              </a:spcBef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01A4F533-595D-00D0-FCD9-C9D3CCFFA825}"/>
              </a:ext>
            </a:extLst>
          </p:cNvPr>
          <p:cNvSpPr txBox="1"/>
          <p:nvPr/>
        </p:nvSpPr>
        <p:spPr>
          <a:xfrm>
            <a:off x="16307815" y="8819169"/>
            <a:ext cx="1616075" cy="1204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4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solidFill>
                  <a:srgbClr val="889E9F"/>
                </a:solidFill>
                <a:latin typeface="Lucida Sans Unicode"/>
                <a:cs typeface="Lucida Sans Unicode"/>
              </a:rPr>
              <a:t>Introduction </a:t>
            </a:r>
            <a:r>
              <a:rPr sz="1400" spc="170" dirty="0">
                <a:solidFill>
                  <a:srgbClr val="889E9F"/>
                </a:solidFill>
                <a:latin typeface="Lucida Sans Unicode"/>
                <a:cs typeface="Lucida Sans Unicode"/>
              </a:rPr>
              <a:t>à</a:t>
            </a:r>
            <a:r>
              <a:rPr sz="1400" dirty="0">
                <a:solidFill>
                  <a:srgbClr val="889E9F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889E9F"/>
                </a:solidFill>
                <a:latin typeface="Lucida Sans Unicode"/>
                <a:cs typeface="Lucida Sans Unicode"/>
              </a:rPr>
              <a:t>l'IA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08C5EA4A-2680-CF6D-E106-CD51A5E821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3124200" y="100347"/>
            <a:ext cx="20421601" cy="1437444"/>
          </a:xfrm>
          <a:prstGeom prst="rect">
            <a:avLst/>
          </a:prstGeom>
        </p:spPr>
        <p:txBody>
          <a:bodyPr vert="horz" wrap="square" lIns="0" tIns="600582" rIns="0" bIns="0" rtlCol="0">
            <a:spAutoFit/>
          </a:bodyPr>
          <a:lstStyle/>
          <a:p>
            <a:pPr marL="4590415" algn="ctr">
              <a:lnSpc>
                <a:spcPct val="100000"/>
              </a:lnSpc>
              <a:spcBef>
                <a:spcPts val="100"/>
              </a:spcBef>
            </a:pPr>
            <a:r>
              <a:rPr lang="fr-FR" sz="5400" b="0" spc="-220" dirty="0">
                <a:solidFill>
                  <a:srgbClr val="006066"/>
                </a:solidFill>
                <a:latin typeface="Arial Black"/>
              </a:rPr>
              <a:t>L’Intelligence Artificielle Symbolique</a:t>
            </a:r>
            <a:endParaRPr sz="5400" b="0" spc="-220" dirty="0">
              <a:solidFill>
                <a:srgbClr val="006066"/>
              </a:solidFill>
              <a:latin typeface="Arial Black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31D7B79B-FA57-0AF1-59C6-295C7598B368}"/>
              </a:ext>
            </a:extLst>
          </p:cNvPr>
          <p:cNvSpPr txBox="1"/>
          <p:nvPr/>
        </p:nvSpPr>
        <p:spPr>
          <a:xfrm>
            <a:off x="3548743" y="1721504"/>
            <a:ext cx="1272641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3200" i="1" dirty="0"/>
              <a:t>L’IA symbolique ou déterministe : raisonner comme un humain</a:t>
            </a:r>
            <a:endParaRPr lang="fr-FR" sz="3200" dirty="0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8F37354-5B84-B4A4-BC42-4549413B01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358" y="2567889"/>
            <a:ext cx="16288494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fr-FR" altLang="fr-FR" sz="3200" dirty="0"/>
              <a:t>Fonctionne par règles logiques explicites : “Si… alors… sinon…”.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30" name="Picture 6" descr="DataScienceToday - ML Supervised">
            <a:extLst>
              <a:ext uri="{FF2B5EF4-FFF2-40B4-BE49-F238E27FC236}">
                <a16:creationId xmlns:a16="http://schemas.microsoft.com/office/drawing/2014/main" id="{3CE8CC1B-6D5B-189B-6EDA-96373A5BCE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6407" y="5644282"/>
            <a:ext cx="10754666" cy="3918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1F40E182-5608-1B94-A154-2E4A35E5EC48}"/>
              </a:ext>
            </a:extLst>
          </p:cNvPr>
          <p:cNvSpPr txBox="1"/>
          <p:nvPr/>
        </p:nvSpPr>
        <p:spPr>
          <a:xfrm>
            <a:off x="1341452" y="3020435"/>
            <a:ext cx="10737272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fr-FR" altLang="fr-FR" sz="32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fr-FR" altLang="fr-FR" sz="2800" b="1" dirty="0"/>
              <a:t>Objectif :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fr-FR" altLang="fr-FR" sz="2800" dirty="0"/>
              <a:t>reproduire le raisonnement humain à travers des algorithmes structurés.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fr-FR" altLang="fr-FR" sz="2800" dirty="0"/>
              <a:t>Donne naissance aux systèmes experts : outils spécialisés dans un domaine précis.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fr-FR" altLang="fr-FR" sz="2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fr-FR" altLang="fr-FR" sz="2800" b="1" dirty="0"/>
              <a:t>Exemples :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fr-FR" altLang="fr-FR" sz="2800" dirty="0"/>
              <a:t>Aide au diagnostic médical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fr-FR" altLang="fr-FR" sz="2800" dirty="0"/>
              <a:t>Évaluation du risque de crédit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fr-FR" altLang="fr-FR" sz="2800" dirty="0"/>
              <a:t>Optimisation logistique (itinéraires, allocations, etc.)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53ED7203-1EEC-B109-51F6-C73218DF1A4B}"/>
              </a:ext>
            </a:extLst>
          </p:cNvPr>
          <p:cNvSpPr txBox="1"/>
          <p:nvPr/>
        </p:nvSpPr>
        <p:spPr>
          <a:xfrm>
            <a:off x="1358202" y="7692616"/>
            <a:ext cx="1557159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fr-MA" sz="2800" dirty="0"/>
          </a:p>
          <a:p>
            <a:pPr>
              <a:buNone/>
            </a:pPr>
            <a:r>
              <a:rPr lang="fr-MA" sz="2800" b="1" dirty="0"/>
              <a:t>Avantage 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MA" sz="2800" dirty="0"/>
              <a:t>Raisonnement transparent et explicable.</a:t>
            </a:r>
          </a:p>
          <a:p>
            <a:pPr>
              <a:buNone/>
            </a:pPr>
            <a:r>
              <a:rPr lang="fr-MA" sz="2800" b="1" dirty="0"/>
              <a:t>Limite 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MA" sz="2800" dirty="0"/>
              <a:t>Ne permet pas d’apprendre seule : il faut modifier les règles manuellement.</a:t>
            </a:r>
          </a:p>
        </p:txBody>
      </p:sp>
    </p:spTree>
    <p:extLst>
      <p:ext uri="{BB962C8B-B14F-4D97-AF65-F5344CB8AC3E}">
        <p14:creationId xmlns:p14="http://schemas.microsoft.com/office/powerpoint/2010/main" val="6682729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A744BB87-22AD-040C-FB39-E8E735A40B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2895600" y="-114300"/>
            <a:ext cx="19888201" cy="1437444"/>
          </a:xfrm>
          <a:prstGeom prst="rect">
            <a:avLst/>
          </a:prstGeom>
        </p:spPr>
        <p:txBody>
          <a:bodyPr vert="horz" wrap="square" lIns="0" tIns="600582" rIns="0" bIns="0" rtlCol="0">
            <a:spAutoFit/>
          </a:bodyPr>
          <a:lstStyle/>
          <a:p>
            <a:pPr marL="4590415" algn="ctr">
              <a:lnSpc>
                <a:spcPct val="100000"/>
              </a:lnSpc>
              <a:spcBef>
                <a:spcPts val="100"/>
              </a:spcBef>
            </a:pPr>
            <a:r>
              <a:rPr lang="fr-FR" sz="5400" b="0" spc="-220" dirty="0">
                <a:solidFill>
                  <a:srgbClr val="006066"/>
                </a:solidFill>
                <a:latin typeface="Arial Black"/>
              </a:rPr>
              <a:t>L’Intelligence Artificielle Connexionniste</a:t>
            </a:r>
            <a:endParaRPr sz="5400" b="0" spc="-220" dirty="0">
              <a:solidFill>
                <a:srgbClr val="006066"/>
              </a:solidFill>
              <a:latin typeface="Arial Black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4138015E-9E16-3DF9-5D8E-690EFE2ED477}"/>
              </a:ext>
            </a:extLst>
          </p:cNvPr>
          <p:cNvSpPr txBox="1"/>
          <p:nvPr/>
        </p:nvSpPr>
        <p:spPr>
          <a:xfrm>
            <a:off x="2589440" y="1474221"/>
            <a:ext cx="131091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3200" i="1" dirty="0"/>
              <a:t>L’IA connexionniste ou statistique : apprendre comme un humain</a:t>
            </a:r>
            <a:endParaRPr lang="fr-FR" sz="3200" i="1" dirty="0"/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86EB4ED6-2F55-A181-43C7-D645F05424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2299940"/>
            <a:ext cx="14145219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fr-FR" altLang="fr-FR" sz="2800" dirty="0"/>
              <a:t>S’inspire du cerveau humain et des réseaux de neurones.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fr-FR" altLang="fr-FR" sz="2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fr-FR" altLang="fr-FR" sz="2800" dirty="0"/>
              <a:t>Objectif : apprendre à partir d’exemples et de données.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fr-FR" altLang="fr-FR" sz="2800" dirty="0"/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fr-FR" altLang="fr-FR" sz="2800" dirty="0"/>
              <a:t>Repose sur des techniques comme :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fr-FR" altLang="fr-FR" sz="2800" dirty="0"/>
              <a:t>Machine Learning (apprentissage automatique)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fr-FR" altLang="fr-FR" sz="2800" dirty="0"/>
              <a:t>Deep Learning (apprentissage profond)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fr-FR" altLang="fr-FR" sz="2800" dirty="0"/>
              <a:t>IA générative et traitement du langage naturel (NLP).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fr-FR" altLang="fr-FR" sz="2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fr-FR" altLang="fr-FR" sz="2800" dirty="0"/>
              <a:t>Exemple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sz="2800" dirty="0"/>
              <a:t>Comme un enfant qui apprend à reconnaître un chat en voyant de nombreux exemples.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E02305F3-B216-CA29-D5A3-EF36921C7A07}"/>
              </a:ext>
            </a:extLst>
          </p:cNvPr>
          <p:cNvSpPr txBox="1"/>
          <p:nvPr/>
        </p:nvSpPr>
        <p:spPr>
          <a:xfrm>
            <a:off x="1447800" y="7334876"/>
            <a:ext cx="170688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MA" sz="2800" dirty="0"/>
              <a:t>Avantage 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MA" sz="2800" dirty="0"/>
              <a:t>Capacité d’adaptation et d’auto-apprentissage.</a:t>
            </a:r>
          </a:p>
          <a:p>
            <a:pPr>
              <a:buNone/>
            </a:pPr>
            <a:endParaRPr lang="fr-MA" sz="2800" dirty="0"/>
          </a:p>
          <a:p>
            <a:pPr>
              <a:buNone/>
            </a:pPr>
            <a:r>
              <a:rPr lang="fr-MA" sz="2800" dirty="0"/>
              <a:t>Limite 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MA" sz="2800" dirty="0"/>
              <a:t>Fonctionnement souvent opaque (“boîte noire”) et besoin de grandes quantités de données.</a:t>
            </a:r>
          </a:p>
        </p:txBody>
      </p:sp>
    </p:spTree>
    <p:extLst>
      <p:ext uri="{BB962C8B-B14F-4D97-AF65-F5344CB8AC3E}">
        <p14:creationId xmlns:p14="http://schemas.microsoft.com/office/powerpoint/2010/main" val="38112408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Que devient l'IA symbolique ?">
            <a:extLst>
              <a:ext uri="{FF2B5EF4-FFF2-40B4-BE49-F238E27FC236}">
                <a16:creationId xmlns:a16="http://schemas.microsoft.com/office/drawing/2014/main" id="{22434766-FD85-A13B-0D4D-6F79A43BDB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8863" y="2208895"/>
            <a:ext cx="12544640" cy="7034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bject 2">
            <a:extLst>
              <a:ext uri="{FF2B5EF4-FFF2-40B4-BE49-F238E27FC236}">
                <a16:creationId xmlns:a16="http://schemas.microsoft.com/office/drawing/2014/main" id="{47303C4C-549F-40C7-22C6-B1620AB36F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2514600" y="-257952"/>
            <a:ext cx="19050001" cy="1437444"/>
          </a:xfrm>
          <a:prstGeom prst="rect">
            <a:avLst/>
          </a:prstGeom>
        </p:spPr>
        <p:txBody>
          <a:bodyPr vert="horz" wrap="square" lIns="0" tIns="600582" rIns="0" bIns="0" rtlCol="0">
            <a:spAutoFit/>
          </a:bodyPr>
          <a:lstStyle/>
          <a:p>
            <a:pPr marL="4590415" algn="ctr">
              <a:lnSpc>
                <a:spcPct val="100000"/>
              </a:lnSpc>
              <a:spcBef>
                <a:spcPts val="100"/>
              </a:spcBef>
            </a:pPr>
            <a:r>
              <a:rPr lang="fr-FR" sz="5400" b="0" spc="-220" dirty="0">
                <a:solidFill>
                  <a:srgbClr val="006066"/>
                </a:solidFill>
                <a:latin typeface="Arial Black"/>
              </a:rPr>
              <a:t>IA Symbolique VS IA Connexionniste</a:t>
            </a:r>
            <a:endParaRPr sz="5400" b="0" spc="-220" dirty="0">
              <a:solidFill>
                <a:srgbClr val="006066"/>
              </a:solidFill>
              <a:latin typeface="Arial Black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C71C137-5B4E-499D-D849-2A1297B0B3FD}"/>
              </a:ext>
            </a:extLst>
          </p:cNvPr>
          <p:cNvSpPr/>
          <p:nvPr/>
        </p:nvSpPr>
        <p:spPr>
          <a:xfrm>
            <a:off x="7924800" y="4152900"/>
            <a:ext cx="2438400" cy="3429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348319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omparaison des courants symbolique et connexionniste de l'intelligence...  | Download Scientific Diagram">
            <a:extLst>
              <a:ext uri="{FF2B5EF4-FFF2-40B4-BE49-F238E27FC236}">
                <a16:creationId xmlns:a16="http://schemas.microsoft.com/office/drawing/2014/main" id="{9D5913F3-EDD6-A56F-3731-86F8DDE7F3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253" y="1250583"/>
            <a:ext cx="13207493" cy="9012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bject 2">
            <a:extLst>
              <a:ext uri="{FF2B5EF4-FFF2-40B4-BE49-F238E27FC236}">
                <a16:creationId xmlns:a16="http://schemas.microsoft.com/office/drawing/2014/main" id="{5EA2B7D6-50D8-ED31-1B1D-9F677F1165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2590800" y="-419100"/>
            <a:ext cx="19050001" cy="1437444"/>
          </a:xfrm>
          <a:prstGeom prst="rect">
            <a:avLst/>
          </a:prstGeom>
        </p:spPr>
        <p:txBody>
          <a:bodyPr vert="horz" wrap="square" lIns="0" tIns="600582" rIns="0" bIns="0" rtlCol="0">
            <a:spAutoFit/>
          </a:bodyPr>
          <a:lstStyle/>
          <a:p>
            <a:pPr marL="4590415" algn="ctr">
              <a:lnSpc>
                <a:spcPct val="100000"/>
              </a:lnSpc>
              <a:spcBef>
                <a:spcPts val="100"/>
              </a:spcBef>
            </a:pPr>
            <a:r>
              <a:rPr lang="fr-FR" sz="5400" b="0" spc="-220" dirty="0">
                <a:solidFill>
                  <a:srgbClr val="006066"/>
                </a:solidFill>
                <a:latin typeface="Arial Black"/>
              </a:rPr>
              <a:t>IA Symbolique VS IA Connexionniste</a:t>
            </a:r>
            <a:endParaRPr sz="5400" b="0" spc="-220" dirty="0">
              <a:solidFill>
                <a:srgbClr val="006066"/>
              </a:solidFill>
              <a:latin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42482581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9A80A-D6FF-2976-C68C-67AEC6ADB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FF2B5EF4-FFF2-40B4-BE49-F238E27FC236}">
                <a16:creationId xmlns:a16="http://schemas.microsoft.com/office/drawing/2014/main" id="{E320B649-1C2B-559E-B7AC-DA451C0952DA}"/>
              </a:ext>
            </a:extLst>
          </p:cNvPr>
          <p:cNvSpPr txBox="1"/>
          <p:nvPr/>
        </p:nvSpPr>
        <p:spPr>
          <a:xfrm>
            <a:off x="16307815" y="9748139"/>
            <a:ext cx="1563370" cy="27559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1400" dirty="0">
                <a:solidFill>
                  <a:srgbClr val="889E9F"/>
                </a:solidFill>
                <a:latin typeface="Lucida Sans Unicode"/>
                <a:cs typeface="Lucida Sans Unicode"/>
              </a:rPr>
              <a:t>Introduction </a:t>
            </a:r>
            <a:r>
              <a:rPr sz="1400" spc="170" dirty="0">
                <a:solidFill>
                  <a:srgbClr val="889E9F"/>
                </a:solidFill>
                <a:latin typeface="Lucida Sans Unicode"/>
                <a:cs typeface="Lucida Sans Unicode"/>
              </a:rPr>
              <a:t>à</a:t>
            </a:r>
            <a:r>
              <a:rPr sz="1400" spc="-10" dirty="0">
                <a:solidFill>
                  <a:srgbClr val="889E9F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889E9F"/>
                </a:solidFill>
                <a:latin typeface="Lucida Sans Unicode"/>
                <a:cs typeface="Lucida Sans Unicode"/>
              </a:rPr>
              <a:t>l'IA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2A197F6E-6F25-9A62-90C1-C74233CA094E}"/>
              </a:ext>
            </a:extLst>
          </p:cNvPr>
          <p:cNvSpPr txBox="1"/>
          <p:nvPr/>
        </p:nvSpPr>
        <p:spPr>
          <a:xfrm>
            <a:off x="7952613" y="4794885"/>
            <a:ext cx="1713864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14" dirty="0">
                <a:solidFill>
                  <a:srgbClr val="006066"/>
                </a:solidFill>
                <a:latin typeface="Arial Black"/>
                <a:cs typeface="Arial Black"/>
              </a:rPr>
              <a:t>Devoir</a:t>
            </a:r>
            <a:endParaRPr sz="4000">
              <a:latin typeface="Arial Black"/>
              <a:cs typeface="Arial Black"/>
            </a:endParaRPr>
          </a:p>
        </p:txBody>
      </p:sp>
      <p:sp>
        <p:nvSpPr>
          <p:cNvPr id="7" name="Titre 6">
            <a:extLst>
              <a:ext uri="{FF2B5EF4-FFF2-40B4-BE49-F238E27FC236}">
                <a16:creationId xmlns:a16="http://schemas.microsoft.com/office/drawing/2014/main" id="{165011E4-B251-C018-33BB-2CCF701C11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2790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2"/>
            <a:ext cx="18288000" cy="10285730"/>
            <a:chOff x="0" y="62"/>
            <a:chExt cx="18288000" cy="1028573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2"/>
              <a:ext cx="18288000" cy="1028534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0614152" y="1216533"/>
              <a:ext cx="7673975" cy="7851140"/>
            </a:xfrm>
            <a:custGeom>
              <a:avLst/>
              <a:gdLst/>
              <a:ahLst/>
              <a:cxnLst/>
              <a:rect l="l" t="t" r="r" b="b"/>
              <a:pathLst>
                <a:path w="7673975" h="7851140">
                  <a:moveTo>
                    <a:pt x="3857498" y="0"/>
                  </a:moveTo>
                  <a:lnTo>
                    <a:pt x="0" y="3857371"/>
                  </a:lnTo>
                  <a:lnTo>
                    <a:pt x="3993388" y="7850759"/>
                  </a:lnTo>
                  <a:lnTo>
                    <a:pt x="7673848" y="4170299"/>
                  </a:lnTo>
                  <a:lnTo>
                    <a:pt x="7673848" y="3816471"/>
                  </a:lnTo>
                  <a:lnTo>
                    <a:pt x="3857498" y="0"/>
                  </a:lnTo>
                  <a:close/>
                </a:path>
              </a:pathLst>
            </a:custGeom>
            <a:solidFill>
              <a:srgbClr val="3B3B3B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178667" y="1781302"/>
              <a:ext cx="6722109" cy="6722109"/>
            </a:xfrm>
            <a:custGeom>
              <a:avLst/>
              <a:gdLst/>
              <a:ahLst/>
              <a:cxnLst/>
              <a:rect l="l" t="t" r="r" b="b"/>
              <a:pathLst>
                <a:path w="6722109" h="6722109">
                  <a:moveTo>
                    <a:pt x="3360546" y="0"/>
                  </a:moveTo>
                  <a:lnTo>
                    <a:pt x="0" y="3360547"/>
                  </a:lnTo>
                  <a:lnTo>
                    <a:pt x="3361309" y="6721983"/>
                  </a:lnTo>
                  <a:lnTo>
                    <a:pt x="6721856" y="3361436"/>
                  </a:lnTo>
                  <a:lnTo>
                    <a:pt x="3360546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527480" y="4173568"/>
            <a:ext cx="3825875" cy="2552622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 marR="5080" indent="-2540" algn="ctr">
              <a:lnSpc>
                <a:spcPts val="4750"/>
              </a:lnSpc>
              <a:spcBef>
                <a:spcPts val="705"/>
              </a:spcBef>
            </a:pPr>
            <a:r>
              <a:rPr lang="fr-FR" sz="4400" b="0" spc="-30" dirty="0">
                <a:solidFill>
                  <a:srgbClr val="FFFFFF"/>
                </a:solidFill>
                <a:latin typeface="Arial Black"/>
                <a:cs typeface="Arial Black"/>
              </a:rPr>
              <a:t>Les trois théories morales de l’IA</a:t>
            </a:r>
            <a:endParaRPr sz="4400" dirty="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334C6-CC75-052D-DAD7-67FACE400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38ED4D-9433-A4AF-1AE2-96CC58EDA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8706" y="378714"/>
            <a:ext cx="14426693" cy="830997"/>
          </a:xfrm>
        </p:spPr>
        <p:txBody>
          <a:bodyPr/>
          <a:lstStyle/>
          <a:p>
            <a:pPr algn="ctr"/>
            <a:r>
              <a:rPr lang="fr-MA" sz="5400" b="0" spc="-220" dirty="0">
                <a:solidFill>
                  <a:srgbClr val="006066"/>
                </a:solidFill>
                <a:latin typeface="Arial Black"/>
              </a:rPr>
              <a:t>Les trois théories morales de l’IA</a:t>
            </a:r>
            <a:endParaRPr lang="fr-FR" sz="5400" b="0" spc="-220" dirty="0">
              <a:solidFill>
                <a:srgbClr val="006066"/>
              </a:solidFill>
              <a:latin typeface="Arial Black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FB270FF-533F-2EC3-1B1B-CD7F50668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2452" y="2650511"/>
            <a:ext cx="16459200" cy="49859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fr-FR" altLang="fr-FR" sz="2800" dirty="0"/>
              <a:t>L’IA prend de plus en plus de décisions ayant un impact moral (justice, santé, emploi, sécurité…).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fr-FR" altLang="fr-FR" sz="2800" dirty="0"/>
              <a:t>Les théories morales aident à déterminer ce qui est juste, bon ou acceptable dans les comportements des machines.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fr-FR" altLang="fr-FR" sz="2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fr-FR" altLang="fr-FR" sz="2800" dirty="0"/>
              <a:t>Trois grands cadres guident la réflexion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fr-FR" altLang="fr-FR" sz="4000" dirty="0"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lang="fr-FR" altLang="fr-FR" sz="4000" spc="-220" dirty="0">
                <a:solidFill>
                  <a:srgbClr val="006066"/>
                </a:solidFill>
                <a:latin typeface="Arial Rounded MT Bold" panose="020F0704030504030204" pitchFamily="34" charset="0"/>
                <a:ea typeface="+mj-ea"/>
                <a:cs typeface="Tahoma"/>
              </a:rPr>
              <a:t> Le conséquentialisme (ou utilitarisme)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lang="fr-FR" altLang="fr-FR" sz="4000" spc="-220" dirty="0">
                <a:solidFill>
                  <a:srgbClr val="006066"/>
                </a:solidFill>
                <a:latin typeface="Arial Rounded MT Bold" panose="020F0704030504030204" pitchFamily="34" charset="0"/>
                <a:ea typeface="+mj-ea"/>
                <a:cs typeface="Tahoma"/>
              </a:rPr>
              <a:t> Le déontologisme (ou éthique du devoir)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lang="fr-FR" altLang="fr-FR" sz="4000" spc="-220" dirty="0">
                <a:solidFill>
                  <a:srgbClr val="006066"/>
                </a:solidFill>
                <a:latin typeface="Arial Rounded MT Bold" panose="020F0704030504030204" pitchFamily="34" charset="0"/>
                <a:ea typeface="+mj-ea"/>
                <a:cs typeface="Tahoma"/>
              </a:rPr>
              <a:t> L’éthique des vertus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61286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3BDC3-39B0-B8C3-7BB6-6CE560702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189C8CD-FC2C-1452-5F49-689D93D6D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157" y="647700"/>
            <a:ext cx="14426693" cy="830997"/>
          </a:xfrm>
        </p:spPr>
        <p:txBody>
          <a:bodyPr/>
          <a:lstStyle/>
          <a:p>
            <a:pPr algn="ctr"/>
            <a:r>
              <a:rPr lang="fr-FR" sz="5400" b="0" spc="-220" dirty="0">
                <a:solidFill>
                  <a:srgbClr val="006066"/>
                </a:solidFill>
                <a:latin typeface="Arial Black"/>
              </a:rPr>
              <a:t>Le conséquentialisme (ou utilitarisme)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D7E84DE-3120-971F-5EC2-D59D75E4EE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1755" y="3804672"/>
            <a:ext cx="13808588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fr-FR" altLang="fr-FR" sz="2800" dirty="0"/>
              <a:t>  Une action est bonne si ses conséquences sont bonnes pour le plus grand nombre.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fr-FR" altLang="fr-FR" sz="2800" dirty="0"/>
              <a:t>  L’objectif est de maximiser le bien-être collectif et de réduire la souffrance.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fr-FR" altLang="fr-FR" sz="2800" dirty="0"/>
              <a:t>  Principaux penseurs : Jeremy Bentham, John Stuart Mill.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sz="2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sz="2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fr-FR" altLang="fr-FR" sz="2800" dirty="0"/>
              <a:t>En IA : les décisions visent l’efficacité globale (ex. sauver le plus de vies possible).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EA35A32A-5E09-7149-5615-AE3BE4DDCA73}"/>
              </a:ext>
            </a:extLst>
          </p:cNvPr>
          <p:cNvSpPr txBox="1"/>
          <p:nvPr/>
        </p:nvSpPr>
        <p:spPr>
          <a:xfrm>
            <a:off x="1831755" y="2356991"/>
            <a:ext cx="1462449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2800" dirty="0"/>
              <a:t>Cette approche cherche la meilleure conséquence globale. Une IA ‘utilitariste’ choisirait toujours la solution qui maximise le bien collectif.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7128146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AE7DD707-75CD-4793-DDD5-1905A743438B}"/>
              </a:ext>
            </a:extLst>
          </p:cNvPr>
          <p:cNvSpPr txBox="1"/>
          <p:nvPr/>
        </p:nvSpPr>
        <p:spPr>
          <a:xfrm>
            <a:off x="1621569" y="2324100"/>
            <a:ext cx="15697200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MA" sz="3200" i="1" dirty="0"/>
              <a:t>Exemple – L’IA et le dilemme du tramway</a:t>
            </a:r>
          </a:p>
          <a:p>
            <a:pPr>
              <a:buNone/>
            </a:pPr>
            <a:br>
              <a:rPr lang="fr-MA" dirty="0"/>
            </a:br>
            <a:r>
              <a:rPr lang="fr-MA" sz="2800" dirty="0"/>
              <a:t>Un véhicule autonome doit choisir :</a:t>
            </a:r>
            <a:br>
              <a:rPr lang="fr-MA" sz="2800" dirty="0"/>
            </a:br>
            <a:r>
              <a:rPr lang="fr-MA" sz="2800" dirty="0"/>
              <a:t>⚖️ Sauver 5 passants ou 1 passager ?</a:t>
            </a:r>
          </a:p>
          <a:p>
            <a:pPr>
              <a:buFont typeface="Arial" panose="020B0604020202020204" pitchFamily="34" charset="0"/>
              <a:buChar char="•"/>
            </a:pPr>
            <a:endParaRPr lang="fr-MA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fr-MA" sz="2800" dirty="0"/>
              <a:t> Une IA conséquentialiste privilégierait l’action qui sauve le plus de vies.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MA" sz="2800" dirty="0"/>
              <a:t> Mais cette logique peut ignorer la valeur individuelle des personnes.</a:t>
            </a: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240A3059-0557-509B-AB4A-DC3AB02B2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157" y="647700"/>
            <a:ext cx="14426693" cy="830997"/>
          </a:xfrm>
        </p:spPr>
        <p:txBody>
          <a:bodyPr/>
          <a:lstStyle/>
          <a:p>
            <a:pPr algn="ctr"/>
            <a:r>
              <a:rPr lang="fr-FR" sz="5400" b="0" spc="-220" dirty="0">
                <a:solidFill>
                  <a:srgbClr val="006066"/>
                </a:solidFill>
                <a:latin typeface="Arial Black"/>
              </a:rPr>
              <a:t>Le conséquentialisme (ou utilitarisme)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4DF24C7C-F226-FBB7-7E52-643016A0F347}"/>
              </a:ext>
            </a:extLst>
          </p:cNvPr>
          <p:cNvSpPr txBox="1"/>
          <p:nvPr/>
        </p:nvSpPr>
        <p:spPr>
          <a:xfrm>
            <a:off x="1621569" y="6057900"/>
            <a:ext cx="1620878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MA" sz="2800" b="1" u="sng" dirty="0"/>
              <a:t>Exemple de </a:t>
            </a:r>
            <a:r>
              <a:rPr lang="fr-MA" sz="2800" b="1" u="sng" dirty="0" err="1"/>
              <a:t>chatgpt</a:t>
            </a:r>
            <a:r>
              <a:rPr lang="fr-MA" sz="2800" b="1" u="sng" dirty="0"/>
              <a:t> 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MA" sz="2800" dirty="0"/>
              <a:t>Si un utilisateur demande un avis médical, </a:t>
            </a:r>
            <a:r>
              <a:rPr lang="fr-MA" sz="2800" dirty="0" err="1"/>
              <a:t>ChatGPT</a:t>
            </a:r>
            <a:r>
              <a:rPr lang="fr-MA" sz="2800" dirty="0"/>
              <a:t> donne une réponse prudente, informée mais non diagnostique, et conseille de consulter un professionnel de santé.</a:t>
            </a:r>
            <a:br>
              <a:rPr lang="fr-MA" sz="2800" dirty="0"/>
            </a:br>
            <a:r>
              <a:rPr lang="fr-MA" sz="2800" dirty="0"/>
              <a:t>Cela vise à minimiser les risques (éviter un mauvais traitement) et à maximiser le bien collectif (protéger la santé publique).</a:t>
            </a:r>
          </a:p>
        </p:txBody>
      </p:sp>
    </p:spTree>
    <p:extLst>
      <p:ext uri="{BB962C8B-B14F-4D97-AF65-F5344CB8AC3E}">
        <p14:creationId xmlns:p14="http://schemas.microsoft.com/office/powerpoint/2010/main" val="23622854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28146857-1C3A-7020-6711-97AAC9874E07}"/>
              </a:ext>
            </a:extLst>
          </p:cNvPr>
          <p:cNvSpPr txBox="1"/>
          <p:nvPr/>
        </p:nvSpPr>
        <p:spPr>
          <a:xfrm>
            <a:off x="2933700" y="3086100"/>
            <a:ext cx="1405890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br>
              <a:rPr lang="fr-MA" sz="2400" dirty="0"/>
            </a:br>
            <a:r>
              <a:rPr lang="fr-MA" sz="3600" dirty="0"/>
              <a:t>Inspirée par Immanuel Kant.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MA" sz="3600" dirty="0"/>
              <a:t>Une action est morale si elle respecte des règles ou des principes universels, peu importe les conséquences.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MA" sz="3600" dirty="0"/>
              <a:t>Les décisions doivent être justes, non simplement efficaces.</a:t>
            </a:r>
          </a:p>
          <a:p>
            <a:endParaRPr lang="fr-MA" sz="3600" dirty="0"/>
          </a:p>
          <a:p>
            <a:endParaRPr lang="fr-MA" sz="3600" dirty="0"/>
          </a:p>
          <a:p>
            <a:r>
              <a:rPr lang="fr-MA" sz="3600" dirty="0"/>
              <a:t>En IA : une machine doit respecter des normes éthiques préprogrammées (ex. ne jamais tuer, ne pas mentir).</a:t>
            </a: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F0D66D03-02FC-5197-3848-4C23FFB05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157" y="647700"/>
            <a:ext cx="14426693" cy="830997"/>
          </a:xfrm>
        </p:spPr>
        <p:txBody>
          <a:bodyPr/>
          <a:lstStyle/>
          <a:p>
            <a:pPr algn="ctr"/>
            <a:r>
              <a:rPr lang="fr-MA" sz="5400" b="0" spc="-220" dirty="0">
                <a:solidFill>
                  <a:srgbClr val="006066"/>
                </a:solidFill>
                <a:latin typeface="Arial Black"/>
              </a:rPr>
              <a:t>Le déontologisme (ou éthique du devoir)</a:t>
            </a:r>
            <a:endParaRPr lang="fr-FR" sz="5400" b="0" spc="-220" dirty="0">
              <a:solidFill>
                <a:srgbClr val="006066"/>
              </a:solidFill>
              <a:latin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25440544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44D34CAD-F8D5-CFCB-4855-26F81D8669FF}"/>
              </a:ext>
            </a:extLst>
          </p:cNvPr>
          <p:cNvSpPr txBox="1"/>
          <p:nvPr/>
        </p:nvSpPr>
        <p:spPr>
          <a:xfrm>
            <a:off x="1524000" y="2035210"/>
            <a:ext cx="14630400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3200" i="1" dirty="0"/>
              <a:t>Exemple – IA et respect des règles éthiques</a:t>
            </a:r>
            <a:br>
              <a:rPr lang="fr-MA" dirty="0"/>
            </a:br>
            <a:endParaRPr lang="fr-MA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MA" sz="3200" dirty="0"/>
              <a:t>Une IA médicale ne doit jamais trahir la confidentialité d’un patient, même si cela peut sauver d’autres vies.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fr-MA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MA" sz="3200" dirty="0"/>
              <a:t>Une IA policière ne doit pas discriminer selon le profil des citoyens.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MA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MA" sz="3200" dirty="0"/>
              <a:t>La règle prime sur le résultat.</a:t>
            </a: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A10C7868-5631-F76D-741E-4E339A237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157" y="647700"/>
            <a:ext cx="14426693" cy="830997"/>
          </a:xfrm>
        </p:spPr>
        <p:txBody>
          <a:bodyPr/>
          <a:lstStyle/>
          <a:p>
            <a:pPr algn="ctr"/>
            <a:r>
              <a:rPr lang="fr-MA" sz="5400" b="0" spc="-220" dirty="0">
                <a:solidFill>
                  <a:srgbClr val="006066"/>
                </a:solidFill>
                <a:latin typeface="Arial Black"/>
              </a:rPr>
              <a:t>Le déontologisme (ou éthique du devoir)</a:t>
            </a:r>
            <a:endParaRPr lang="fr-FR" sz="5400" b="0" spc="-220" dirty="0">
              <a:solidFill>
                <a:srgbClr val="006066"/>
              </a:solidFill>
              <a:latin typeface="Arial Black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48C32A2E-4815-40AB-0A87-918A1972AD98}"/>
              </a:ext>
            </a:extLst>
          </p:cNvPr>
          <p:cNvSpPr txBox="1"/>
          <p:nvPr/>
        </p:nvSpPr>
        <p:spPr>
          <a:xfrm>
            <a:off x="1524000" y="6210300"/>
            <a:ext cx="15697200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MA" sz="2800" b="1" u="sng" dirty="0"/>
              <a:t>Exemple de </a:t>
            </a:r>
            <a:r>
              <a:rPr lang="fr-MA" sz="2800" b="1" u="sng" dirty="0" err="1"/>
              <a:t>chatGPT</a:t>
            </a:r>
            <a:r>
              <a:rPr lang="fr-MA" sz="2800" b="1" u="sng" dirty="0"/>
              <a:t>:</a:t>
            </a:r>
          </a:p>
          <a:p>
            <a:pPr>
              <a:buNone/>
            </a:pPr>
            <a:endParaRPr lang="fr-MA" dirty="0"/>
          </a:p>
          <a:p>
            <a:pPr>
              <a:buNone/>
            </a:pPr>
            <a:r>
              <a:rPr lang="fr-MA" sz="2800" dirty="0" err="1"/>
              <a:t>ChatGPT</a:t>
            </a:r>
            <a:r>
              <a:rPr lang="fr-MA" sz="2800" dirty="0"/>
              <a:t> est conçu pour suivre des règles éthiques strictes fixées par ses concepteurs.</a:t>
            </a:r>
            <a:br>
              <a:rPr lang="fr-MA" sz="2800" dirty="0"/>
            </a:br>
            <a:r>
              <a:rPr lang="fr-MA" sz="2800" dirty="0"/>
              <a:t>Il ne peut pas 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MA" sz="2800" dirty="0"/>
              <a:t>inciter à la haine ou à la violence,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MA" sz="2800" dirty="0"/>
              <a:t>générer de fausses informations intentionnelles,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MA" sz="2800" dirty="0"/>
              <a:t>violer la vie privée ou encourager des comportements illégaux.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MA" sz="2800" dirty="0"/>
              <a:t>Si un utilisateur demande à </a:t>
            </a:r>
            <a:r>
              <a:rPr lang="fr-MA" sz="2800" dirty="0" err="1"/>
              <a:t>ChatGPT</a:t>
            </a:r>
            <a:r>
              <a:rPr lang="fr-MA" sz="2800" dirty="0"/>
              <a:t> “comment pirater un compte bancaire”, le modèle refuse de répondre.</a:t>
            </a:r>
          </a:p>
        </p:txBody>
      </p:sp>
    </p:spTree>
    <p:extLst>
      <p:ext uri="{BB962C8B-B14F-4D97-AF65-F5344CB8AC3E}">
        <p14:creationId xmlns:p14="http://schemas.microsoft.com/office/powerpoint/2010/main" val="25625073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810A7A-B469-C1CF-CE0B-984D87721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8707" y="378714"/>
            <a:ext cx="12931140" cy="1661993"/>
          </a:xfrm>
        </p:spPr>
        <p:txBody>
          <a:bodyPr/>
          <a:lstStyle/>
          <a:p>
            <a:pPr algn="ctr"/>
            <a:r>
              <a:rPr lang="fr-MA" sz="5400" b="0" spc="-220" dirty="0">
                <a:solidFill>
                  <a:srgbClr val="006066"/>
                </a:solidFill>
                <a:latin typeface="Arial Black"/>
              </a:rPr>
              <a:t>L’éthique des vertus (ou approche humaniste)</a:t>
            </a:r>
            <a:endParaRPr lang="fr-FR" sz="5400" b="0" spc="-220" dirty="0">
              <a:solidFill>
                <a:srgbClr val="006066"/>
              </a:solidFill>
              <a:latin typeface="Arial Black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73A3617-1A88-0E28-ED3F-9959E62850E1}"/>
              </a:ext>
            </a:extLst>
          </p:cNvPr>
          <p:cNvSpPr txBox="1"/>
          <p:nvPr/>
        </p:nvSpPr>
        <p:spPr>
          <a:xfrm>
            <a:off x="1415374" y="2411003"/>
            <a:ext cx="16078200" cy="3447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br>
              <a:rPr lang="fr-MA" dirty="0"/>
            </a:br>
            <a:r>
              <a:rPr lang="fr-MA" sz="3600" dirty="0"/>
              <a:t>Inspirée par Aristote.</a:t>
            </a:r>
          </a:p>
          <a:p>
            <a:pPr>
              <a:buNone/>
            </a:pPr>
            <a:endParaRPr lang="fr-MA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MA" sz="3200" dirty="0"/>
              <a:t>Une action est morale si elle reflète les qualités d’un bon être humain : sagesse, justice, courage, bienveillance.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MA" sz="3200" dirty="0"/>
              <a:t>L’IA doit imiter les comportements vertueux humains et s’adapter au contexte.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MA" sz="3200" dirty="0"/>
              <a:t>Approche centrée sur la moralité de l’agent, pas sur les règles ou les résultats.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DC99A79-B717-5FAB-3891-C6AE9DF92E0A}"/>
              </a:ext>
            </a:extLst>
          </p:cNvPr>
          <p:cNvSpPr txBox="1"/>
          <p:nvPr/>
        </p:nvSpPr>
        <p:spPr>
          <a:xfrm>
            <a:off x="1415374" y="6444836"/>
            <a:ext cx="16600251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2800" b="1" u="sng" dirty="0"/>
              <a:t>Exemple de </a:t>
            </a:r>
            <a:r>
              <a:rPr lang="fr-MA" sz="2800" b="1" u="sng" dirty="0" err="1"/>
              <a:t>chatGPT</a:t>
            </a:r>
            <a:r>
              <a:rPr lang="fr-MA" sz="2800" b="1" u="sng" dirty="0"/>
              <a:t>:</a:t>
            </a:r>
          </a:p>
          <a:p>
            <a:r>
              <a:rPr lang="fr-MA" sz="3200" dirty="0"/>
              <a:t>Si un utilisateur exprime une détresse émotionnelle, </a:t>
            </a:r>
            <a:r>
              <a:rPr lang="fr-MA" sz="3200" dirty="0" err="1"/>
              <a:t>ChatGPT</a:t>
            </a:r>
            <a:r>
              <a:rPr lang="fr-MA" sz="3200" dirty="0"/>
              <a:t> répond avec écoute et empathie, tout en encourageant des ressources d’aide ou un soutien psychologique.</a:t>
            </a:r>
            <a:br>
              <a:rPr lang="fr-MA" sz="3200" dirty="0"/>
            </a:br>
            <a:r>
              <a:rPr lang="fr-MA" sz="3200" dirty="0"/>
              <a:t>Ce comportement traduit la vertu de bienveillance et de prudence.</a:t>
            </a:r>
            <a:endParaRPr lang="fr-FR" sz="3200" dirty="0"/>
          </a:p>
        </p:txBody>
      </p:sp>
    </p:spTree>
    <p:extLst>
      <p:ext uri="{BB962C8B-B14F-4D97-AF65-F5344CB8AC3E}">
        <p14:creationId xmlns:p14="http://schemas.microsoft.com/office/powerpoint/2010/main" val="36978966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1DDBAD8-97A3-4D49-5305-498E45B74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6067" y="723900"/>
            <a:ext cx="12931140" cy="830997"/>
          </a:xfrm>
        </p:spPr>
        <p:txBody>
          <a:bodyPr/>
          <a:lstStyle/>
          <a:p>
            <a:r>
              <a:rPr lang="fr-FR" sz="5400" b="0" spc="-220" dirty="0">
                <a:solidFill>
                  <a:srgbClr val="006066"/>
                </a:solidFill>
                <a:latin typeface="Arial Black"/>
              </a:rPr>
              <a:t>Les trois théories morales de l’IA</a:t>
            </a:r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2E441141-6A74-49C9-0E86-F3C2EFAA36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2779406"/>
              </p:ext>
            </p:extLst>
          </p:nvPr>
        </p:nvGraphicFramePr>
        <p:xfrm>
          <a:off x="1905000" y="3040380"/>
          <a:ext cx="14478000" cy="420624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3783892">
                  <a:extLst>
                    <a:ext uri="{9D8B030D-6E8A-4147-A177-3AD203B41FA5}">
                      <a16:colId xmlns:a16="http://schemas.microsoft.com/office/drawing/2014/main" val="263323223"/>
                    </a:ext>
                  </a:extLst>
                </a:gridCol>
                <a:gridCol w="2388308">
                  <a:extLst>
                    <a:ext uri="{9D8B030D-6E8A-4147-A177-3AD203B41FA5}">
                      <a16:colId xmlns:a16="http://schemas.microsoft.com/office/drawing/2014/main" val="3004628475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885558122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3890969924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29289044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/>
                        <a:t>Théorie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/>
                        <a:t>Principe moral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 dirty="0"/>
                        <a:t>Avantage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/>
                        <a:t>Limite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/>
                        <a:t>Exemple IA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9808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 b="1"/>
                        <a:t>Conséquentialisme</a:t>
                      </a:r>
                      <a:endParaRPr lang="fr-FR" sz="2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/>
                        <a:t>Juger selon les résultats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/>
                        <a:t>Efficacité globale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/>
                        <a:t>Peut sacrifier des individus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/>
                        <a:t>Voiture autonome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69713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 b="1"/>
                        <a:t>Déontologisme</a:t>
                      </a:r>
                      <a:endParaRPr lang="fr-FR" sz="2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/>
                        <a:t>Respecter les règles morales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/>
                        <a:t>Prévisibilité éthique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/>
                        <a:t>Rigidité des principes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/>
                        <a:t>IA médicale éthique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78461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 b="1"/>
                        <a:t>Éthique des vertus</a:t>
                      </a:r>
                      <a:endParaRPr lang="fr-FR" sz="2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MA" sz="2800"/>
                        <a:t>Adopter un comportement juste et humain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 dirty="0"/>
                        <a:t>Humanisation des décisions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/>
                        <a:t>Difficile à formaliser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 dirty="0"/>
                        <a:t>Robots sociaux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27429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66968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16307815" y="9748139"/>
            <a:ext cx="1563370" cy="27559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1400" dirty="0">
                <a:solidFill>
                  <a:srgbClr val="889E9F"/>
                </a:solidFill>
                <a:latin typeface="Lucida Sans Unicode"/>
                <a:cs typeface="Lucida Sans Unicode"/>
              </a:rPr>
              <a:t>Introduction </a:t>
            </a:r>
            <a:r>
              <a:rPr sz="1400" spc="170" dirty="0">
                <a:solidFill>
                  <a:srgbClr val="889E9F"/>
                </a:solidFill>
                <a:latin typeface="Lucida Sans Unicode"/>
                <a:cs typeface="Lucida Sans Unicode"/>
              </a:rPr>
              <a:t>à</a:t>
            </a:r>
            <a:r>
              <a:rPr sz="1400" spc="-10" dirty="0">
                <a:solidFill>
                  <a:srgbClr val="889E9F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889E9F"/>
                </a:solidFill>
                <a:latin typeface="Lucida Sans Unicode"/>
                <a:cs typeface="Lucida Sans Unicode"/>
              </a:rPr>
              <a:t>l'IA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952613" y="4794885"/>
            <a:ext cx="1713864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14" dirty="0">
                <a:solidFill>
                  <a:srgbClr val="006066"/>
                </a:solidFill>
                <a:latin typeface="Arial Black"/>
                <a:cs typeface="Arial Black"/>
              </a:rPr>
              <a:t>Devoir</a:t>
            </a:r>
            <a:endParaRPr sz="4000">
              <a:latin typeface="Arial Black"/>
              <a:cs typeface="Arial Black"/>
            </a:endParaRPr>
          </a:p>
        </p:txBody>
      </p:sp>
      <p:sp>
        <p:nvSpPr>
          <p:cNvPr id="7" name="Titre 6">
            <a:extLst>
              <a:ext uri="{FF2B5EF4-FFF2-40B4-BE49-F238E27FC236}">
                <a16:creationId xmlns:a16="http://schemas.microsoft.com/office/drawing/2014/main" id="{11B77CAB-C952-8CA0-8CB9-FB3560F170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1065</TotalTime>
  <Words>1505</Words>
  <Application>Microsoft Office PowerPoint</Application>
  <PresentationFormat>Personnalisé</PresentationFormat>
  <Paragraphs>183</Paragraphs>
  <Slides>17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6" baseType="lpstr">
      <vt:lpstr>Arial</vt:lpstr>
      <vt:lpstr>Arial Black</vt:lpstr>
      <vt:lpstr>Arial Rounded MT Bold</vt:lpstr>
      <vt:lpstr>Calibri</vt:lpstr>
      <vt:lpstr>Lucida Sans Unicode</vt:lpstr>
      <vt:lpstr>Tahoma</vt:lpstr>
      <vt:lpstr>Times New Roman</vt:lpstr>
      <vt:lpstr>Wingdings</vt:lpstr>
      <vt:lpstr>Office Theme</vt:lpstr>
      <vt:lpstr>Introduction et Ethiques de l’Intelligence Artificielle</vt:lpstr>
      <vt:lpstr>Les deux grandes approches de l’IA</vt:lpstr>
      <vt:lpstr>Deux approches pour simuler l’intelligence humaine</vt:lpstr>
      <vt:lpstr>L’Intelligence Artificielle Symbolique</vt:lpstr>
      <vt:lpstr>L’Intelligence Artificielle Connexionniste</vt:lpstr>
      <vt:lpstr>IA Symbolique VS IA Connexionniste</vt:lpstr>
      <vt:lpstr>IA Symbolique VS IA Connexionniste</vt:lpstr>
      <vt:lpstr>Présentation PowerPoint</vt:lpstr>
      <vt:lpstr>Les trois théories morales de l’IA</vt:lpstr>
      <vt:lpstr>Les trois théories morales de l’IA</vt:lpstr>
      <vt:lpstr>Le conséquentialisme (ou utilitarisme)</vt:lpstr>
      <vt:lpstr>Le conséquentialisme (ou utilitarisme)</vt:lpstr>
      <vt:lpstr>Le déontologisme (ou éthique du devoir)</vt:lpstr>
      <vt:lpstr>Le déontologisme (ou éthique du devoir)</vt:lpstr>
      <vt:lpstr>L’éthique des vertus (ou approche humaniste)</vt:lpstr>
      <vt:lpstr>Les trois théories morales de l’IA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Polaris</dc:title>
  <dc:creator>hp</dc:creator>
  <cp:lastModifiedBy>ABDERRAHMANE</cp:lastModifiedBy>
  <cp:revision>171</cp:revision>
  <dcterms:created xsi:type="dcterms:W3CDTF">2025-10-22T14:04:58Z</dcterms:created>
  <dcterms:modified xsi:type="dcterms:W3CDTF">2025-10-30T00:13:37Z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2025-10-01T00:00:00Z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2025-10-22T00:00:00Z</vt:filetime>
  </property>
  <property fmtid="{D5CDD505-2E9C-101B-9397-08002B2CF9AE}" pid="5" name="Producer">
    <vt:lpwstr>Microsoft® PowerPoint® 2019</vt:lpwstr>
  </property>
</Properties>
</file>