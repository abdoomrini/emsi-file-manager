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518" autoAdjust="0"/>
  </p:normalViewPr>
  <p:slideViewPr>
    <p:cSldViewPr>
      <p:cViewPr varScale="1">
        <p:scale>
          <a:sx n="48" d="100"/>
          <a:sy n="48" d="100"/>
        </p:scale>
        <p:origin x="20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4022B-9B53-4962-822B-61CD6A020315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D22F0-1866-4590-9C03-A48A7C5F50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6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Bonjour à tous ! Aujourd’hui, nous allons découvrir ensemble ce qu’est </a:t>
            </a:r>
            <a:r>
              <a:rPr lang="fr-MA" b="1" dirty="0"/>
              <a:t>l’intelligence artificielle</a:t>
            </a:r>
            <a:r>
              <a:rPr lang="fr-MA" dirty="0"/>
              <a:t>, comment elle s’est développée, dans quels domaines elle s’applique, et enfin quels sont les outils les plus récents que vous pouvez utiliser vous-mêmes, sans être informaticiens.</a:t>
            </a:r>
            <a:br>
              <a:rPr lang="fr-MA" dirty="0"/>
            </a:br>
            <a:r>
              <a:rPr lang="fr-MA" dirty="0"/>
              <a:t>L’objectif est de comprendre </a:t>
            </a:r>
            <a:r>
              <a:rPr lang="fr-MA" b="1" dirty="0"/>
              <a:t>l’IA</a:t>
            </a:r>
            <a:r>
              <a:rPr lang="fr-MA" dirty="0"/>
              <a:t>  et son rôle dans nos vies quotidiennes.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714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« Avant de commencer, voyons ensemble les </a:t>
            </a:r>
            <a:r>
              <a:rPr lang="fr-MA" b="1" dirty="0"/>
              <a:t>objectifs du chapitre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Nous allons parcourir trois grands axes pour comprendre ce qu’est l’intelligence artificielle. »</a:t>
            </a:r>
          </a:p>
          <a:p>
            <a:endParaRPr lang="fr-MA" dirty="0"/>
          </a:p>
          <a:p>
            <a:r>
              <a:rPr lang="fr-MA" dirty="0"/>
              <a:t>🧩 </a:t>
            </a:r>
            <a:r>
              <a:rPr lang="fr-MA" b="1" dirty="0"/>
              <a:t>1. Définition, types et historique de l’IA</a:t>
            </a:r>
            <a:endParaRPr lang="fr-MA" dirty="0"/>
          </a:p>
          <a:p>
            <a:endParaRPr lang="fr-MA" dirty="0"/>
          </a:p>
          <a:p>
            <a:r>
              <a:rPr lang="fr-MA" dirty="0"/>
              <a:t>« D’abord, nous allons </a:t>
            </a:r>
            <a:r>
              <a:rPr lang="fr-MA" b="1" dirty="0"/>
              <a:t>définir ce qu’on appelle intelligence artificielle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En résumé, l’IA cherche à </a:t>
            </a:r>
            <a:r>
              <a:rPr lang="fr-MA" b="1" dirty="0"/>
              <a:t>reproduire certaines capacités humaines</a:t>
            </a:r>
            <a:r>
              <a:rPr lang="fr-MA" dirty="0"/>
              <a:t> : apprendre, raisonner, reconnaître, comprendre le langage.</a:t>
            </a:r>
            <a:br>
              <a:rPr lang="fr-MA" dirty="0"/>
            </a:br>
            <a:r>
              <a:rPr lang="fr-MA" dirty="0"/>
              <a:t>Par exemple, </a:t>
            </a:r>
            <a:r>
              <a:rPr lang="fr-MA" b="1" dirty="0"/>
              <a:t>quand votre téléphone reconnaît votre visage</a:t>
            </a:r>
            <a:r>
              <a:rPr lang="fr-MA" dirty="0"/>
              <a:t>, c’est de l’IA.</a:t>
            </a:r>
            <a:br>
              <a:rPr lang="fr-MA" dirty="0"/>
            </a:br>
            <a:r>
              <a:rPr lang="fr-MA" dirty="0"/>
              <a:t>On distinguera deux types :</a:t>
            </a:r>
          </a:p>
          <a:p>
            <a:r>
              <a:rPr lang="fr-MA" dirty="0"/>
              <a:t>L’</a:t>
            </a:r>
            <a:r>
              <a:rPr lang="fr-MA" b="1" dirty="0"/>
              <a:t>IA faible</a:t>
            </a:r>
            <a:r>
              <a:rPr lang="fr-MA" dirty="0"/>
              <a:t>, comme les assistants vocaux (Siri, Alexa, </a:t>
            </a:r>
            <a:r>
              <a:rPr lang="fr-MA" dirty="0" err="1"/>
              <a:t>ChatGPT</a:t>
            </a:r>
            <a:r>
              <a:rPr lang="fr-MA" dirty="0"/>
              <a:t>), capables d’exécuter des tâches précises ;</a:t>
            </a:r>
          </a:p>
          <a:p>
            <a:r>
              <a:rPr lang="fr-MA" dirty="0"/>
              <a:t>L’</a:t>
            </a:r>
            <a:r>
              <a:rPr lang="fr-MA" b="1" dirty="0"/>
              <a:t>IA forte</a:t>
            </a:r>
            <a:r>
              <a:rPr lang="fr-MA" dirty="0"/>
              <a:t>, encore à l’état de recherche, qui viserait à imiter réellement la conscience et le raisonnement humain.</a:t>
            </a:r>
            <a:br>
              <a:rPr lang="fr-MA" dirty="0"/>
            </a:br>
            <a:r>
              <a:rPr lang="fr-MA" dirty="0"/>
              <a:t>Enfin, nous verrons </a:t>
            </a:r>
            <a:r>
              <a:rPr lang="fr-MA" b="1" dirty="0"/>
              <a:t>comment l’IA a évolué</a:t>
            </a:r>
            <a:r>
              <a:rPr lang="fr-MA" dirty="0"/>
              <a:t> : des premières idées d’Alan Turing dans les années 1950 jusqu’à l’apprentissage profond et </a:t>
            </a:r>
            <a:r>
              <a:rPr lang="fr-MA" dirty="0" err="1"/>
              <a:t>ChatGPT</a:t>
            </a:r>
            <a:r>
              <a:rPr lang="fr-MA" dirty="0"/>
              <a:t> aujourd’hui. »</a:t>
            </a:r>
          </a:p>
          <a:p>
            <a:endParaRPr lang="fr-FR" dirty="0"/>
          </a:p>
          <a:p>
            <a:r>
              <a:rPr lang="fr-MA" b="1" dirty="0"/>
              <a:t>🌍 2. Domaines d’application de l’IA</a:t>
            </a:r>
          </a:p>
          <a:p>
            <a:r>
              <a:rPr lang="fr-MA" dirty="0"/>
              <a:t>« Ensuite, nous aborderons les </a:t>
            </a:r>
            <a:r>
              <a:rPr lang="fr-MA" b="1" dirty="0"/>
              <a:t>domaines où l’IA transforme notre quotidien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Dans la </a:t>
            </a:r>
            <a:r>
              <a:rPr lang="fr-MA" b="1" dirty="0"/>
              <a:t>santé</a:t>
            </a:r>
            <a:r>
              <a:rPr lang="fr-MA" dirty="0"/>
              <a:t>, par exemple, l’IA aide à détecter les tumeurs sur les radios mieux que l’œil humain.</a:t>
            </a:r>
            <a:br>
              <a:rPr lang="fr-MA" dirty="0"/>
            </a:br>
            <a:r>
              <a:rPr lang="fr-MA" dirty="0"/>
              <a:t>Dans la </a:t>
            </a:r>
            <a:r>
              <a:rPr lang="fr-MA" b="1" dirty="0"/>
              <a:t>finance</a:t>
            </a:r>
            <a:r>
              <a:rPr lang="fr-MA" dirty="0"/>
              <a:t>, elle sert à repérer les fraudes bancaires ou à prévoir les risques.</a:t>
            </a:r>
            <a:br>
              <a:rPr lang="fr-MA" dirty="0"/>
            </a:br>
            <a:r>
              <a:rPr lang="fr-MA" dirty="0"/>
              <a:t>Dans la </a:t>
            </a:r>
            <a:r>
              <a:rPr lang="fr-MA" b="1" dirty="0"/>
              <a:t>logistique</a:t>
            </a:r>
            <a:r>
              <a:rPr lang="fr-MA" dirty="0"/>
              <a:t>, elle planifie les itinéraires des livraisons pour réduire le carburant.</a:t>
            </a:r>
            <a:br>
              <a:rPr lang="fr-MA" dirty="0"/>
            </a:br>
            <a:r>
              <a:rPr lang="fr-MA" dirty="0"/>
              <a:t>Et même dans </a:t>
            </a:r>
            <a:r>
              <a:rPr lang="fr-MA" b="1" dirty="0"/>
              <a:t>l’éducation</a:t>
            </a:r>
            <a:r>
              <a:rPr lang="fr-MA" dirty="0"/>
              <a:t>, elle personnalise l’apprentissage selon le niveau de chaque élève.</a:t>
            </a:r>
            <a:br>
              <a:rPr lang="fr-MA" dirty="0"/>
            </a:br>
            <a:r>
              <a:rPr lang="fr-MA" dirty="0"/>
              <a:t>Bref, l’IA est partout : industrie, commerce, transports, environnement… »</a:t>
            </a:r>
          </a:p>
          <a:p>
            <a:endParaRPr lang="fr-FR" dirty="0"/>
          </a:p>
          <a:p>
            <a:r>
              <a:rPr lang="fr-MA" b="1" dirty="0"/>
              <a:t>⚙️ 3. Outils de l’IA</a:t>
            </a:r>
          </a:p>
          <a:p>
            <a:r>
              <a:rPr lang="fr-MA" dirty="0"/>
              <a:t>« Enfin, nous verrons les </a:t>
            </a:r>
            <a:r>
              <a:rPr lang="fr-MA" b="1" dirty="0"/>
              <a:t>outils pratiques de l’IA</a:t>
            </a:r>
            <a:r>
              <a:rPr lang="fr-MA" dirty="0"/>
              <a:t> :</a:t>
            </a:r>
          </a:p>
          <a:p>
            <a:r>
              <a:rPr lang="fr-MA" dirty="0"/>
              <a:t>Les générateurs de </a:t>
            </a:r>
            <a:r>
              <a:rPr lang="fr-MA" b="1" dirty="0"/>
              <a:t>texte</a:t>
            </a:r>
            <a:r>
              <a:rPr lang="fr-MA" dirty="0"/>
              <a:t>, comme </a:t>
            </a:r>
            <a:r>
              <a:rPr lang="fr-MA" dirty="0" err="1"/>
              <a:t>ChatGPT</a:t>
            </a:r>
            <a:r>
              <a:rPr lang="fr-MA" dirty="0"/>
              <a:t> ;</a:t>
            </a:r>
          </a:p>
          <a:p>
            <a:r>
              <a:rPr lang="fr-MA" dirty="0"/>
              <a:t>D’</a:t>
            </a:r>
            <a:r>
              <a:rPr lang="fr-MA" b="1" dirty="0"/>
              <a:t>images</a:t>
            </a:r>
            <a:r>
              <a:rPr lang="fr-MA" dirty="0"/>
              <a:t>, comme </a:t>
            </a:r>
            <a:r>
              <a:rPr lang="fr-MA" dirty="0" err="1"/>
              <a:t>Midjourney</a:t>
            </a:r>
            <a:r>
              <a:rPr lang="fr-MA" dirty="0"/>
              <a:t> ;</a:t>
            </a:r>
          </a:p>
          <a:p>
            <a:r>
              <a:rPr lang="fr-MA" dirty="0"/>
              <a:t>De </a:t>
            </a:r>
            <a:r>
              <a:rPr lang="fr-MA" b="1" dirty="0"/>
              <a:t>vidéos</a:t>
            </a:r>
            <a:r>
              <a:rPr lang="fr-MA" dirty="0"/>
              <a:t>, comme Lumen5 ;</a:t>
            </a:r>
          </a:p>
          <a:p>
            <a:r>
              <a:rPr lang="fr-MA" dirty="0"/>
              <a:t>Ou encore de </a:t>
            </a:r>
            <a:r>
              <a:rPr lang="fr-MA" b="1" dirty="0"/>
              <a:t>code</a:t>
            </a:r>
            <a:r>
              <a:rPr lang="fr-MA" dirty="0"/>
              <a:t>, comme GitHub </a:t>
            </a:r>
            <a:r>
              <a:rPr lang="fr-MA" dirty="0" err="1"/>
              <a:t>Copilot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Nous apprendrons à les utiliser de façon responsable et efficace, et nous découvrirons une nouvelle compétence appelée </a:t>
            </a:r>
            <a:r>
              <a:rPr lang="fr-MA" b="1" dirty="0"/>
              <a:t>l’ingénierie des prompts</a:t>
            </a:r>
            <a:r>
              <a:rPr lang="fr-MA" dirty="0"/>
              <a:t>, c’est-à-dire l’art de bien formuler les consignes pour obtenir les meilleurs résultats d’un modèle d’IA. 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831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« Pour commencer, voyons ensemble </a:t>
            </a:r>
            <a:r>
              <a:rPr lang="fr-MA" b="1" dirty="0"/>
              <a:t>ce qu’est l’intelligence artificielle</a:t>
            </a:r>
            <a:r>
              <a:rPr lang="fr-MA" dirty="0"/>
              <a:t> et pourquoi elle est aujourd’hui au cœur de toutes les transformations.</a:t>
            </a:r>
          </a:p>
          <a:p>
            <a:endParaRPr lang="fr-MA" dirty="0"/>
          </a:p>
          <a:p>
            <a:r>
              <a:rPr lang="fr-MA" dirty="0"/>
              <a:t>L’</a:t>
            </a:r>
            <a:r>
              <a:rPr lang="fr-MA" b="1" dirty="0"/>
              <a:t>intelligence artificielle</a:t>
            </a:r>
            <a:r>
              <a:rPr lang="fr-MA" dirty="0"/>
              <a:t>, ou IA, change </a:t>
            </a:r>
            <a:r>
              <a:rPr lang="fr-MA" b="1" dirty="0"/>
              <a:t>profondément notre environnement de travail</a:t>
            </a:r>
            <a:r>
              <a:rPr lang="fr-MA" dirty="0"/>
              <a:t> et notre manière de vivre. Elle n’est plus une technologie réservée aux laboratoires de recherche : elle fait désormais partie de notre quotidien. »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🔹 1. Une technologie omniprésente</a:t>
            </a:r>
          </a:p>
          <a:p>
            <a:r>
              <a:rPr lang="fr-MA" dirty="0"/>
              <a:t>« L’IA est aujourd’hui </a:t>
            </a:r>
            <a:r>
              <a:rPr lang="fr-MA" b="1" dirty="0"/>
              <a:t>présente dans presque tous les domaines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Par exemple :</a:t>
            </a:r>
          </a:p>
          <a:p>
            <a:r>
              <a:rPr lang="fr-MA" dirty="0"/>
              <a:t>Dans la </a:t>
            </a:r>
            <a:r>
              <a:rPr lang="fr-MA" b="1" dirty="0"/>
              <a:t>santé</a:t>
            </a:r>
            <a:r>
              <a:rPr lang="fr-MA" dirty="0"/>
              <a:t>, elle aide les médecins à détecter les maladies grâce à l’analyse d’images médicales.</a:t>
            </a:r>
          </a:p>
          <a:p>
            <a:r>
              <a:rPr lang="fr-MA" dirty="0"/>
              <a:t>Dans </a:t>
            </a:r>
            <a:r>
              <a:rPr lang="fr-MA" b="1" dirty="0"/>
              <a:t>l’industrie</a:t>
            </a:r>
            <a:r>
              <a:rPr lang="fr-MA" dirty="0"/>
              <a:t>, elle pilote des robots capables d’assembler des pièces avec précision.</a:t>
            </a:r>
          </a:p>
          <a:p>
            <a:r>
              <a:rPr lang="fr-MA" dirty="0"/>
              <a:t>Dans la </a:t>
            </a:r>
            <a:r>
              <a:rPr lang="fr-MA" b="1" dirty="0"/>
              <a:t>banque</a:t>
            </a:r>
            <a:r>
              <a:rPr lang="fr-MA" dirty="0"/>
              <a:t>, elle repère les fraudes et automatise la gestion des risques.</a:t>
            </a:r>
          </a:p>
          <a:p>
            <a:r>
              <a:rPr lang="fr-MA" dirty="0"/>
              <a:t>Dans </a:t>
            </a:r>
            <a:r>
              <a:rPr lang="fr-MA" b="1" dirty="0"/>
              <a:t>l’éducation</a:t>
            </a:r>
            <a:r>
              <a:rPr lang="fr-MA" dirty="0"/>
              <a:t>, elle personnalise les parcours d’apprentissage.</a:t>
            </a:r>
          </a:p>
          <a:p>
            <a:r>
              <a:rPr lang="fr-MA" dirty="0"/>
              <a:t>Et dans </a:t>
            </a:r>
            <a:r>
              <a:rPr lang="fr-MA" b="1" dirty="0"/>
              <a:t>le commerce</a:t>
            </a:r>
            <a:r>
              <a:rPr lang="fr-MA" dirty="0"/>
              <a:t>, elle vous recommande les produits que vous aimez sur les plateformes en ligne.</a:t>
            </a:r>
            <a:br>
              <a:rPr lang="fr-MA" dirty="0"/>
            </a:br>
            <a:r>
              <a:rPr lang="fr-MA" dirty="0"/>
              <a:t>L’IA est donc partout, souvent sans que nous en ayons conscience. »</a:t>
            </a:r>
          </a:p>
          <a:p>
            <a:endParaRPr lang="fr-FR" dirty="0"/>
          </a:p>
          <a:p>
            <a:r>
              <a:rPr lang="fr-MA" b="1" dirty="0"/>
              <a:t>🔹 2. Une technologie devenue accessible</a:t>
            </a:r>
          </a:p>
          <a:p>
            <a:r>
              <a:rPr lang="fr-MA" dirty="0"/>
              <a:t>« Ce qui est intéressant, c’est que l’IA est devenue </a:t>
            </a:r>
            <a:r>
              <a:rPr lang="fr-MA" b="1" dirty="0"/>
              <a:t>facile à utiliser et peu coûteuse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Grâce à des outils simples, comme </a:t>
            </a:r>
            <a:r>
              <a:rPr lang="fr-MA" dirty="0" err="1"/>
              <a:t>ChatGPT</a:t>
            </a:r>
            <a:r>
              <a:rPr lang="fr-MA" dirty="0"/>
              <a:t> ou DALL-E, </a:t>
            </a:r>
            <a:r>
              <a:rPr lang="fr-MA" b="1" dirty="0"/>
              <a:t>tout le monde peut aujourd’hui interagir avec une IA</a:t>
            </a:r>
            <a:r>
              <a:rPr lang="fr-MA" dirty="0"/>
              <a:t> sans être expert en mathématiques ou en programmation.</a:t>
            </a:r>
          </a:p>
          <a:p>
            <a:r>
              <a:rPr lang="fr-MA" dirty="0"/>
              <a:t>Autrement dit, on n’a plus besoin d’être ingénieur pour utiliser l’IA : les plateformes en ligne rendent cette technologie </a:t>
            </a:r>
            <a:r>
              <a:rPr lang="fr-MA" b="1" dirty="0"/>
              <a:t>abordable et intuitive</a:t>
            </a:r>
            <a:r>
              <a:rPr lang="fr-MA" dirty="0"/>
              <a:t>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Une technologie connectée à d’autres domaines</a:t>
            </a:r>
          </a:p>
          <a:p>
            <a:r>
              <a:rPr lang="fr-MA" dirty="0"/>
              <a:t>« Enfin, il est important de comprendre que l’IA </a:t>
            </a:r>
            <a:r>
              <a:rPr lang="fr-MA" b="1" dirty="0"/>
              <a:t>ne fonctionne pas seule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Elle travaille main dans la main avec d’autres technologies comme :</a:t>
            </a:r>
          </a:p>
          <a:p>
            <a:r>
              <a:rPr lang="fr-MA" dirty="0"/>
              <a:t>le </a:t>
            </a:r>
            <a:r>
              <a:rPr lang="fr-MA" b="1" dirty="0"/>
              <a:t>Big Data</a:t>
            </a:r>
            <a:r>
              <a:rPr lang="fr-MA" dirty="0"/>
              <a:t>, qui lui fournit les données à analyser,</a:t>
            </a:r>
          </a:p>
          <a:p>
            <a:r>
              <a:rPr lang="fr-MA" dirty="0"/>
              <a:t>l’</a:t>
            </a:r>
            <a:r>
              <a:rPr lang="fr-MA" b="1" dirty="0"/>
              <a:t>Internet des Objets (IoT)</a:t>
            </a:r>
            <a:r>
              <a:rPr lang="fr-MA" dirty="0"/>
              <a:t>, qui collecte ces données à travers des capteurs connectés,</a:t>
            </a:r>
          </a:p>
          <a:p>
            <a:r>
              <a:rPr lang="fr-MA" dirty="0"/>
              <a:t>et le </a:t>
            </a:r>
            <a:r>
              <a:rPr lang="fr-MA" b="1" dirty="0"/>
              <a:t>Cloud </a:t>
            </a:r>
            <a:r>
              <a:rPr lang="fr-MA" b="1" dirty="0" err="1"/>
              <a:t>Computing</a:t>
            </a:r>
            <a:r>
              <a:rPr lang="fr-MA" dirty="0"/>
              <a:t>, qui permet de stocker et de traiter ces informations à grande échelle.</a:t>
            </a:r>
          </a:p>
          <a:p>
            <a:r>
              <a:rPr lang="fr-MA" dirty="0"/>
              <a:t>Ensemble, ces technologies forment un </a:t>
            </a:r>
            <a:r>
              <a:rPr lang="fr-MA" b="1" dirty="0"/>
              <a:t>écosystème intelligent</a:t>
            </a:r>
            <a:r>
              <a:rPr lang="fr-MA" dirty="0"/>
              <a:t>, où chaque composant aide l’autre à mieux fonctionner. 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009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L’apprentissage</a:t>
            </a:r>
            <a:r>
              <a:rPr lang="fr-MA" dirty="0"/>
              <a:t>, c’est-à-dire la capacité d’un système à s’améliorer avec l’expérience ;</a:t>
            </a:r>
          </a:p>
          <a:p>
            <a:r>
              <a:rPr lang="fr-MA" b="1" dirty="0"/>
              <a:t>Exemple :</a:t>
            </a:r>
            <a:endParaRPr lang="fr-MA" dirty="0"/>
          </a:p>
          <a:p>
            <a:r>
              <a:rPr lang="fr-MA" b="1" dirty="0"/>
              <a:t>Netflix</a:t>
            </a:r>
            <a:r>
              <a:rPr lang="fr-MA" dirty="0"/>
              <a:t> apprend vos préférences au fur et à mesure que vous regardez des films, puis vous recommande des séries similaires.</a:t>
            </a:r>
          </a:p>
          <a:p>
            <a:r>
              <a:rPr lang="fr-MA" dirty="0"/>
              <a:t>En </a:t>
            </a:r>
            <a:r>
              <a:rPr lang="fr-MA" b="1" dirty="0"/>
              <a:t>santé</a:t>
            </a:r>
            <a:r>
              <a:rPr lang="fr-MA" dirty="0"/>
              <a:t>, un modèle d’apprentissage profond s’améliore à chaque nouvelle image médicale analysée pour mieux détecter les anomalies.</a:t>
            </a:r>
          </a:p>
          <a:p>
            <a:endParaRPr lang="fr-MA" dirty="0"/>
          </a:p>
          <a:p>
            <a:r>
              <a:rPr lang="fr-MA" dirty="0"/>
              <a:t>🎓 </a:t>
            </a:r>
            <a:r>
              <a:rPr lang="fr-MA" i="1" dirty="0"/>
              <a:t>Idée d’illustration :</a:t>
            </a:r>
            <a:r>
              <a:rPr lang="fr-MA" dirty="0"/>
              <a:t> logo de Netflix, ou schéma « données → apprentissage → amélioration ».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Le raisonnement</a:t>
            </a:r>
            <a:r>
              <a:rPr lang="fr-MA" dirty="0"/>
              <a:t>, qui permet à la machine de prendre des décisions à partir d’informations ;</a:t>
            </a:r>
          </a:p>
          <a:p>
            <a:r>
              <a:rPr lang="fr-MA" b="1" dirty="0"/>
              <a:t>Exemple :</a:t>
            </a:r>
            <a:endParaRPr lang="fr-MA" dirty="0"/>
          </a:p>
          <a:p>
            <a:r>
              <a:rPr lang="fr-MA" b="1" dirty="0"/>
              <a:t>GPS / Google </a:t>
            </a:r>
            <a:r>
              <a:rPr lang="fr-MA" b="1" dirty="0" err="1"/>
              <a:t>Maps</a:t>
            </a:r>
            <a:r>
              <a:rPr lang="fr-MA" dirty="0"/>
              <a:t> raisonne pour déterminer le meilleur itinéraire en fonction du trafic et du temps.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La résolution de problèmes</a:t>
            </a:r>
            <a:r>
              <a:rPr lang="fr-MA" dirty="0"/>
              <a:t>, comme dans les jeux d’échecs ou la planification d’un trajet ;</a:t>
            </a:r>
          </a:p>
          <a:p>
            <a:r>
              <a:rPr lang="fr-MA" dirty="0"/>
              <a:t>En </a:t>
            </a:r>
            <a:r>
              <a:rPr lang="fr-MA" b="1" dirty="0"/>
              <a:t>logistique</a:t>
            </a:r>
            <a:r>
              <a:rPr lang="fr-MA" dirty="0"/>
              <a:t>, l’IA planifie les tournées de livraison pour réduire les coûts et les retards.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La perception</a:t>
            </a:r>
            <a:r>
              <a:rPr lang="fr-MA" dirty="0"/>
              <a:t>, par exemple la reconnaissance d’images ou de sons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Les </a:t>
            </a:r>
            <a:r>
              <a:rPr lang="fr-MA" b="1" dirty="0"/>
              <a:t>voitures autonomes</a:t>
            </a:r>
            <a:r>
              <a:rPr lang="fr-MA" dirty="0"/>
              <a:t> reconnaissent les piétons, les feux de signalisation et les obstacles grâce à des caméras et des capteurs.</a:t>
            </a:r>
          </a:p>
          <a:p>
            <a:endParaRPr lang="fr-MA" dirty="0"/>
          </a:p>
          <a:p>
            <a:r>
              <a:rPr lang="fr-MA" dirty="0"/>
              <a:t>Et </a:t>
            </a:r>
            <a:r>
              <a:rPr lang="fr-MA" b="1" dirty="0"/>
              <a:t>la compréhension du langage</a:t>
            </a:r>
            <a:r>
              <a:rPr lang="fr-MA" dirty="0"/>
              <a:t>, comme ce que fait </a:t>
            </a:r>
            <a:r>
              <a:rPr lang="fr-MA" dirty="0" err="1"/>
              <a:t>ChatGPT</a:t>
            </a:r>
            <a:r>
              <a:rPr lang="fr-MA" dirty="0"/>
              <a:t> aujourd’hui. » </a:t>
            </a:r>
          </a:p>
          <a:p>
            <a:r>
              <a:rPr lang="fr-MA" b="1" dirty="0"/>
              <a:t>Exemple :</a:t>
            </a:r>
            <a:endParaRPr lang="fr-MA" dirty="0"/>
          </a:p>
          <a:p>
            <a:r>
              <a:rPr lang="fr-MA" b="1" dirty="0" err="1"/>
              <a:t>ChatGPT</a:t>
            </a:r>
            <a:r>
              <a:rPr lang="fr-MA" dirty="0"/>
              <a:t> comprend une question posée en langage naturel et produit une réponse cohérente.</a:t>
            </a:r>
          </a:p>
          <a:p>
            <a:endParaRPr lang="fr-MA" dirty="0"/>
          </a:p>
          <a:p>
            <a:endParaRPr lang="fr-FR" dirty="0"/>
          </a:p>
          <a:p>
            <a:r>
              <a:rPr lang="fr-MA" dirty="0"/>
              <a:t>En d’autres termes, l’intelligence artificielle, c’est un </a:t>
            </a:r>
            <a:r>
              <a:rPr lang="fr-MA" b="1" dirty="0"/>
              <a:t>ensemble de théories et de techniques</a:t>
            </a:r>
            <a:r>
              <a:rPr lang="fr-MA" dirty="0"/>
              <a:t> qui permettent de créer des </a:t>
            </a:r>
            <a:r>
              <a:rPr lang="fr-MA" b="1" dirty="0"/>
              <a:t>machines capables de simuler certaines formes d’intelligence humaine.</a:t>
            </a:r>
            <a:endParaRPr lang="fr-MA" dirty="0"/>
          </a:p>
          <a:p>
            <a:r>
              <a:rPr lang="fr-MA" dirty="0"/>
              <a:t>Ce n’est pas une intelligence réelle comme la nôtre, mais une </a:t>
            </a:r>
            <a:r>
              <a:rPr lang="fr-MA" b="1" dirty="0"/>
              <a:t>simulation fonctionnelle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La machine n’a pas conscience d’elle-même : elle applique des algorithmes et des modèles statistiques pour arriver à un résultat intelligent. »</a:t>
            </a:r>
          </a:p>
          <a:p>
            <a:endParaRPr lang="fr-FR" dirty="0"/>
          </a:p>
          <a:p>
            <a:r>
              <a:rPr lang="fr-MA" dirty="0"/>
              <a:t>🧩 </a:t>
            </a:r>
            <a:r>
              <a:rPr lang="fr-MA" i="1" dirty="0"/>
              <a:t>Note pédagogique :</a:t>
            </a:r>
            <a:br>
              <a:rPr lang="fr-MA" dirty="0"/>
            </a:br>
            <a:r>
              <a:rPr lang="fr-MA" dirty="0"/>
              <a:t>Expliquer le mot </a:t>
            </a:r>
            <a:r>
              <a:rPr lang="fr-MA" b="1" dirty="0"/>
              <a:t>“simuler”</a:t>
            </a:r>
            <a:r>
              <a:rPr lang="fr-MA" dirty="0"/>
              <a:t> : imiter un comportement sans forcément comprendre.</a:t>
            </a:r>
            <a:br>
              <a:rPr lang="fr-MA" dirty="0"/>
            </a:br>
            <a:r>
              <a:rPr lang="fr-MA" dirty="0"/>
              <a:t>Donner un exemple clair :</a:t>
            </a:r>
          </a:p>
          <a:p>
            <a:r>
              <a:rPr lang="fr-MA" dirty="0"/>
              <a:t>« Un </a:t>
            </a:r>
            <a:r>
              <a:rPr lang="fr-MA" dirty="0" err="1"/>
              <a:t>chatbot</a:t>
            </a:r>
            <a:r>
              <a:rPr lang="fr-MA" dirty="0"/>
              <a:t> peut discuter avec vous de manière fluide, mais il ne “comprend” pas comme un humain — il prédit la suite logique des mots. »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🔹 3. Synthèse</a:t>
            </a:r>
          </a:p>
          <a:p>
            <a:r>
              <a:rPr lang="fr-MA" dirty="0"/>
              <a:t>« Retenez donc que l’IA n’est pas une machine magique, mais </a:t>
            </a:r>
            <a:r>
              <a:rPr lang="fr-MA" b="1" dirty="0"/>
              <a:t>un ensemble d’outils informatiques capables d’imiter certaines facultés de l’esprit humain.</a:t>
            </a:r>
            <a:br>
              <a:rPr lang="fr-MA" dirty="0"/>
            </a:br>
            <a:r>
              <a:rPr lang="fr-MA" dirty="0"/>
              <a:t>Elle repose sur la donnée, les algorithmes et la puissance de calcul.</a:t>
            </a:r>
            <a:br>
              <a:rPr lang="fr-MA" dirty="0"/>
            </a:br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382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Il existe </a:t>
            </a:r>
            <a:r>
              <a:rPr lang="fr-MA" b="1" dirty="0"/>
              <a:t>deux grandes manières de  concevoir </a:t>
            </a:r>
            <a:r>
              <a:rPr lang="fr-FR" dirty="0"/>
              <a:t>l’intelligence artificielle</a:t>
            </a:r>
            <a:r>
              <a:rPr lang="fr-MA" b="1" dirty="0"/>
              <a:t> ou de la développer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On parle d’</a:t>
            </a:r>
            <a:r>
              <a:rPr lang="fr-MA" b="1" dirty="0"/>
              <a:t>approche cognitive (ou IA forte)</a:t>
            </a:r>
            <a:r>
              <a:rPr lang="fr-MA" dirty="0"/>
              <a:t> et d’</a:t>
            </a:r>
            <a:r>
              <a:rPr lang="fr-MA" b="1" dirty="0"/>
              <a:t>approche pragmatique (ou IA faible)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Ces deux visions traduisent la différence entre “penser comme un humain” et “agir comme un humain”.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🔹 1. L’IA cognitive — aussi appelée IA forte</a:t>
            </a:r>
          </a:p>
          <a:p>
            <a:r>
              <a:rPr lang="fr-MA" dirty="0"/>
              <a:t>« L’IA cognitive, ou </a:t>
            </a:r>
            <a:r>
              <a:rPr lang="fr-MA" b="1" dirty="0"/>
              <a:t>IA forte</a:t>
            </a:r>
            <a:r>
              <a:rPr lang="fr-MA" dirty="0"/>
              <a:t>, cherche à </a:t>
            </a:r>
            <a:r>
              <a:rPr lang="fr-MA" b="1" dirty="0"/>
              <a:t>raisonner à la manière de l’être humain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Autrement dit, elle ne se contente pas d’imiter nos résultats : elle tente de reproduire </a:t>
            </a:r>
            <a:r>
              <a:rPr lang="fr-MA" b="1" dirty="0"/>
              <a:t>nos mécanismes de réflexion</a:t>
            </a:r>
            <a:r>
              <a:rPr lang="fr-MA" dirty="0"/>
              <a:t>.</a:t>
            </a:r>
          </a:p>
          <a:p>
            <a:r>
              <a:rPr lang="fr-MA" dirty="0"/>
              <a:t>C’est une approche plus philosophique et complexe : on essaie de créer une machine </a:t>
            </a:r>
            <a:r>
              <a:rPr lang="fr-MA" b="1" dirty="0"/>
              <a:t>dotée de conscience, de compréhension du contexte et de raisonnement autonome</a:t>
            </a:r>
            <a:r>
              <a:rPr lang="fr-MA" dirty="0"/>
              <a:t>.</a:t>
            </a:r>
          </a:p>
          <a:p>
            <a:endParaRPr lang="fr-FR" dirty="0"/>
          </a:p>
          <a:p>
            <a:r>
              <a:rPr lang="fr-MA" dirty="0"/>
              <a:t>Exemple : </a:t>
            </a:r>
            <a:r>
              <a:rPr lang="fr-MA" b="1" dirty="0"/>
              <a:t>Sophia</a:t>
            </a:r>
            <a:r>
              <a:rPr lang="fr-MA" dirty="0"/>
              <a:t>, le robot humanoïde développé par Hanson </a:t>
            </a:r>
            <a:r>
              <a:rPr lang="fr-MA" dirty="0" err="1"/>
              <a:t>Robotics</a:t>
            </a:r>
            <a:endParaRPr lang="fr-MA" dirty="0"/>
          </a:p>
          <a:p>
            <a:r>
              <a:rPr lang="fr-MA" dirty="0"/>
              <a:t>Sophia reconnaît les visages, comprend les émotions humaines et adapte ses réponses en conséquence.</a:t>
            </a:r>
          </a:p>
          <a:p>
            <a:r>
              <a:rPr lang="fr-MA" dirty="0"/>
              <a:t>Elle essaie donc de </a:t>
            </a:r>
            <a:r>
              <a:rPr lang="fr-MA" b="1" dirty="0"/>
              <a:t>raisonner de manière contextuelle</a:t>
            </a:r>
            <a:r>
              <a:rPr lang="fr-MA" dirty="0"/>
              <a:t>, un pas vers la cognition artificielle.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🔹 2. L’IA pragmatique — aussi appelée IA faible</a:t>
            </a:r>
          </a:p>
          <a:p>
            <a:r>
              <a:rPr lang="fr-MA" dirty="0"/>
              <a:t>« À l’inverse, l’</a:t>
            </a:r>
            <a:r>
              <a:rPr lang="fr-MA" b="1" dirty="0"/>
              <a:t>IA pragmatique</a:t>
            </a:r>
            <a:r>
              <a:rPr lang="fr-MA" dirty="0"/>
              <a:t>, ou </a:t>
            </a:r>
            <a:r>
              <a:rPr lang="fr-MA" b="1" dirty="0"/>
              <a:t>IA faible</a:t>
            </a:r>
            <a:r>
              <a:rPr lang="fr-MA" dirty="0"/>
              <a:t>, ne cherche pas à penser comme nous, mais simplement à </a:t>
            </a:r>
            <a:r>
              <a:rPr lang="fr-MA" b="1" dirty="0"/>
              <a:t>produire les mêmes résultats</a:t>
            </a:r>
            <a:r>
              <a:rPr lang="fr-MA" dirty="0"/>
              <a:t> que nous, peu importe la méthode utilisée.</a:t>
            </a:r>
          </a:p>
          <a:p>
            <a:r>
              <a:rPr lang="fr-MA" dirty="0"/>
              <a:t>Elle n’a pas de conscience ni de compréhension, mais elle est extrêmement efficace.</a:t>
            </a:r>
          </a:p>
          <a:p>
            <a:r>
              <a:rPr lang="fr-MA" dirty="0"/>
              <a:t>👉 </a:t>
            </a:r>
            <a:r>
              <a:rPr lang="fr-MA" b="1" dirty="0"/>
              <a:t>Exemples :</a:t>
            </a:r>
            <a:endParaRPr lang="fr-MA" dirty="0"/>
          </a:p>
          <a:p>
            <a:r>
              <a:rPr lang="fr-MA" b="1" dirty="0" err="1"/>
              <a:t>ChatGPT</a:t>
            </a:r>
            <a:r>
              <a:rPr lang="fr-MA" dirty="0"/>
              <a:t> est une IA faible : il génère du texte de haute qualité, mais sans véritable compréhension humaine.</a:t>
            </a:r>
          </a:p>
          <a:p>
            <a:r>
              <a:rPr lang="fr-MA" b="1" dirty="0"/>
              <a:t>Les robots aspirateurs intelligents</a:t>
            </a:r>
            <a:r>
              <a:rPr lang="fr-MA" dirty="0"/>
              <a:t> analysent leur environnement et nettoient efficacement sans “raisonner” comme un humain.</a:t>
            </a:r>
          </a:p>
          <a:p>
            <a:r>
              <a:rPr lang="fr-MA" b="1" dirty="0"/>
              <a:t>Les systèmes de recommandation</a:t>
            </a:r>
            <a:r>
              <a:rPr lang="fr-MA" dirty="0"/>
              <a:t> (YouTube, Spotify, Netflix) prédisent nos préférences grâce aux données, pas à la réflexion. »</a:t>
            </a:r>
          </a:p>
          <a:p>
            <a:endParaRPr lang="fr-FR" dirty="0"/>
          </a:p>
          <a:p>
            <a:r>
              <a:rPr lang="fr-MA" dirty="0"/>
              <a:t>« En résumé :</a:t>
            </a:r>
          </a:p>
          <a:p>
            <a:r>
              <a:rPr lang="fr-MA" b="1" dirty="0"/>
              <a:t>L’IA forte</a:t>
            </a:r>
            <a:r>
              <a:rPr lang="fr-MA" dirty="0"/>
              <a:t> cherche à </a:t>
            </a:r>
            <a:r>
              <a:rPr lang="fr-MA" i="1" dirty="0"/>
              <a:t>penser comme l’humain</a:t>
            </a:r>
            <a:r>
              <a:rPr lang="fr-MA" dirty="0"/>
              <a:t>.</a:t>
            </a:r>
          </a:p>
          <a:p>
            <a:r>
              <a:rPr lang="fr-MA" b="1" dirty="0"/>
              <a:t>L’IA faible</a:t>
            </a:r>
            <a:r>
              <a:rPr lang="fr-MA" dirty="0"/>
              <a:t> cherche à </a:t>
            </a:r>
            <a:r>
              <a:rPr lang="fr-MA" i="1" dirty="0"/>
              <a:t>agir comme l’humain</a:t>
            </a:r>
            <a:r>
              <a:rPr lang="fr-MA" dirty="0"/>
              <a:t>.</a:t>
            </a:r>
          </a:p>
          <a:p>
            <a:r>
              <a:rPr lang="fr-MA" dirty="0"/>
              <a:t>Aujourd’hui, la quasi-totalité des systèmes que nous utilisons relèvent de l’IA faible : utiles, performants, mais sans raisonnement humain.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898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Pour comprendre l’intelligence artificielle d’aujourd’hui, il faut revenir un peu en arrière.</a:t>
            </a:r>
            <a:br>
              <a:rPr lang="fr-MA" dirty="0"/>
            </a:br>
            <a:r>
              <a:rPr lang="fr-MA" dirty="0"/>
              <a:t>L’IA ne date pas de </a:t>
            </a:r>
            <a:r>
              <a:rPr lang="fr-MA" dirty="0" err="1"/>
              <a:t>ChatGPT</a:t>
            </a:r>
            <a:r>
              <a:rPr lang="fr-MA" dirty="0"/>
              <a:t> ou de Google — elle est née il y a plus de 70 ans !</a:t>
            </a:r>
            <a:br>
              <a:rPr lang="fr-MA" dirty="0"/>
            </a:br>
            <a:r>
              <a:rPr lang="fr-MA" dirty="0"/>
              <a:t>Voyons ensemble </a:t>
            </a:r>
            <a:r>
              <a:rPr lang="fr-MA" b="1" dirty="0"/>
              <a:t>les trois premières grandes étapes historiques</a:t>
            </a:r>
            <a:r>
              <a:rPr lang="fr-MA" dirty="0"/>
              <a:t> de son évolution. »</a:t>
            </a:r>
          </a:p>
          <a:p>
            <a:endParaRPr lang="fr-MA" dirty="0"/>
          </a:p>
          <a:p>
            <a:r>
              <a:rPr lang="fr-MA" dirty="0"/>
              <a:t>En 1950, </a:t>
            </a:r>
            <a:r>
              <a:rPr lang="fr-MA" dirty="0" err="1"/>
              <a:t>ilin</a:t>
            </a:r>
            <a:r>
              <a:rPr lang="fr-MA" dirty="0"/>
              <a:t> </a:t>
            </a:r>
            <a:r>
              <a:rPr lang="fr-MA" dirty="0" err="1"/>
              <a:t>touring</a:t>
            </a:r>
            <a:r>
              <a:rPr lang="fr-MA" dirty="0"/>
              <a:t> publie un article fondateur intitulé </a:t>
            </a:r>
            <a:r>
              <a:rPr lang="fr-MA" i="1" dirty="0"/>
              <a:t>“</a:t>
            </a:r>
            <a:r>
              <a:rPr lang="fr-MA" i="1" dirty="0" err="1"/>
              <a:t>Computing</a:t>
            </a:r>
            <a:r>
              <a:rPr lang="fr-MA" i="1" dirty="0"/>
              <a:t> </a:t>
            </a:r>
            <a:r>
              <a:rPr lang="fr-MA" i="1" dirty="0" err="1"/>
              <a:t>Machinery</a:t>
            </a:r>
            <a:r>
              <a:rPr lang="fr-MA" i="1" dirty="0"/>
              <a:t> and Intelligence”</a:t>
            </a:r>
            <a:r>
              <a:rPr lang="fr-MA" dirty="0"/>
              <a:t> dans lequel il pose une question célèbre :</a:t>
            </a:r>
            <a:br>
              <a:rPr lang="fr-MA" dirty="0"/>
            </a:br>
            <a:r>
              <a:rPr lang="fr-MA" dirty="0"/>
              <a:t>➤ </a:t>
            </a:r>
            <a:r>
              <a:rPr lang="fr-MA" i="1" dirty="0"/>
              <a:t>« Les machines peuvent-elles penser ? »</a:t>
            </a:r>
            <a:endParaRPr lang="fr-MA" dirty="0"/>
          </a:p>
          <a:p>
            <a:r>
              <a:rPr lang="fr-MA" dirty="0"/>
              <a:t>Pour y répondre, il imagine une expérience appelée </a:t>
            </a:r>
            <a:r>
              <a:rPr lang="fr-MA" b="1" dirty="0"/>
              <a:t>le Test de Turing</a:t>
            </a:r>
            <a:r>
              <a:rPr lang="fr-MA" dirty="0"/>
              <a:t> :</a:t>
            </a:r>
            <a:br>
              <a:rPr lang="fr-MA" dirty="0"/>
            </a:br>
            <a:r>
              <a:rPr lang="fr-MA" dirty="0"/>
              <a:t>une machine réussit le test si un humain ne peut pas distinguer, dans une conversation, s’il parle à une machine ou à une personne.</a:t>
            </a:r>
          </a:p>
          <a:p>
            <a:r>
              <a:rPr lang="fr-MA" dirty="0"/>
              <a:t>➤ C’est la première tentative de </a:t>
            </a:r>
            <a:r>
              <a:rPr lang="fr-MA" b="1" dirty="0"/>
              <a:t>mesurer l’intelligence d’une machine</a:t>
            </a:r>
            <a:r>
              <a:rPr lang="fr-MA" dirty="0"/>
              <a:t>. »</a:t>
            </a:r>
          </a:p>
          <a:p>
            <a:r>
              <a:rPr lang="fr-MA" dirty="0"/>
              <a:t>💡 </a:t>
            </a:r>
            <a:r>
              <a:rPr lang="fr-MA" i="1" dirty="0"/>
              <a:t>Exemple à donner :</a:t>
            </a:r>
            <a:endParaRPr lang="fr-MA" dirty="0"/>
          </a:p>
          <a:p>
            <a:r>
              <a:rPr lang="fr-MA" dirty="0"/>
              <a:t>« Aujourd’hui, certains </a:t>
            </a:r>
            <a:r>
              <a:rPr lang="fr-MA" dirty="0" err="1"/>
              <a:t>chatbots</a:t>
            </a:r>
            <a:r>
              <a:rPr lang="fr-MA" dirty="0"/>
              <a:t> comme </a:t>
            </a:r>
            <a:r>
              <a:rPr lang="fr-MA" dirty="0" err="1"/>
              <a:t>ChatGPT</a:t>
            </a:r>
            <a:r>
              <a:rPr lang="fr-MA" dirty="0"/>
              <a:t> ou Claude sont capables de tromper temporairement un humain.</a:t>
            </a:r>
            <a:br>
              <a:rPr lang="fr-MA" dirty="0"/>
            </a:br>
            <a:r>
              <a:rPr lang="fr-MA" dirty="0"/>
              <a:t>Cela montre que la vision de Turing était visionnaire. »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🔹 1956 – La naissance de l’intelligence artificielle</a:t>
            </a:r>
          </a:p>
          <a:p>
            <a:r>
              <a:rPr lang="fr-MA" dirty="0"/>
              <a:t>« Quelques années plus tard, en </a:t>
            </a:r>
            <a:r>
              <a:rPr lang="fr-MA" b="1" dirty="0"/>
              <a:t>1956</a:t>
            </a:r>
            <a:r>
              <a:rPr lang="fr-MA" dirty="0"/>
              <a:t>, un événement marque officiellement la </a:t>
            </a:r>
            <a:r>
              <a:rPr lang="fr-MA" b="1" dirty="0"/>
              <a:t>naissance de l’IA</a:t>
            </a:r>
            <a:r>
              <a:rPr lang="fr-MA" dirty="0"/>
              <a:t> :</a:t>
            </a:r>
            <a:br>
              <a:rPr lang="fr-MA" dirty="0"/>
            </a:br>
            <a:r>
              <a:rPr lang="fr-MA" dirty="0"/>
              <a:t>la </a:t>
            </a:r>
            <a:r>
              <a:rPr lang="fr-MA" b="1" dirty="0"/>
              <a:t>conférence de Dartmouth</a:t>
            </a:r>
            <a:r>
              <a:rPr lang="fr-MA" dirty="0"/>
              <a:t>, organisée par </a:t>
            </a:r>
            <a:r>
              <a:rPr lang="fr-MA" b="1" dirty="0"/>
              <a:t>John McCarthy</a:t>
            </a:r>
            <a:r>
              <a:rPr lang="fr-MA" dirty="0"/>
              <a:t>, </a:t>
            </a:r>
            <a:r>
              <a:rPr lang="fr-MA" b="1" dirty="0"/>
              <a:t>Marvin Minsky</a:t>
            </a:r>
            <a:r>
              <a:rPr lang="fr-MA" dirty="0"/>
              <a:t>, </a:t>
            </a:r>
            <a:r>
              <a:rPr lang="fr-MA" b="1" dirty="0"/>
              <a:t>Nathaniel Rochester</a:t>
            </a:r>
            <a:r>
              <a:rPr lang="fr-MA" dirty="0"/>
              <a:t> et </a:t>
            </a:r>
            <a:r>
              <a:rPr lang="fr-MA" b="1" dirty="0"/>
              <a:t>Claude Shannon</a:t>
            </a:r>
            <a:r>
              <a:rPr lang="fr-MA" dirty="0"/>
              <a:t>.</a:t>
            </a:r>
          </a:p>
          <a:p>
            <a:r>
              <a:rPr lang="fr-MA" dirty="0"/>
              <a:t>C’est lors de cette rencontre que le terme </a:t>
            </a:r>
            <a:r>
              <a:rPr lang="fr-MA" i="1" dirty="0"/>
              <a:t>“</a:t>
            </a:r>
            <a:r>
              <a:rPr lang="fr-MA" i="1" dirty="0" err="1"/>
              <a:t>Artificial</a:t>
            </a:r>
            <a:r>
              <a:rPr lang="fr-MA" i="1" dirty="0"/>
              <a:t> Intelligence”</a:t>
            </a:r>
            <a:r>
              <a:rPr lang="fr-MA" dirty="0"/>
              <a:t> est utilisé pour la première fois.</a:t>
            </a:r>
            <a:br>
              <a:rPr lang="fr-MA" dirty="0"/>
            </a:br>
            <a:r>
              <a:rPr lang="fr-MA" dirty="0"/>
              <a:t>L’idée était de réunir des scientifiques pour créer des machines capables d’apprendre et de raisonner.</a:t>
            </a:r>
          </a:p>
          <a:p>
            <a:r>
              <a:rPr lang="fr-MA" dirty="0"/>
              <a:t>➤ On peut dire que 1956 est l’</a:t>
            </a:r>
            <a:r>
              <a:rPr lang="fr-MA" b="1" dirty="0"/>
              <a:t>acte de naissance officiel</a:t>
            </a:r>
            <a:r>
              <a:rPr lang="fr-MA" dirty="0"/>
              <a:t> de l’intelligence artificielle en tant que discipline scientifique.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🔹 1960s – Les premiers systèmes experts</a:t>
            </a:r>
          </a:p>
          <a:p>
            <a:r>
              <a:rPr lang="fr-MA" dirty="0"/>
              <a:t>« Dans les années </a:t>
            </a:r>
            <a:r>
              <a:rPr lang="fr-MA" b="1" dirty="0"/>
              <a:t>1960</a:t>
            </a:r>
            <a:r>
              <a:rPr lang="fr-MA" dirty="0"/>
              <a:t>, les chercheurs passent de la théorie à la pratique.</a:t>
            </a:r>
            <a:br>
              <a:rPr lang="fr-MA" dirty="0"/>
            </a:br>
            <a:r>
              <a:rPr lang="fr-MA" dirty="0"/>
              <a:t>Ils développent les premiers </a:t>
            </a:r>
            <a:r>
              <a:rPr lang="fr-MA" b="1" dirty="0"/>
              <a:t>systèmes experts</a:t>
            </a:r>
            <a:r>
              <a:rPr lang="fr-MA" dirty="0"/>
              <a:t> : des programmes capables de </a:t>
            </a:r>
            <a:r>
              <a:rPr lang="fr-MA" b="1" dirty="0"/>
              <a:t>résoudre des problèmes complexes dans un domaine précis</a:t>
            </a:r>
            <a:r>
              <a:rPr lang="fr-MA" dirty="0"/>
              <a:t>, en imitant les décisions d’un humain.</a:t>
            </a:r>
          </a:p>
          <a:p>
            <a:r>
              <a:rPr lang="fr-MA" dirty="0"/>
              <a:t>➤ Exemple : le programme </a:t>
            </a:r>
            <a:r>
              <a:rPr lang="fr-MA" b="1" dirty="0"/>
              <a:t>DENDRAL</a:t>
            </a:r>
            <a:r>
              <a:rPr lang="fr-MA" dirty="0"/>
              <a:t> (1965), utilisé pour aider les chimistes à identifier des structures moléculaires.</a:t>
            </a:r>
            <a:br>
              <a:rPr lang="fr-MA" dirty="0"/>
            </a:br>
            <a:r>
              <a:rPr lang="fr-MA" dirty="0"/>
              <a:t>➤ Ou encore </a:t>
            </a:r>
            <a:r>
              <a:rPr lang="fr-MA" b="1" dirty="0"/>
              <a:t>ELIZA</a:t>
            </a:r>
            <a:r>
              <a:rPr lang="fr-MA" dirty="0"/>
              <a:t> (1966), un </a:t>
            </a:r>
            <a:r>
              <a:rPr lang="fr-MA" dirty="0" err="1"/>
              <a:t>chatbot</a:t>
            </a:r>
            <a:r>
              <a:rPr lang="fr-MA" dirty="0"/>
              <a:t> qui simulait un psychologue en posant des questions toutes simples.</a:t>
            </a:r>
          </a:p>
          <a:p>
            <a:r>
              <a:rPr lang="fr-MA" dirty="0"/>
              <a:t>Même si ces systèmes étaient basiques, ils ont ouvert la voie à l’IA moderne : celle qui </a:t>
            </a:r>
            <a:r>
              <a:rPr lang="fr-MA" b="1" dirty="0"/>
              <a:t>analyse, apprend et conseille.</a:t>
            </a:r>
            <a:r>
              <a:rPr lang="fr-MA" dirty="0"/>
              <a:t> »</a:t>
            </a:r>
          </a:p>
          <a:p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804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Après la naissance de l’intelligence artificielle dans les années 1950 et ses premières expérimentations dans les années 60, l’IA va connaître plusieurs révolutions.</a:t>
            </a:r>
            <a:br>
              <a:rPr lang="fr-MA" dirty="0"/>
            </a:br>
            <a:r>
              <a:rPr lang="fr-MA" dirty="0"/>
              <a:t>Trois grandes périodes vont profondément transformer cette science : les années 1980, les années 2000 et notre époque actuelle.</a:t>
            </a:r>
          </a:p>
          <a:p>
            <a:endParaRPr lang="fr-MA" dirty="0"/>
          </a:p>
          <a:p>
            <a:r>
              <a:rPr lang="fr-MA" b="1" dirty="0"/>
              <a:t>🔹 1980s – L’avènement du Machine Learning (apprentissage automatique)</a:t>
            </a:r>
          </a:p>
          <a:p>
            <a:r>
              <a:rPr lang="fr-MA" dirty="0"/>
              <a:t>« Dans les années 1980, un tournant majeur se produit avec </a:t>
            </a:r>
            <a:r>
              <a:rPr lang="fr-MA" b="1" dirty="0"/>
              <a:t>l’apparition du Machine Learning</a:t>
            </a:r>
            <a:r>
              <a:rPr lang="fr-MA" dirty="0"/>
              <a:t>, ou </a:t>
            </a:r>
            <a:r>
              <a:rPr lang="fr-MA" i="1" dirty="0"/>
              <a:t>apprentissage automatique</a:t>
            </a:r>
            <a:r>
              <a:rPr lang="fr-MA" dirty="0"/>
              <a:t>.</a:t>
            </a:r>
          </a:p>
          <a:p>
            <a:r>
              <a:rPr lang="fr-MA" dirty="0"/>
              <a:t>Au lieu de programmer explicitement chaque règle, les chercheurs conçoivent des systèmes capables </a:t>
            </a:r>
            <a:r>
              <a:rPr lang="fr-MA" b="1" dirty="0"/>
              <a:t>d’apprendre à partir des données</a:t>
            </a:r>
            <a:r>
              <a:rPr lang="fr-MA" dirty="0"/>
              <a:t>.</a:t>
            </a:r>
          </a:p>
          <a:p>
            <a:endParaRPr lang="fr-MA" dirty="0"/>
          </a:p>
          <a:p>
            <a:r>
              <a:rPr lang="fr-MA" dirty="0"/>
              <a:t>➤ C’est à ce moment qu’apparaissent :</a:t>
            </a:r>
          </a:p>
          <a:p>
            <a:r>
              <a:rPr lang="fr-MA" dirty="0"/>
              <a:t>Les </a:t>
            </a:r>
            <a:r>
              <a:rPr lang="fr-MA" b="1" dirty="0"/>
              <a:t>réseaux de neurones artificiels</a:t>
            </a:r>
            <a:r>
              <a:rPr lang="fr-MA" dirty="0"/>
              <a:t>, inspirés du cerveau humain.</a:t>
            </a:r>
          </a:p>
          <a:p>
            <a:r>
              <a:rPr lang="fr-MA" dirty="0"/>
              <a:t>Les </a:t>
            </a:r>
            <a:r>
              <a:rPr lang="fr-MA" b="1" dirty="0"/>
              <a:t>algorithmes génétiques</a:t>
            </a:r>
            <a:r>
              <a:rPr lang="fr-MA" dirty="0"/>
              <a:t>, qui reproduisent le principe de l’évolution naturelle pour améliorer les performances des modèles.</a:t>
            </a:r>
          </a:p>
          <a:p>
            <a:r>
              <a:rPr lang="fr-MA" dirty="0"/>
              <a:t>Ces technologies permettent à la machine de découvrir des régularités par elle-même, sans intervention humaine directe. »</a:t>
            </a:r>
          </a:p>
          <a:p>
            <a:r>
              <a:rPr lang="fr-MA" dirty="0"/>
              <a:t>💡 </a:t>
            </a:r>
            <a:r>
              <a:rPr lang="fr-MA" i="1" dirty="0"/>
              <a:t>Exemples concrets à donner :</a:t>
            </a:r>
            <a:endParaRPr lang="fr-MA" dirty="0"/>
          </a:p>
          <a:p>
            <a:r>
              <a:rPr lang="fr-MA" b="1" dirty="0"/>
              <a:t>Reconnaissance d’écriture manuscrite</a:t>
            </a:r>
            <a:r>
              <a:rPr lang="fr-MA" dirty="0"/>
              <a:t> (banques, La Poste).</a:t>
            </a:r>
          </a:p>
          <a:p>
            <a:r>
              <a:rPr lang="fr-MA" b="1" dirty="0"/>
              <a:t>Premiers systèmes de détection de fraude</a:t>
            </a:r>
            <a:r>
              <a:rPr lang="fr-MA" dirty="0"/>
              <a:t> dans les cartes bancaires.</a:t>
            </a:r>
          </a:p>
          <a:p>
            <a:r>
              <a:rPr lang="fr-MA" b="1" dirty="0"/>
              <a:t>Jeux vidéo d’époque</a:t>
            </a:r>
            <a:r>
              <a:rPr lang="fr-MA" dirty="0"/>
              <a:t> (Pac-Man, Chess AI) utilisant déjà des stratégies adaptatives.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🔹 2000 – L’ère du Big Data et du Deep Learning</a:t>
            </a:r>
          </a:p>
          <a:p>
            <a:r>
              <a:rPr lang="fr-MA" dirty="0"/>
              <a:t>« Dans les années 2000, une nouvelle révolution émerge : </a:t>
            </a:r>
            <a:r>
              <a:rPr lang="fr-MA" b="1" dirty="0"/>
              <a:t>l’explosion des données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On parle alors de </a:t>
            </a:r>
            <a:r>
              <a:rPr lang="fr-MA" b="1" dirty="0"/>
              <a:t>Big Data</a:t>
            </a:r>
            <a:r>
              <a:rPr lang="fr-MA" dirty="0"/>
              <a:t>, c’est-à-dire d’un volume d’informations gigantesque collecté grâce à Internet, aux smartphones et aux objets connectés.</a:t>
            </a:r>
          </a:p>
          <a:p>
            <a:r>
              <a:rPr lang="fr-MA" dirty="0"/>
              <a:t>Ces données deviennent le carburant de l’IA moderne.</a:t>
            </a:r>
            <a:br>
              <a:rPr lang="fr-MA" dirty="0"/>
            </a:br>
            <a:r>
              <a:rPr lang="fr-MA" dirty="0"/>
              <a:t>Grâce à des processeurs plus puissants et à de nouveaux modèles appelés </a:t>
            </a:r>
            <a:r>
              <a:rPr lang="fr-MA" b="1" dirty="0"/>
              <a:t>Deep Learning (apprentissage profond)</a:t>
            </a:r>
            <a:r>
              <a:rPr lang="fr-MA" dirty="0"/>
              <a:t>, les machines peuvent traiter des millions d’exemples pour reconnaître des images, des voix, ou des textes avec une précision exceptionnelle. »</a:t>
            </a:r>
          </a:p>
          <a:p>
            <a:r>
              <a:rPr lang="fr-MA" dirty="0"/>
              <a:t>💡 </a:t>
            </a:r>
            <a:r>
              <a:rPr lang="fr-MA" i="1" dirty="0"/>
              <a:t>Exemples concrets à donner :</a:t>
            </a:r>
            <a:endParaRPr lang="fr-MA" dirty="0"/>
          </a:p>
          <a:p>
            <a:r>
              <a:rPr lang="fr-MA" b="1" dirty="0"/>
              <a:t>Reconnaissance faciale</a:t>
            </a:r>
            <a:r>
              <a:rPr lang="fr-MA" dirty="0"/>
              <a:t> sur les smartphones.</a:t>
            </a:r>
          </a:p>
          <a:p>
            <a:r>
              <a:rPr lang="fr-MA" b="1" dirty="0"/>
              <a:t>Assistants vocaux</a:t>
            </a:r>
            <a:r>
              <a:rPr lang="fr-MA" dirty="0"/>
              <a:t> (Siri, Google Assistant, Alexa).</a:t>
            </a:r>
          </a:p>
          <a:p>
            <a:r>
              <a:rPr lang="fr-MA" b="1" dirty="0"/>
              <a:t>Voitures autonomes</a:t>
            </a:r>
            <a:r>
              <a:rPr lang="fr-MA" dirty="0"/>
              <a:t> utilisant des réseaux neuronaux pour analyser la route.</a:t>
            </a:r>
          </a:p>
          <a:p>
            <a:r>
              <a:rPr lang="fr-MA" dirty="0"/>
              <a:t>🧩 </a:t>
            </a:r>
            <a:r>
              <a:rPr lang="fr-MA" i="1" dirty="0"/>
              <a:t>Note pédagogique :</a:t>
            </a:r>
            <a:endParaRPr lang="fr-MA" dirty="0"/>
          </a:p>
          <a:p>
            <a:r>
              <a:rPr lang="fr-MA" dirty="0"/>
              <a:t>Expliquer que le Deep Learning imite le cerveau humain grâce à plusieurs “couches” de neurones artificiels.</a:t>
            </a:r>
            <a:br>
              <a:rPr lang="fr-MA" dirty="0"/>
            </a:br>
            <a:r>
              <a:rPr lang="fr-MA" dirty="0"/>
              <a:t>Montrer une image symbolisant un réseau de neurones.</a:t>
            </a:r>
          </a:p>
          <a:p>
            <a:endParaRPr lang="fr-FR" dirty="0"/>
          </a:p>
          <a:p>
            <a:r>
              <a:rPr lang="fr-MA" b="1" dirty="0"/>
              <a:t>🔹 NOW – La démocratisation de l’IA</a:t>
            </a:r>
          </a:p>
          <a:p>
            <a:r>
              <a:rPr lang="fr-MA" dirty="0"/>
              <a:t>« Aujourd’hui, l’IA est partout et accessible à tous.</a:t>
            </a:r>
            <a:br>
              <a:rPr lang="fr-MA" dirty="0"/>
            </a:br>
            <a:r>
              <a:rPr lang="fr-MA" dirty="0"/>
              <a:t>On parle de </a:t>
            </a:r>
            <a:r>
              <a:rPr lang="fr-MA" b="1" dirty="0"/>
              <a:t>démocratisation de l’IA</a:t>
            </a:r>
            <a:r>
              <a:rPr lang="fr-MA" dirty="0"/>
              <a:t>, car elle ne concerne plus seulement les ingénieurs : elle est intégrée dans les outils que nous utilisons au quotidien.</a:t>
            </a:r>
          </a:p>
          <a:p>
            <a:r>
              <a:rPr lang="fr-MA" dirty="0"/>
              <a:t>➤ Quelques exemples :</a:t>
            </a:r>
          </a:p>
          <a:p>
            <a:r>
              <a:rPr lang="fr-MA" b="1" dirty="0" err="1"/>
              <a:t>ChatGPT</a:t>
            </a:r>
            <a:r>
              <a:rPr lang="fr-MA" dirty="0"/>
              <a:t>, pour rédiger et dialoguer.</a:t>
            </a:r>
          </a:p>
          <a:p>
            <a:r>
              <a:rPr lang="fr-MA" b="1" dirty="0" err="1"/>
              <a:t>Midjourney</a:t>
            </a:r>
            <a:r>
              <a:rPr lang="fr-MA" b="1" dirty="0"/>
              <a:t> ou DALL·E</a:t>
            </a:r>
            <a:r>
              <a:rPr lang="fr-MA" dirty="0"/>
              <a:t>, pour créer des images à partir de texte.</a:t>
            </a:r>
          </a:p>
          <a:p>
            <a:r>
              <a:rPr lang="fr-MA" b="1" dirty="0"/>
              <a:t>Power BI et Excel</a:t>
            </a:r>
            <a:r>
              <a:rPr lang="fr-MA" dirty="0"/>
              <a:t>, qui intègrent désormais des fonctions de prédiction.</a:t>
            </a:r>
          </a:p>
          <a:p>
            <a:r>
              <a:rPr lang="fr-MA" dirty="0"/>
              <a:t>Et même </a:t>
            </a:r>
            <a:r>
              <a:rPr lang="fr-MA" b="1" dirty="0"/>
              <a:t>les voitures connectées</a:t>
            </a:r>
            <a:r>
              <a:rPr lang="fr-MA" dirty="0"/>
              <a:t> ou </a:t>
            </a:r>
            <a:r>
              <a:rPr lang="fr-MA" b="1" dirty="0"/>
              <a:t>les montres intelligentes</a:t>
            </a:r>
            <a:r>
              <a:rPr lang="fr-MA" dirty="0"/>
              <a:t> qui analysent notre santé.</a:t>
            </a:r>
          </a:p>
          <a:p>
            <a:r>
              <a:rPr lang="fr-MA" dirty="0"/>
              <a:t>L’IA touche aujourd’hui </a:t>
            </a:r>
            <a:r>
              <a:rPr lang="fr-MA" b="1" dirty="0"/>
              <a:t>tous les secteurs</a:t>
            </a:r>
            <a:r>
              <a:rPr lang="fr-MA" dirty="0"/>
              <a:t> : santé, finance, transport, industrie, éducation. »</a:t>
            </a:r>
          </a:p>
          <a:p>
            <a:r>
              <a:rPr lang="fr-MA" dirty="0"/>
              <a:t>🧠 </a:t>
            </a:r>
            <a:r>
              <a:rPr lang="fr-MA" i="1" dirty="0"/>
              <a:t>Note pédagogique :</a:t>
            </a:r>
            <a:endParaRPr lang="fr-MA" dirty="0"/>
          </a:p>
          <a:p>
            <a:r>
              <a:rPr lang="fr-MA" dirty="0"/>
              <a:t>Proposer un mini-échange :</a:t>
            </a:r>
            <a:br>
              <a:rPr lang="fr-MA" dirty="0"/>
            </a:br>
            <a:r>
              <a:rPr lang="fr-MA" dirty="0"/>
              <a:t>« Qui ici utilise une application qui intègre l’IA sans le savoir ? (Netflix, Google, WhatsApp, etc.) »</a:t>
            </a:r>
            <a:br>
              <a:rPr lang="fr-MA" dirty="0"/>
            </a:br>
            <a:r>
              <a:rPr lang="fr-MA" dirty="0"/>
              <a:t>Objectif : montrer que l’IA n’est plus une technologie distante, mais quotidienne.</a:t>
            </a:r>
          </a:p>
          <a:p>
            <a:endParaRPr lang="fr-FR" dirty="0"/>
          </a:p>
          <a:p>
            <a:r>
              <a:rPr lang="fr-MA" b="1" dirty="0"/>
              <a:t>🧭 Conclusion du slide</a:t>
            </a:r>
          </a:p>
          <a:p>
            <a:r>
              <a:rPr lang="fr-MA" dirty="0"/>
              <a:t>« Pour résumer, trois étapes majeures :</a:t>
            </a:r>
          </a:p>
          <a:p>
            <a:r>
              <a:rPr lang="fr-MA" b="1" dirty="0"/>
              <a:t>1980s :</a:t>
            </a:r>
            <a:r>
              <a:rPr lang="fr-MA" dirty="0"/>
              <a:t> la machine apprend.</a:t>
            </a:r>
          </a:p>
          <a:p>
            <a:r>
              <a:rPr lang="fr-MA" b="1" dirty="0"/>
              <a:t>2000s :</a:t>
            </a:r>
            <a:r>
              <a:rPr lang="fr-MA" dirty="0"/>
              <a:t> la machine apprend à grande échelle grâce aux données massives.</a:t>
            </a:r>
          </a:p>
          <a:p>
            <a:r>
              <a:rPr lang="fr-MA" b="1" dirty="0"/>
              <a:t>Aujourd’hui :</a:t>
            </a:r>
            <a:r>
              <a:rPr lang="fr-MA" dirty="0"/>
              <a:t> la machine devient accessible et intégrée dans notre vie.</a:t>
            </a:r>
          </a:p>
          <a:p>
            <a:r>
              <a:rPr lang="fr-MA" dirty="0"/>
              <a:t>Dans le prochain slide, nous verrons les </a:t>
            </a:r>
            <a:r>
              <a:rPr lang="fr-MA" b="1" dirty="0"/>
              <a:t>figures clés</a:t>
            </a:r>
            <a:r>
              <a:rPr lang="fr-MA" dirty="0"/>
              <a:t> de cette aventure : les chercheurs et pionniers qui ont marqué l’histoire de l’intelligence artificielle. 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411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John McCarthy – Le père du terme “Intelligence Artificielle”</a:t>
            </a:r>
          </a:p>
          <a:p>
            <a:r>
              <a:rPr lang="fr-MA" dirty="0"/>
              <a:t>« Le premier, </a:t>
            </a:r>
            <a:r>
              <a:rPr lang="fr-MA" b="1" dirty="0"/>
              <a:t>John McCarthy</a:t>
            </a:r>
            <a:r>
              <a:rPr lang="fr-MA" dirty="0"/>
              <a:t>, est un informaticien américain qui a inventé, en 1956, le terme “</a:t>
            </a:r>
            <a:r>
              <a:rPr lang="fr-MA" dirty="0" err="1"/>
              <a:t>Artificial</a:t>
            </a:r>
            <a:r>
              <a:rPr lang="fr-MA" dirty="0"/>
              <a:t> Intelligence”.</a:t>
            </a:r>
            <a:br>
              <a:rPr lang="fr-MA" dirty="0"/>
            </a:br>
            <a:r>
              <a:rPr lang="fr-MA" dirty="0"/>
              <a:t>C’est lui qui a organisé la célèbre conférence de Dartmouth, considérée comme </a:t>
            </a:r>
            <a:r>
              <a:rPr lang="fr-MA" b="1" dirty="0"/>
              <a:t>l’acte de naissance officiel de l’IA</a:t>
            </a:r>
            <a:r>
              <a:rPr lang="fr-MA" dirty="0"/>
              <a:t>.</a:t>
            </a:r>
          </a:p>
          <a:p>
            <a:r>
              <a:rPr lang="fr-MA" dirty="0"/>
              <a:t>McCarthy a aussi inventé le </a:t>
            </a:r>
            <a:r>
              <a:rPr lang="fr-MA" b="1" dirty="0"/>
              <a:t>langage de programmation LISP</a:t>
            </a:r>
            <a:r>
              <a:rPr lang="fr-MA" dirty="0"/>
              <a:t>, un des premiers langages dédiés à la recherche en intelligence artificielle.</a:t>
            </a:r>
          </a:p>
          <a:p>
            <a:r>
              <a:rPr lang="fr-MA" dirty="0"/>
              <a:t>Grâce à lui, l’IA est devenue une discipline scientifique à part entière.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Alan Turing – Le père de l’informatique et de l’IA théorique</a:t>
            </a:r>
          </a:p>
          <a:p>
            <a:r>
              <a:rPr lang="fr-MA" dirty="0"/>
              <a:t>« Le deuxième grand nom est </a:t>
            </a:r>
            <a:r>
              <a:rPr lang="fr-MA" b="1" dirty="0"/>
              <a:t>Alan Turing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Turing est un mathématicien britannique, souvent considéré comme </a:t>
            </a:r>
            <a:r>
              <a:rPr lang="fr-MA" b="1" dirty="0"/>
              <a:t>le père de l’informatique moderne</a:t>
            </a:r>
            <a:r>
              <a:rPr lang="fr-MA" dirty="0"/>
              <a:t>.</a:t>
            </a:r>
          </a:p>
          <a:p>
            <a:r>
              <a:rPr lang="fr-MA" dirty="0"/>
              <a:t>Dans les années 1940, il invente le concept de “machine universelle”, ancêtre de l’ordinateur.</a:t>
            </a:r>
          </a:p>
          <a:p>
            <a:r>
              <a:rPr lang="fr-MA" dirty="0"/>
              <a:t>En 1950, il publie son célèbre article </a:t>
            </a:r>
            <a:r>
              <a:rPr lang="fr-MA" i="1" dirty="0"/>
              <a:t>“</a:t>
            </a:r>
            <a:r>
              <a:rPr lang="fr-MA" i="1" dirty="0" err="1"/>
              <a:t>Computing</a:t>
            </a:r>
            <a:r>
              <a:rPr lang="fr-MA" i="1" dirty="0"/>
              <a:t> </a:t>
            </a:r>
            <a:r>
              <a:rPr lang="fr-MA" i="1" dirty="0" err="1"/>
              <a:t>Machinery</a:t>
            </a:r>
            <a:r>
              <a:rPr lang="fr-MA" i="1" dirty="0"/>
              <a:t> and Intelligence”</a:t>
            </a:r>
            <a:r>
              <a:rPr lang="fr-MA" dirty="0"/>
              <a:t>, où il pose la question :</a:t>
            </a:r>
            <a:br>
              <a:rPr lang="fr-MA" dirty="0"/>
            </a:br>
            <a:r>
              <a:rPr lang="fr-MA" i="1" dirty="0"/>
              <a:t>“Les machines peuvent-elles penser ?”</a:t>
            </a:r>
            <a:endParaRPr lang="fr-MA" dirty="0"/>
          </a:p>
          <a:p>
            <a:r>
              <a:rPr lang="fr-MA" dirty="0"/>
              <a:t>C’est aussi lui qui a proposé le </a:t>
            </a:r>
            <a:r>
              <a:rPr lang="fr-MA" b="1" dirty="0"/>
              <a:t>Test de Turing</a:t>
            </a:r>
            <a:r>
              <a:rPr lang="fr-MA" dirty="0"/>
              <a:t>, dont nous avons parlé plus tôt, pour évaluer si une machine peut se faire passer pour un humain.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Marvin Minsky – Le pionnier des systèmes experts</a:t>
            </a:r>
          </a:p>
          <a:p>
            <a:r>
              <a:rPr lang="fr-MA" b="1" dirty="0"/>
              <a:t>Marvin Minsky</a:t>
            </a:r>
            <a:r>
              <a:rPr lang="fr-MA" dirty="0"/>
              <a:t>, un chercheur du MIT (Massachusetts Institute of </a:t>
            </a:r>
            <a:r>
              <a:rPr lang="fr-MA" dirty="0" err="1"/>
              <a:t>Technology</a:t>
            </a:r>
            <a:r>
              <a:rPr lang="fr-MA" dirty="0"/>
              <a:t>).</a:t>
            </a:r>
          </a:p>
          <a:p>
            <a:r>
              <a:rPr lang="fr-MA" dirty="0"/>
              <a:t>Il a cofondé le </a:t>
            </a:r>
            <a:r>
              <a:rPr lang="fr-MA" b="1" dirty="0"/>
              <a:t>premier laboratoire d’intelligence artificielle</a:t>
            </a:r>
            <a:r>
              <a:rPr lang="fr-MA" dirty="0"/>
              <a:t> à l’université du MIT.</a:t>
            </a:r>
          </a:p>
          <a:p>
            <a:r>
              <a:rPr lang="fr-MA" dirty="0"/>
              <a:t>Minsky croyait fermement que l’intelligence pouvait être reproduite à partir de mécanismes logiques.</a:t>
            </a:r>
            <a:br>
              <a:rPr lang="fr-MA" dirty="0"/>
            </a:br>
            <a:r>
              <a:rPr lang="fr-MA" dirty="0"/>
              <a:t>Il a travaillé sur les </a:t>
            </a:r>
            <a:r>
              <a:rPr lang="fr-MA" b="1" dirty="0"/>
              <a:t>systèmes experts</a:t>
            </a:r>
            <a:r>
              <a:rPr lang="fr-MA" dirty="0"/>
              <a:t>, les </a:t>
            </a:r>
            <a:r>
              <a:rPr lang="fr-MA" b="1" dirty="0"/>
              <a:t>réseaux de neurones</a:t>
            </a:r>
            <a:r>
              <a:rPr lang="fr-MA" dirty="0"/>
              <a:t> et même la </a:t>
            </a:r>
            <a:r>
              <a:rPr lang="fr-MA" b="1" dirty="0"/>
              <a:t>philosophie de la conscience artificielle</a:t>
            </a:r>
            <a:r>
              <a:rPr lang="fr-MA" dirty="0"/>
              <a:t>.</a:t>
            </a:r>
          </a:p>
          <a:p>
            <a:r>
              <a:rPr lang="fr-MA" dirty="0"/>
              <a:t>➤ Il considérait l’IA non pas comme une simple technologie, mais comme un moyen de mieux comprendre </a:t>
            </a:r>
            <a:r>
              <a:rPr lang="fr-MA" b="1" dirty="0"/>
              <a:t>le fonctionnement de l’esprit humain.</a:t>
            </a:r>
            <a:r>
              <a:rPr lang="fr-MA" dirty="0"/>
              <a:t>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4. Geoffrey Hinton – Le père de l’apprentissage profond (Deep Learning)</a:t>
            </a:r>
          </a:p>
          <a:p>
            <a:r>
              <a:rPr lang="fr-MA" dirty="0"/>
              <a:t>« Enfin, </a:t>
            </a:r>
            <a:r>
              <a:rPr lang="fr-MA" b="1" dirty="0"/>
              <a:t>Geoffrey Hinton</a:t>
            </a:r>
            <a:r>
              <a:rPr lang="fr-MA" dirty="0"/>
              <a:t>, chercheur canadien, est considéré comme </a:t>
            </a:r>
            <a:r>
              <a:rPr lang="fr-MA" b="1" dirty="0"/>
              <a:t>le pionnier du Deep Learning</a:t>
            </a:r>
            <a:r>
              <a:rPr lang="fr-MA" dirty="0"/>
              <a:t>, l’apprentissage profond.</a:t>
            </a:r>
          </a:p>
          <a:p>
            <a:r>
              <a:rPr lang="fr-MA" dirty="0"/>
              <a:t>Dès les années 1980, il travaillait déjà sur les </a:t>
            </a:r>
            <a:r>
              <a:rPr lang="fr-MA" b="1" dirty="0"/>
              <a:t>réseaux de neurones artificiels</a:t>
            </a:r>
            <a:r>
              <a:rPr lang="fr-MA" dirty="0"/>
              <a:t>, mais à l’époque, les ordinateurs n’étaient pas assez puissants pour les faire fonctionner efficacement.</a:t>
            </a:r>
          </a:p>
          <a:p>
            <a:r>
              <a:rPr lang="fr-MA" dirty="0"/>
              <a:t>Il faudra attendre les années 2000 pour que ses travaux explosent avec la puissance des GPU.</a:t>
            </a:r>
          </a:p>
          <a:p>
            <a:r>
              <a:rPr lang="fr-MA" dirty="0"/>
              <a:t>➤ Ses recherches ont directement conduit à la création des systèmes modernes comme </a:t>
            </a:r>
            <a:r>
              <a:rPr lang="fr-MA" b="1" dirty="0" err="1"/>
              <a:t>ChatGPT</a:t>
            </a:r>
            <a:r>
              <a:rPr lang="fr-MA" b="1" dirty="0"/>
              <a:t>, les assistants vocaux et la reconnaissance d’images</a:t>
            </a:r>
            <a:r>
              <a:rPr lang="fr-MA" dirty="0"/>
              <a:t>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🧭 Conclusion du slide</a:t>
            </a:r>
          </a:p>
          <a:p>
            <a:r>
              <a:rPr lang="fr-MA" dirty="0"/>
              <a:t>« Ces quatre figures représentent quatre époques et quatre visions de l’IA :</a:t>
            </a:r>
          </a:p>
          <a:p>
            <a:r>
              <a:rPr lang="fr-MA" b="1" dirty="0"/>
              <a:t>Turing</a:t>
            </a:r>
            <a:r>
              <a:rPr lang="fr-MA" dirty="0"/>
              <a:t>, la pensée et la théorie ;</a:t>
            </a:r>
          </a:p>
          <a:p>
            <a:r>
              <a:rPr lang="fr-MA" b="1" dirty="0"/>
              <a:t>McCarthy</a:t>
            </a:r>
            <a:r>
              <a:rPr lang="fr-MA" dirty="0"/>
              <a:t>, la naissance scientifique ;</a:t>
            </a:r>
          </a:p>
          <a:p>
            <a:r>
              <a:rPr lang="fr-MA" b="1" dirty="0"/>
              <a:t>Minsky</a:t>
            </a:r>
            <a:r>
              <a:rPr lang="fr-MA" dirty="0"/>
              <a:t>, la recherche et la modélisation de l’esprit ;</a:t>
            </a:r>
          </a:p>
          <a:p>
            <a:r>
              <a:rPr lang="fr-MA" b="1" dirty="0"/>
              <a:t>Hinton</a:t>
            </a:r>
            <a:r>
              <a:rPr lang="fr-MA" dirty="0"/>
              <a:t>, la modernité et l’apprentissage profond.</a:t>
            </a:r>
          </a:p>
          <a:p>
            <a:r>
              <a:rPr lang="fr-MA" dirty="0"/>
              <a:t>Ensemble, ils ont fait passer l’IA du rêve à la réalité. 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41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« En 2016, le marché mondial de l’IA ne générait que </a:t>
            </a:r>
            <a:r>
              <a:rPr lang="fr-MA" b="1" dirty="0"/>
              <a:t>3,2 milliards de dollars</a:t>
            </a:r>
            <a:r>
              <a:rPr lang="fr-MA" dirty="0"/>
              <a:t>.</a:t>
            </a:r>
          </a:p>
          <a:p>
            <a:r>
              <a:rPr lang="fr-MA" dirty="0"/>
              <a:t>Huit ans plus tard, en 2024, on approche déjà les </a:t>
            </a:r>
            <a:r>
              <a:rPr lang="fr-MA" b="1" dirty="0"/>
              <a:t>71 milliards de dollars</a:t>
            </a:r>
            <a:r>
              <a:rPr lang="fr-MA" dirty="0"/>
              <a:t>, et les estimations pour </a:t>
            </a:r>
            <a:r>
              <a:rPr lang="fr-MA" b="1" dirty="0"/>
              <a:t>2025</a:t>
            </a:r>
            <a:r>
              <a:rPr lang="fr-MA" dirty="0"/>
              <a:t> dépassent les </a:t>
            </a:r>
            <a:r>
              <a:rPr lang="fr-MA" b="1" dirty="0"/>
              <a:t>89 milliards</a:t>
            </a:r>
            <a:r>
              <a:rPr lang="fr-MA" dirty="0"/>
              <a:t>.</a:t>
            </a:r>
          </a:p>
          <a:p>
            <a:r>
              <a:rPr lang="fr-MA" dirty="0"/>
              <a:t>➤ Cela signifie que le chiffre d’affaires mondial a été </a:t>
            </a:r>
            <a:r>
              <a:rPr lang="fr-MA" b="1" dirty="0"/>
              <a:t>multiplié par près de 30 en moins de dix ans !</a:t>
            </a:r>
            <a:endParaRPr lang="fr-MA" dirty="0"/>
          </a:p>
          <a:p>
            <a:r>
              <a:rPr lang="fr-MA" dirty="0"/>
              <a:t>Cette croissance reflète l’intégration rapide de l’IA dans </a:t>
            </a:r>
            <a:r>
              <a:rPr lang="fr-MA" b="1" dirty="0"/>
              <a:t>tous les secteurs économiques</a:t>
            </a:r>
            <a:r>
              <a:rPr lang="fr-MA" dirty="0"/>
              <a:t> : santé, finance, industrie, commerce, éducation, logistique, etc. »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🔹 2. La domination régionale</a:t>
            </a:r>
          </a:p>
          <a:p>
            <a:r>
              <a:rPr lang="fr-MA" dirty="0"/>
              <a:t>« Si on regarde la répartition géographique :</a:t>
            </a:r>
          </a:p>
          <a:p>
            <a:r>
              <a:rPr lang="fr-MA" dirty="0"/>
              <a:t>L’</a:t>
            </a:r>
            <a:r>
              <a:rPr lang="fr-MA" b="1" dirty="0"/>
              <a:t>Amérique du Nord</a:t>
            </a:r>
            <a:r>
              <a:rPr lang="fr-MA" dirty="0"/>
              <a:t> (en bleu) domine largement le marché, grâce aux géants comme Google, Microsoft, </a:t>
            </a:r>
            <a:r>
              <a:rPr lang="fr-MA" dirty="0" err="1"/>
              <a:t>OpenAI</a:t>
            </a:r>
            <a:r>
              <a:rPr lang="fr-MA" dirty="0"/>
              <a:t> ou Amazon.</a:t>
            </a:r>
          </a:p>
          <a:p>
            <a:r>
              <a:rPr lang="fr-MA" dirty="0"/>
              <a:t>L’</a:t>
            </a:r>
            <a:r>
              <a:rPr lang="fr-MA" b="1" dirty="0"/>
              <a:t>Asie-Pacifique</a:t>
            </a:r>
            <a:r>
              <a:rPr lang="fr-MA" dirty="0"/>
              <a:t> (en rouge) suit de très près, portée par la Chine, le Japon et la Corée du Sud, qui investissent massivement dans la robotique et les villes intelligentes.</a:t>
            </a:r>
          </a:p>
          <a:p>
            <a:r>
              <a:rPr lang="fr-MA" dirty="0"/>
              <a:t>L’</a:t>
            </a:r>
            <a:r>
              <a:rPr lang="fr-MA" b="1" dirty="0"/>
              <a:t>Europe</a:t>
            </a:r>
            <a:r>
              <a:rPr lang="fr-MA" dirty="0"/>
              <a:t> (en bleu clair) progresse également, notamment avec la France et l’Allemagne, qui se positionnent sur la régulation éthique et la recherche académique.</a:t>
            </a:r>
          </a:p>
          <a:p>
            <a:r>
              <a:rPr lang="fr-MA" dirty="0"/>
              <a:t>Enfin, </a:t>
            </a:r>
            <a:r>
              <a:rPr lang="fr-MA" b="1" dirty="0"/>
              <a:t>le Moyen-Orient et l’Afrique</a:t>
            </a:r>
            <a:r>
              <a:rPr lang="fr-MA" dirty="0"/>
              <a:t> (en jaune) commencent à émerger, surtout dans les domaines de la santé, de l’agriculture intelligente et de l’énergie. »</a:t>
            </a:r>
          </a:p>
          <a:p>
            <a:endParaRPr lang="fr-FR" dirty="0"/>
          </a:p>
          <a:p>
            <a:r>
              <a:rPr lang="fr-MA" b="1" dirty="0"/>
              <a:t>🔹 3. Les raisons de cette explosion</a:t>
            </a:r>
          </a:p>
          <a:p>
            <a:r>
              <a:rPr lang="fr-MA" dirty="0"/>
              <a:t>« Pourquoi cette croissance aussi rapide ?</a:t>
            </a:r>
            <a:br>
              <a:rPr lang="fr-MA" dirty="0"/>
            </a:br>
            <a:r>
              <a:rPr lang="fr-MA" dirty="0"/>
              <a:t>Il y a trois explications principales :</a:t>
            </a:r>
          </a:p>
          <a:p>
            <a:r>
              <a:rPr lang="fr-MA" b="1" dirty="0"/>
              <a:t>L’essor des données</a:t>
            </a:r>
            <a:r>
              <a:rPr lang="fr-MA" dirty="0"/>
              <a:t> : chaque jour, nous produisons des milliards de données grâce à nos téléphones, nos objets connectés et nos réseaux sociaux.</a:t>
            </a:r>
          </a:p>
          <a:p>
            <a:r>
              <a:rPr lang="fr-MA" b="1" dirty="0"/>
              <a:t>La puissance de calcul</a:t>
            </a:r>
            <a:r>
              <a:rPr lang="fr-MA" dirty="0"/>
              <a:t> : les ordinateurs et les processeurs graphiques (GPU) permettent aujourd’hui de traiter des volumes énormes d’informations en temps réel.</a:t>
            </a:r>
          </a:p>
          <a:p>
            <a:r>
              <a:rPr lang="fr-MA" b="1" dirty="0"/>
              <a:t>Les nouveaux modèles d’IA générative</a:t>
            </a:r>
            <a:r>
              <a:rPr lang="fr-MA" dirty="0"/>
              <a:t> : </a:t>
            </a:r>
            <a:r>
              <a:rPr lang="fr-MA" dirty="0" err="1"/>
              <a:t>ChatGPT</a:t>
            </a:r>
            <a:r>
              <a:rPr lang="fr-MA" dirty="0"/>
              <a:t>, </a:t>
            </a:r>
            <a:r>
              <a:rPr lang="fr-MA" dirty="0" err="1"/>
              <a:t>Midjourney</a:t>
            </a:r>
            <a:r>
              <a:rPr lang="fr-MA" dirty="0"/>
              <a:t>, </a:t>
            </a:r>
            <a:r>
              <a:rPr lang="fr-MA" dirty="0" err="1"/>
              <a:t>Copilot</a:t>
            </a:r>
            <a:r>
              <a:rPr lang="fr-MA" dirty="0"/>
              <a:t>… Ces outils démocratisent l’IA et la rendent accessible à tous. »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510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« Nous venons de voir l’ampleur économique du marché mondial de l’intelligence artificielle.</a:t>
            </a:r>
            <a:br>
              <a:rPr lang="fr-MA" dirty="0"/>
            </a:br>
            <a:r>
              <a:rPr lang="fr-MA" dirty="0"/>
              <a:t>Mais derrière les milliards de dollars, il y a aussi </a:t>
            </a:r>
            <a:r>
              <a:rPr lang="fr-MA" b="1" dirty="0"/>
              <a:t>des indicateurs concrets</a:t>
            </a:r>
            <a:r>
              <a:rPr lang="fr-MA" dirty="0"/>
              <a:t> qui montrent à quel point l’IA transforme nos vies, nos emplois et nos sociétés.</a:t>
            </a:r>
            <a:br>
              <a:rPr lang="fr-MA" dirty="0"/>
            </a:br>
            <a:r>
              <a:rPr lang="fr-MA" dirty="0"/>
              <a:t>Voyons ensemble quelques chiffres clés récents. »</a:t>
            </a:r>
          </a:p>
          <a:p>
            <a:endParaRPr lang="fr-FR" dirty="0"/>
          </a:p>
          <a:p>
            <a:r>
              <a:rPr lang="fr-MA" dirty="0"/>
              <a:t>1.« Selon un rapport d’IBM, environ </a:t>
            </a:r>
            <a:r>
              <a:rPr lang="fr-MA" b="1" dirty="0"/>
              <a:t>une entreprise sur trois</a:t>
            </a:r>
            <a:r>
              <a:rPr lang="fr-MA" dirty="0"/>
              <a:t> dans le monde utilisait déjà des solutions d’IA en 2022.</a:t>
            </a:r>
            <a:br>
              <a:rPr lang="fr-MA" dirty="0"/>
            </a:br>
            <a:r>
              <a:rPr lang="fr-MA" dirty="0"/>
              <a:t>Et cette proportion continue d’augmenter chaque année.</a:t>
            </a:r>
          </a:p>
          <a:p>
            <a:r>
              <a:rPr lang="fr-MA" dirty="0"/>
              <a:t>Cela inclut des domaines très variés : banques, assurances, santé, e-commerce, éducation ou industrie.</a:t>
            </a:r>
          </a:p>
          <a:p>
            <a:r>
              <a:rPr lang="fr-MA" dirty="0"/>
              <a:t>➤ Par exemple, de nombreuses banques utilisent désormais des algorithmes d’IA pour </a:t>
            </a:r>
            <a:r>
              <a:rPr lang="fr-MA" b="1" dirty="0"/>
              <a:t>détecter les fraudes</a:t>
            </a:r>
            <a:r>
              <a:rPr lang="fr-MA" dirty="0"/>
              <a:t>, </a:t>
            </a:r>
            <a:r>
              <a:rPr lang="fr-MA" b="1" dirty="0"/>
              <a:t>analyser les risques</a:t>
            </a:r>
            <a:r>
              <a:rPr lang="fr-MA" dirty="0"/>
              <a:t> et même </a:t>
            </a:r>
            <a:r>
              <a:rPr lang="fr-MA" b="1" dirty="0"/>
              <a:t>accorder des prêts automatiquement</a:t>
            </a:r>
            <a:r>
              <a:rPr lang="fr-MA" dirty="0"/>
              <a:t>. »</a:t>
            </a:r>
          </a:p>
          <a:p>
            <a:endParaRPr lang="fr-MA" dirty="0"/>
          </a:p>
          <a:p>
            <a:r>
              <a:rPr lang="fr-MA" b="1" dirty="0"/>
              <a:t>2. Le marché des voitures sans conducteur croît de 13,3 % par an (2021–2030)</a:t>
            </a:r>
          </a:p>
          <a:p>
            <a:r>
              <a:rPr lang="fr-MA" dirty="0"/>
              <a:t>« Un autre secteur très impacté par l’IA, c’est </a:t>
            </a:r>
            <a:r>
              <a:rPr lang="fr-MA" b="1" dirty="0"/>
              <a:t>l’automobile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Le marché des véhicules autonomes devrait croître de </a:t>
            </a:r>
            <a:r>
              <a:rPr lang="fr-MA" b="1" dirty="0"/>
              <a:t>plus de 13 % par an</a:t>
            </a:r>
            <a:r>
              <a:rPr lang="fr-MA" dirty="0"/>
              <a:t> entre 2021 et 2030.</a:t>
            </a:r>
          </a:p>
          <a:p>
            <a:r>
              <a:rPr lang="fr-MA" dirty="0"/>
              <a:t>Ces voitures utilisent des capteurs, des caméras et des algorithmes d’IA pour </a:t>
            </a:r>
            <a:r>
              <a:rPr lang="fr-MA" b="1" dirty="0"/>
              <a:t>analyser la route, anticiper les obstacles et prendre des décisions en temps réel.</a:t>
            </a:r>
            <a:endParaRPr lang="fr-MA" dirty="0"/>
          </a:p>
          <a:p>
            <a:r>
              <a:rPr lang="fr-MA" dirty="0"/>
              <a:t>➤ Aujourd’hui déjà, des entreprises comme </a:t>
            </a:r>
            <a:r>
              <a:rPr lang="fr-MA" b="1" dirty="0"/>
              <a:t>Tesla, </a:t>
            </a:r>
            <a:r>
              <a:rPr lang="fr-MA" b="1" dirty="0" err="1"/>
              <a:t>Waymo</a:t>
            </a:r>
            <a:r>
              <a:rPr lang="fr-MA" b="1" dirty="0"/>
              <a:t> (Google)</a:t>
            </a:r>
            <a:r>
              <a:rPr lang="fr-MA" dirty="0"/>
              <a:t> ou </a:t>
            </a:r>
            <a:r>
              <a:rPr lang="fr-MA" b="1" dirty="0"/>
              <a:t>Baidu (Chine)</a:t>
            </a:r>
            <a:r>
              <a:rPr lang="fr-MA" dirty="0"/>
              <a:t> testent ces véhicules dans plusieurs grandes villes.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le taux de pénétration des compétences en IA est le plus élevé en Inde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Cela signifie que l’Inde forme chaque année des milliers d’ingénieurs spécialisés en apprentissage automatique et en data science.</a:t>
            </a:r>
          </a:p>
          <a:p>
            <a:r>
              <a:rPr lang="fr-MA" dirty="0"/>
              <a:t>➤ Cette stratégie nationale permet à l’Inde de devenir un </a:t>
            </a:r>
            <a:r>
              <a:rPr lang="fr-MA" b="1" dirty="0"/>
              <a:t>centre mondial de développement en IA</a:t>
            </a:r>
            <a:r>
              <a:rPr lang="fr-MA" dirty="0"/>
              <a:t>, notamment pour les grandes entreprises américaines et européennes.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L’Inde, championne mondiale des compétences en IA</a:t>
            </a:r>
          </a:p>
          <a:p>
            <a:r>
              <a:rPr lang="fr-MA" dirty="0"/>
              <a:t>« Fait intéressant : </a:t>
            </a:r>
            <a:r>
              <a:rPr lang="fr-MA" b="1" dirty="0"/>
              <a:t>le taux de pénétration des compétences en IA est le plus élevé en Inde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Cela signifie que l’Inde forme chaque année des milliers d’ingénieurs spécialisés en apprentissage automatique et en data science.</a:t>
            </a:r>
          </a:p>
          <a:p>
            <a:r>
              <a:rPr lang="fr-MA" dirty="0"/>
              <a:t>➤ Cette stratégie nationale permet à l’Inde de devenir un </a:t>
            </a:r>
            <a:r>
              <a:rPr lang="fr-MA" b="1" dirty="0"/>
              <a:t>centre mondial de développement en IA</a:t>
            </a:r>
            <a:r>
              <a:rPr lang="fr-MA" dirty="0"/>
              <a:t>, notamment pour les grandes entreprises américaines et européennes.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dirty="0"/>
              <a:t>Cela ne signifie pas la disparition de tous ces emplois, mais leur </a:t>
            </a:r>
            <a:r>
              <a:rPr lang="fr-MA" b="1" dirty="0"/>
              <a:t>transformation</a:t>
            </a:r>
            <a:r>
              <a:rPr lang="fr-MA" dirty="0"/>
              <a:t>.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Les caissiers laissent place aux systèmes de paiement automatisés,</a:t>
            </a:r>
          </a:p>
          <a:p>
            <a:r>
              <a:rPr lang="fr-MA" dirty="0"/>
              <a:t>Les comptables utilisent des logiciels d’analyse prédictive,</a:t>
            </a:r>
          </a:p>
          <a:p>
            <a:r>
              <a:rPr lang="fr-MA" dirty="0"/>
              <a:t>Et les enseignants peuvent s’appuyer sur des outils d’IA pour personnaliser les cours.</a:t>
            </a:r>
          </a:p>
          <a:p>
            <a:r>
              <a:rPr lang="fr-MA" dirty="0"/>
              <a:t>L’enjeu n’est donc pas la disparition du travail, mais </a:t>
            </a:r>
            <a:r>
              <a:rPr lang="fr-MA" b="1" dirty="0"/>
              <a:t>l’adaptation des compétences.</a:t>
            </a:r>
            <a:r>
              <a:rPr lang="fr-MA" dirty="0"/>
              <a:t> »</a:t>
            </a:r>
          </a:p>
          <a:p>
            <a:endParaRPr lang="fr-MA" dirty="0"/>
          </a:p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008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  <a:p>
            <a:r>
              <a:rPr lang="fr-MA" dirty="0"/>
              <a:t>1. Cela montre qu’il existe encore une </a:t>
            </a:r>
            <a:r>
              <a:rPr lang="fr-MA" b="1" dirty="0"/>
              <a:t>confusion entre IA et robotique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Beaucoup de gens imaginent des machines humaines, des androïdes, ou des robots de science-fiction — alors que la majorité des IA n’ont rien de physique.</a:t>
            </a:r>
          </a:p>
          <a:p>
            <a:r>
              <a:rPr lang="fr-MA" dirty="0"/>
              <a:t>➤ En réalité, la plupart des IA sont invisibles : elles sont dans nos téléphones, nos moteurs de recherche, nos voitures, nos plateformes de streaming… »</a:t>
            </a:r>
          </a:p>
          <a:p>
            <a:endParaRPr lang="fr-FR" dirty="0"/>
          </a:p>
          <a:p>
            <a:r>
              <a:rPr lang="fr-MA" dirty="0"/>
              <a:t>2. Cela s’explique par plusieurs facteurs :</a:t>
            </a:r>
          </a:p>
          <a:p>
            <a:r>
              <a:rPr lang="fr-MA" dirty="0"/>
              <a:t>Automatisation des tâches répétitives,</a:t>
            </a:r>
          </a:p>
          <a:p>
            <a:r>
              <a:rPr lang="fr-MA" dirty="0"/>
              <a:t>Amélioration de la productivité,</a:t>
            </a:r>
          </a:p>
          <a:p>
            <a:r>
              <a:rPr lang="fr-MA" dirty="0"/>
              <a:t>Analyse plus fine des données clients,</a:t>
            </a:r>
          </a:p>
          <a:p>
            <a:r>
              <a:rPr lang="fr-MA" dirty="0"/>
              <a:t>Et surtout, meilleure prise de décision grâce aux outils prédictifs.</a:t>
            </a:r>
          </a:p>
          <a:p>
            <a:r>
              <a:rPr lang="fr-MA" dirty="0"/>
              <a:t>➤ Autrement dit, l’IA devient un </a:t>
            </a:r>
            <a:r>
              <a:rPr lang="fr-MA" b="1" dirty="0"/>
              <a:t>levier de compétitivité</a:t>
            </a:r>
            <a:r>
              <a:rPr lang="fr-MA" dirty="0"/>
              <a:t> dans l’économie mondiale. »</a:t>
            </a:r>
          </a:p>
          <a:p>
            <a:r>
              <a:rPr lang="fr-MA" dirty="0"/>
              <a:t>💡 </a:t>
            </a:r>
            <a:r>
              <a:rPr lang="fr-MA" i="1" dirty="0"/>
              <a:t>Exemple concret :</a:t>
            </a:r>
            <a:endParaRPr lang="fr-MA" dirty="0"/>
          </a:p>
          <a:p>
            <a:r>
              <a:rPr lang="fr-MA" dirty="0"/>
              <a:t>« Les entreprises qui utilisent des </a:t>
            </a:r>
            <a:r>
              <a:rPr lang="fr-MA" dirty="0" err="1"/>
              <a:t>chatbots</a:t>
            </a:r>
            <a:r>
              <a:rPr lang="fr-MA" dirty="0"/>
              <a:t>, des systèmes de recommandation ou de maintenance prédictive voient une baisse de leurs coûts et une hausse de la satisfaction client.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dirty="0"/>
              <a:t>3. Cette inquiétude est légitime : les gens se demandent </a:t>
            </a:r>
            <a:r>
              <a:rPr lang="fr-MA" i="1" dirty="0"/>
              <a:t>“qui collecte mes données ? où vont-elles ? à quoi servent-elles ?”</a:t>
            </a:r>
            <a:endParaRPr lang="fr-MA" dirty="0"/>
          </a:p>
          <a:p>
            <a:r>
              <a:rPr lang="fr-MA" dirty="0"/>
              <a:t>➤ Cela montre l’importance de la </a:t>
            </a:r>
            <a:r>
              <a:rPr lang="fr-MA" b="1" dirty="0"/>
              <a:t>transparence</a:t>
            </a:r>
            <a:r>
              <a:rPr lang="fr-MA" dirty="0"/>
              <a:t>, de la </a:t>
            </a:r>
            <a:r>
              <a:rPr lang="fr-MA" b="1" dirty="0"/>
              <a:t>régulation</a:t>
            </a:r>
            <a:r>
              <a:rPr lang="fr-MA" dirty="0"/>
              <a:t> et de la </a:t>
            </a:r>
            <a:r>
              <a:rPr lang="fr-MA" b="1" dirty="0"/>
              <a:t>cybersécurité</a:t>
            </a:r>
            <a:r>
              <a:rPr lang="fr-MA" dirty="0"/>
              <a:t> dans le développement de l’IA. »</a:t>
            </a:r>
          </a:p>
          <a:p>
            <a:r>
              <a:rPr lang="fr-MA" dirty="0"/>
              <a:t>🔐 </a:t>
            </a:r>
            <a:r>
              <a:rPr lang="fr-MA" i="1" dirty="0"/>
              <a:t>Exemple à donner :</a:t>
            </a:r>
            <a:endParaRPr lang="fr-MA" dirty="0"/>
          </a:p>
          <a:p>
            <a:r>
              <a:rPr lang="fr-MA" dirty="0"/>
              <a:t>« Par exemple, les assistants vocaux comme Alexa ou Siri enregistrent les voix pour améliorer leurs réponses, mais ces données doivent être protégées pour éviter les abus. »</a:t>
            </a:r>
          </a:p>
          <a:p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97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1. </a:t>
            </a:r>
            <a:r>
              <a:rPr lang="fr-MA" dirty="0"/>
              <a:t>Cela ne veut pas dire que tous disparaîtront, mais qu’ils vont évoluer.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Dans la </a:t>
            </a:r>
            <a:r>
              <a:rPr lang="fr-MA" b="1" dirty="0"/>
              <a:t>comptabilité</a:t>
            </a:r>
            <a:r>
              <a:rPr lang="fr-MA" dirty="0"/>
              <a:t>, l’IA automatise les tâches de saisie et de vérification.</a:t>
            </a:r>
          </a:p>
          <a:p>
            <a:r>
              <a:rPr lang="fr-MA" dirty="0"/>
              <a:t>Dans la </a:t>
            </a:r>
            <a:r>
              <a:rPr lang="fr-MA" b="1" dirty="0"/>
              <a:t>santé</a:t>
            </a:r>
            <a:r>
              <a:rPr lang="fr-MA" dirty="0"/>
              <a:t>, elle aide à analyser les images médicales, mais ne remplace pas le diagnostic du médecin.</a:t>
            </a:r>
          </a:p>
          <a:p>
            <a:r>
              <a:rPr lang="fr-MA" dirty="0"/>
              <a:t>Dans l’</a:t>
            </a:r>
            <a:r>
              <a:rPr lang="fr-MA" b="1" dirty="0"/>
              <a:t>éducation</a:t>
            </a:r>
            <a:r>
              <a:rPr lang="fr-MA" dirty="0"/>
              <a:t>, elle assiste l’enseignant dans la correction et la personnalisation des cours.</a:t>
            </a:r>
          </a:p>
          <a:p>
            <a:r>
              <a:rPr lang="fr-MA" dirty="0"/>
              <a:t>On peut donc dire que l’IA </a:t>
            </a:r>
            <a:r>
              <a:rPr lang="fr-MA" b="1" dirty="0"/>
              <a:t>redéfinit le rôle de l’humain</a:t>
            </a:r>
            <a:r>
              <a:rPr lang="fr-MA" dirty="0"/>
              <a:t> dans presque tous les secteurs. »</a:t>
            </a:r>
          </a:p>
          <a:p>
            <a:endParaRPr lang="fr-MA" dirty="0"/>
          </a:p>
          <a:p>
            <a:r>
              <a:rPr lang="fr-MA" b="1" dirty="0"/>
              <a:t>2.  43 % des entreprises envisagent de réduire leurs effectifs grâce à l’IA</a:t>
            </a:r>
          </a:p>
          <a:p>
            <a:r>
              <a:rPr lang="fr-MA" dirty="0"/>
              <a:t>« Environ </a:t>
            </a:r>
            <a:r>
              <a:rPr lang="fr-MA" b="1" dirty="0"/>
              <a:t>43 % des entreprises</a:t>
            </a:r>
            <a:r>
              <a:rPr lang="fr-MA" dirty="0"/>
              <a:t> déclarent vouloir réduire leur personnel suite à l’intégration d’outils d’IA.</a:t>
            </a:r>
          </a:p>
          <a:p>
            <a:r>
              <a:rPr lang="fr-MA" dirty="0"/>
              <a:t>Cela s’explique par la recherche de productivité : l’IA permet de </a:t>
            </a:r>
            <a:r>
              <a:rPr lang="fr-MA" b="1" dirty="0"/>
              <a:t>faire plus avec moins</a:t>
            </a:r>
            <a:r>
              <a:rPr lang="fr-MA" dirty="0"/>
              <a:t>.</a:t>
            </a:r>
          </a:p>
          <a:p>
            <a:r>
              <a:rPr lang="fr-MA" dirty="0"/>
              <a:t>Mais il faut nuancer : si certains postes disparaissent, </a:t>
            </a:r>
            <a:r>
              <a:rPr lang="fr-MA" b="1" dirty="0"/>
              <a:t>de nouveaux métiers apparaissent</a:t>
            </a:r>
            <a:r>
              <a:rPr lang="fr-MA" dirty="0"/>
              <a:t> aussi, notamment dans la maintenance des systèmes d’IA, la supervision des algorithmes, la cybersécurité ou encore la data science. »</a:t>
            </a:r>
          </a:p>
          <a:p>
            <a:endParaRPr lang="fr-FR" dirty="0"/>
          </a:p>
          <a:p>
            <a:r>
              <a:rPr lang="fr-MA" dirty="0"/>
              <a:t>🧠 </a:t>
            </a:r>
            <a:r>
              <a:rPr lang="fr-MA" i="1" dirty="0"/>
              <a:t>Exemple concret :</a:t>
            </a:r>
            <a:endParaRPr lang="fr-MA" dirty="0"/>
          </a:p>
          <a:p>
            <a:r>
              <a:rPr lang="fr-MA" dirty="0"/>
              <a:t>« Prenons le cas du secteur bancaire : certaines tâches administratives ont été automatisées, mais cela a créé des besoins en analystes de données et en ingénieurs IA. »</a:t>
            </a:r>
          </a:p>
          <a:p>
            <a:endParaRPr lang="fr-FR" dirty="0"/>
          </a:p>
          <a:p>
            <a:r>
              <a:rPr lang="fr-MA" b="1" dirty="0"/>
              <a:t>3. Une perte estimée de 7 % des emplois d’ici 2025 (étude Forester)</a:t>
            </a:r>
          </a:p>
          <a:p>
            <a:r>
              <a:rPr lang="fr-MA" dirty="0"/>
              <a:t>« L’étude Forester prévoit une </a:t>
            </a:r>
            <a:r>
              <a:rPr lang="fr-MA" b="1" dirty="0"/>
              <a:t>baisse de 7 % des emplois mondiaux d’ici 2025</a:t>
            </a:r>
            <a:r>
              <a:rPr lang="fr-MA" dirty="0"/>
              <a:t> liée à l’automatisation.</a:t>
            </a:r>
          </a:p>
          <a:p>
            <a:r>
              <a:rPr lang="fr-MA" dirty="0"/>
              <a:t>Ce chiffre semble inquiétant, mais il faut le replacer dans un contexte de transformation globale : beaucoup de ces emplois seront </a:t>
            </a:r>
            <a:r>
              <a:rPr lang="fr-MA" b="1" dirty="0"/>
              <a:t>reconvertis ou requalifiés</a:t>
            </a:r>
            <a:r>
              <a:rPr lang="fr-MA" dirty="0"/>
              <a:t> plutôt que supprimés.</a:t>
            </a:r>
          </a:p>
          <a:p>
            <a:r>
              <a:rPr lang="fr-MA" dirty="0"/>
              <a:t>➤ L’enjeu pour les pays, comme le Maroc par exemple, est d’</a:t>
            </a:r>
            <a:r>
              <a:rPr lang="fr-MA" b="1" dirty="0"/>
              <a:t>adapter la formation professionnelle</a:t>
            </a:r>
            <a:r>
              <a:rPr lang="fr-MA" dirty="0"/>
              <a:t> à ces nouveaux besoins. »</a:t>
            </a:r>
          </a:p>
          <a:p>
            <a:r>
              <a:rPr lang="fr-MA" dirty="0"/>
              <a:t>🎓 </a:t>
            </a:r>
            <a:r>
              <a:rPr lang="fr-MA" i="1" dirty="0"/>
              <a:t>Note pédagogique :</a:t>
            </a:r>
            <a:endParaRPr lang="fr-MA" dirty="0"/>
          </a:p>
          <a:p>
            <a:r>
              <a:rPr lang="fr-MA" dirty="0"/>
              <a:t>Faire le lien avec la politique nationale de formation : « Au Maroc, des universités comme l’ENSIAS, la FST et la FSE lancent déjà des filières autour de l’IA et des données massives.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4.    90 % des dirigeants ont déjà investi dans l’IA, mais souvent en phase expérimentale</a:t>
            </a:r>
          </a:p>
          <a:p>
            <a:r>
              <a:rPr lang="fr-MA" dirty="0"/>
              <a:t>« Un chiffre plus optimiste maintenant : </a:t>
            </a:r>
            <a:r>
              <a:rPr lang="fr-MA" b="1" dirty="0"/>
              <a:t>9 leaders sur 10</a:t>
            </a:r>
            <a:r>
              <a:rPr lang="fr-MA" dirty="0"/>
              <a:t> ont déjà investi dans des technologies d’IA.</a:t>
            </a:r>
          </a:p>
          <a:p>
            <a:r>
              <a:rPr lang="fr-MA" dirty="0"/>
              <a:t>Cependant, beaucoup en sont encore à la </a:t>
            </a:r>
            <a:r>
              <a:rPr lang="fr-MA" b="1" dirty="0"/>
              <a:t>phase expérimentale</a:t>
            </a:r>
            <a:r>
              <a:rPr lang="fr-MA" dirty="0"/>
              <a:t> : ils testent des prototypes, des </a:t>
            </a:r>
            <a:r>
              <a:rPr lang="fr-MA" dirty="0" err="1"/>
              <a:t>chatbots</a:t>
            </a:r>
            <a:r>
              <a:rPr lang="fr-MA" dirty="0"/>
              <a:t> internes, ou des outils de génération de rapports automatisés.</a:t>
            </a:r>
          </a:p>
          <a:p>
            <a:r>
              <a:rPr lang="fr-MA" dirty="0"/>
              <a:t>Cela prouve que </a:t>
            </a:r>
            <a:r>
              <a:rPr lang="fr-MA" b="1" dirty="0"/>
              <a:t>la transformation est en cours</a:t>
            </a:r>
            <a:r>
              <a:rPr lang="fr-MA" dirty="0"/>
              <a:t>, mais que la maturité technologique n’est pas encore totale. »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5.   29 % des entreprises n’adoptent pas encore l’IA (contraintes budgétaires)</a:t>
            </a:r>
          </a:p>
          <a:p>
            <a:r>
              <a:rPr lang="fr-MA" dirty="0"/>
              <a:t>« Enfin, environ </a:t>
            </a:r>
            <a:r>
              <a:rPr lang="fr-MA" b="1" dirty="0"/>
              <a:t>29 % des entreprises</a:t>
            </a:r>
            <a:r>
              <a:rPr lang="fr-MA" dirty="0"/>
              <a:t> n’ont pas encore franchi le pas, principalement à cause du </a:t>
            </a:r>
            <a:r>
              <a:rPr lang="fr-MA" b="1" dirty="0"/>
              <a:t>coût élevé des infrastructures</a:t>
            </a:r>
            <a:r>
              <a:rPr lang="fr-MA" dirty="0"/>
              <a:t>, du manque de compétences internes, ou d’un </a:t>
            </a:r>
            <a:r>
              <a:rPr lang="fr-MA" b="1" dirty="0"/>
              <a:t>retour sur investissement incertain</a:t>
            </a:r>
            <a:r>
              <a:rPr lang="fr-MA" dirty="0"/>
              <a:t>.</a:t>
            </a:r>
          </a:p>
          <a:p>
            <a:r>
              <a:rPr lang="fr-MA" dirty="0"/>
              <a:t>Cela montre qu’il existe encore un </a:t>
            </a:r>
            <a:r>
              <a:rPr lang="fr-MA" b="1" dirty="0"/>
              <a:t>écart entre les grandes entreprises technologiques et les PME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L’un des défis des prochaines années sera donc de rendre ces technologies plus accessibles. »</a:t>
            </a:r>
          </a:p>
          <a:p>
            <a:endParaRPr lang="fr-FR" dirty="0"/>
          </a:p>
          <a:p>
            <a:endParaRPr lang="fr-FR" dirty="0"/>
          </a:p>
          <a:p>
            <a:r>
              <a:rPr lang="fr-MA" dirty="0"/>
              <a:t>« Enfin, une enquête Forbes complète ces données en montrant les </a:t>
            </a:r>
            <a:r>
              <a:rPr lang="fr-MA" b="1" dirty="0"/>
              <a:t>inquiétudes principales des professionnels</a:t>
            </a:r>
            <a:r>
              <a:rPr lang="fr-MA" dirty="0"/>
              <a:t> :</a:t>
            </a:r>
          </a:p>
          <a:p>
            <a:r>
              <a:rPr lang="fr-MA" dirty="0"/>
              <a:t>43 % redoutent une </a:t>
            </a:r>
            <a:r>
              <a:rPr lang="fr-MA" b="1" dirty="0"/>
              <a:t>dépendance excessive</a:t>
            </a:r>
            <a:r>
              <a:rPr lang="fr-MA" dirty="0"/>
              <a:t> à l’IA.</a:t>
            </a:r>
          </a:p>
          <a:p>
            <a:r>
              <a:rPr lang="fr-MA" dirty="0"/>
              <a:t>33 % craignent une </a:t>
            </a:r>
            <a:r>
              <a:rPr lang="fr-MA" b="1" dirty="0"/>
              <a:t>baisse du besoin de main-d’œuvre</a:t>
            </a:r>
            <a:r>
              <a:rPr lang="fr-MA" dirty="0"/>
              <a:t>.</a:t>
            </a:r>
          </a:p>
          <a:p>
            <a:r>
              <a:rPr lang="fr-MA" dirty="0"/>
              <a:t>Un tiers s’inquiète des </a:t>
            </a:r>
            <a:r>
              <a:rPr lang="fr-MA" b="1" dirty="0"/>
              <a:t>erreurs ou biais</a:t>
            </a:r>
            <a:r>
              <a:rPr lang="fr-MA" dirty="0"/>
              <a:t> générés par les systèmes automatisés.</a:t>
            </a:r>
          </a:p>
          <a:p>
            <a:r>
              <a:rPr lang="fr-MA" dirty="0"/>
              <a:t>Et 24 % redoutent une </a:t>
            </a:r>
            <a:r>
              <a:rPr lang="fr-MA" b="1" dirty="0"/>
              <a:t>baisse du trafic Internet</a:t>
            </a:r>
            <a:r>
              <a:rPr lang="fr-MA" dirty="0"/>
              <a:t> si les IA remplacent certains services.</a:t>
            </a:r>
          </a:p>
          <a:p>
            <a:r>
              <a:rPr lang="fr-MA" dirty="0"/>
              <a:t>➤ Ces chiffres rappellent que l’IA ne doit pas remplacer l’humain, mais </a:t>
            </a:r>
            <a:r>
              <a:rPr lang="fr-MA" b="1" dirty="0"/>
              <a:t>le renforcer</a:t>
            </a:r>
            <a:r>
              <a:rPr lang="fr-MA" dirty="0"/>
              <a:t>. 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79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Un lancement historique : plus d’un million d’utilisateurs en 5 jours</a:t>
            </a:r>
          </a:p>
          <a:p>
            <a:r>
              <a:rPr lang="fr-MA" dirty="0"/>
              <a:t>« </a:t>
            </a:r>
            <a:r>
              <a:rPr lang="fr-MA" dirty="0" err="1"/>
              <a:t>ChatGPT</a:t>
            </a:r>
            <a:r>
              <a:rPr lang="fr-MA" dirty="0"/>
              <a:t> a été lancé en </a:t>
            </a:r>
            <a:r>
              <a:rPr lang="fr-MA" b="1" dirty="0"/>
              <a:t>novembre 2022</a:t>
            </a:r>
            <a:r>
              <a:rPr lang="fr-MA" dirty="0"/>
              <a:t> par </a:t>
            </a:r>
            <a:r>
              <a:rPr lang="fr-MA" b="1" dirty="0" err="1"/>
              <a:t>OpenAI</a:t>
            </a:r>
            <a:r>
              <a:rPr lang="fr-MA" dirty="0"/>
              <a:t>, et il a battu tous les records :</a:t>
            </a:r>
            <a:br>
              <a:rPr lang="fr-MA" dirty="0"/>
            </a:br>
            <a:r>
              <a:rPr lang="fr-MA" dirty="0"/>
              <a:t>plus d’un million d’utilisateurs en seulement </a:t>
            </a:r>
            <a:r>
              <a:rPr lang="fr-MA" b="1" dirty="0"/>
              <a:t>cinq jours</a:t>
            </a:r>
            <a:r>
              <a:rPr lang="fr-MA" dirty="0"/>
              <a:t> !</a:t>
            </a:r>
          </a:p>
          <a:p>
            <a:r>
              <a:rPr lang="fr-MA" dirty="0"/>
              <a:t>➤ Pour comparaison :</a:t>
            </a:r>
          </a:p>
          <a:p>
            <a:r>
              <a:rPr lang="fr-MA" dirty="0"/>
              <a:t>Netflix a mis </a:t>
            </a:r>
            <a:r>
              <a:rPr lang="fr-MA" b="1" dirty="0"/>
              <a:t>3 ans</a:t>
            </a:r>
            <a:r>
              <a:rPr lang="fr-MA" dirty="0"/>
              <a:t> pour atteindre 1 million d’utilisateurs,</a:t>
            </a:r>
          </a:p>
          <a:p>
            <a:r>
              <a:rPr lang="fr-MA" dirty="0"/>
              <a:t>Facebook : </a:t>
            </a:r>
            <a:r>
              <a:rPr lang="fr-MA" b="1" dirty="0"/>
              <a:t>10 mois</a:t>
            </a:r>
            <a:r>
              <a:rPr lang="fr-MA" dirty="0"/>
              <a:t>,</a:t>
            </a:r>
          </a:p>
          <a:p>
            <a:r>
              <a:rPr lang="fr-MA" dirty="0"/>
              <a:t>Instagram : </a:t>
            </a:r>
            <a:r>
              <a:rPr lang="fr-MA" b="1" dirty="0"/>
              <a:t>2 mois</a:t>
            </a:r>
            <a:r>
              <a:rPr lang="fr-MA" dirty="0"/>
              <a:t>,</a:t>
            </a:r>
          </a:p>
          <a:p>
            <a:r>
              <a:rPr lang="fr-MA" dirty="0" err="1"/>
              <a:t>ChatGPT</a:t>
            </a:r>
            <a:r>
              <a:rPr lang="fr-MA" dirty="0"/>
              <a:t> : </a:t>
            </a:r>
            <a:r>
              <a:rPr lang="fr-MA" b="1" dirty="0"/>
              <a:t>5 jours !</a:t>
            </a:r>
            <a:endParaRPr lang="fr-MA" dirty="0"/>
          </a:p>
          <a:p>
            <a:r>
              <a:rPr lang="fr-MA" dirty="0"/>
              <a:t>C’est la </a:t>
            </a:r>
            <a:r>
              <a:rPr lang="fr-MA" b="1" dirty="0"/>
              <a:t>croissance la plus rapide de l’histoire d’Internet</a:t>
            </a:r>
            <a:r>
              <a:rPr lang="fr-MA" dirty="0"/>
              <a:t>, ce qui montre la curiosité et l’enthousiasme mondial pour l’IA générative. »</a:t>
            </a:r>
            <a:endParaRPr lang="fr-FR" dirty="0"/>
          </a:p>
          <a:p>
            <a:endParaRPr lang="fr-FR" dirty="0"/>
          </a:p>
          <a:p>
            <a:r>
              <a:rPr lang="fr-MA" b="1" dirty="0"/>
              <a:t>🔹 2. Les principaux utilisateurs : États-Unis, Inde, Japon, France</a:t>
            </a:r>
          </a:p>
          <a:p>
            <a:r>
              <a:rPr lang="fr-MA" dirty="0"/>
              <a:t>« Les pays qui utilisent le plus </a:t>
            </a:r>
            <a:r>
              <a:rPr lang="fr-MA" dirty="0" err="1"/>
              <a:t>ChatGPT</a:t>
            </a:r>
            <a:r>
              <a:rPr lang="fr-MA" dirty="0"/>
              <a:t> sont les </a:t>
            </a:r>
            <a:r>
              <a:rPr lang="fr-MA" b="1" dirty="0"/>
              <a:t>États-Unis</a:t>
            </a:r>
            <a:r>
              <a:rPr lang="fr-MA" dirty="0"/>
              <a:t>, l’</a:t>
            </a:r>
            <a:r>
              <a:rPr lang="fr-MA" b="1" dirty="0"/>
              <a:t>Inde</a:t>
            </a:r>
            <a:r>
              <a:rPr lang="fr-MA" dirty="0"/>
              <a:t>, le </a:t>
            </a:r>
            <a:r>
              <a:rPr lang="fr-MA" b="1" dirty="0"/>
              <a:t>Japon</a:t>
            </a:r>
            <a:r>
              <a:rPr lang="fr-MA" dirty="0"/>
              <a:t> et la </a:t>
            </a:r>
            <a:r>
              <a:rPr lang="fr-MA" b="1" dirty="0"/>
              <a:t>France</a:t>
            </a:r>
            <a:r>
              <a:rPr lang="fr-MA" dirty="0"/>
              <a:t>.</a:t>
            </a:r>
          </a:p>
          <a:p>
            <a:r>
              <a:rPr lang="fr-MA" dirty="0"/>
              <a:t>Ces pays ont un écosystème numérique très développé, avec beaucoup d’étudiants, de chercheurs et de professionnels du marketing et de la technologie.</a:t>
            </a:r>
          </a:p>
          <a:p>
            <a:r>
              <a:rPr lang="fr-MA" dirty="0"/>
              <a:t>➤ En France, </a:t>
            </a:r>
            <a:r>
              <a:rPr lang="fr-MA" dirty="0" err="1"/>
              <a:t>ChatGPT</a:t>
            </a:r>
            <a:r>
              <a:rPr lang="fr-MA" dirty="0"/>
              <a:t> est utilisé dans l’éducation, la recherche, les médias, mais aussi dans les entreprises pour rédiger des rapports, créer du contenu ou analyser des données.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dirty="0"/>
              <a:t>3.« L’un des points forts de </a:t>
            </a:r>
            <a:r>
              <a:rPr lang="fr-MA" dirty="0" err="1"/>
              <a:t>ChatGPT</a:t>
            </a:r>
            <a:r>
              <a:rPr lang="fr-MA" dirty="0"/>
              <a:t>, c’est sa </a:t>
            </a:r>
            <a:r>
              <a:rPr lang="fr-MA" b="1" dirty="0"/>
              <a:t>portée mondiale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Il est </a:t>
            </a:r>
            <a:r>
              <a:rPr lang="fr-MA" b="1" dirty="0"/>
              <a:t>accessible dans 161 pays</a:t>
            </a:r>
            <a:r>
              <a:rPr lang="fr-MA" dirty="0"/>
              <a:t> et fonctionne en </a:t>
            </a:r>
            <a:r>
              <a:rPr lang="fr-MA" b="1" dirty="0"/>
              <a:t>95 langues différentes</a:t>
            </a:r>
            <a:r>
              <a:rPr lang="fr-MA" dirty="0"/>
              <a:t>.</a:t>
            </a:r>
          </a:p>
          <a:p>
            <a:r>
              <a:rPr lang="fr-MA" dirty="0"/>
              <a:t>Cela en fait </a:t>
            </a:r>
            <a:r>
              <a:rPr lang="fr-MA" b="1" dirty="0"/>
              <a:t>l’un des outils d’IA les plus inclusifs jamais créés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Il permet à des millions de personnes, quelle que soit leur langue, d’accéder à une forme d’assistance intelligente.</a:t>
            </a:r>
          </a:p>
          <a:p>
            <a:r>
              <a:rPr lang="fr-MA" dirty="0"/>
              <a:t>➤ C’est une véritable révolution dans la </a:t>
            </a:r>
            <a:r>
              <a:rPr lang="fr-MA" b="1" dirty="0"/>
              <a:t>démocratisation du savoir</a:t>
            </a:r>
            <a:r>
              <a:rPr lang="fr-MA" dirty="0"/>
              <a:t>. »</a:t>
            </a:r>
          </a:p>
          <a:p>
            <a:endParaRPr lang="fr-MA" dirty="0"/>
          </a:p>
          <a:p>
            <a:endParaRPr lang="fr-MA" dirty="0"/>
          </a:p>
          <a:p>
            <a:r>
              <a:rPr lang="fr-MA" b="1" dirty="0"/>
              <a:t>🔹 4. </a:t>
            </a:r>
            <a:r>
              <a:rPr lang="fr-MA" b="1" dirty="0" err="1"/>
              <a:t>ChatGPT</a:t>
            </a:r>
            <a:r>
              <a:rPr lang="fr-MA" b="1" dirty="0"/>
              <a:t> reste interdit dans certains pays</a:t>
            </a:r>
          </a:p>
          <a:p>
            <a:r>
              <a:rPr lang="fr-MA" dirty="0"/>
              <a:t>« Malgré son succès, </a:t>
            </a:r>
            <a:r>
              <a:rPr lang="fr-MA" dirty="0" err="1"/>
              <a:t>ChatGPT</a:t>
            </a:r>
            <a:r>
              <a:rPr lang="fr-MA" dirty="0"/>
              <a:t> est </a:t>
            </a:r>
            <a:r>
              <a:rPr lang="fr-MA" b="1" dirty="0"/>
              <a:t>interdit dans plusieurs pays</a:t>
            </a:r>
            <a:r>
              <a:rPr lang="fr-MA" dirty="0"/>
              <a:t> comme la Chine, la Russie, la Corée du Nord, l’Iran, Cuba, ou encore la Syrie.</a:t>
            </a:r>
          </a:p>
          <a:p>
            <a:r>
              <a:rPr lang="fr-MA" dirty="0"/>
              <a:t>Les raisons sont souvent </a:t>
            </a:r>
            <a:r>
              <a:rPr lang="fr-MA" b="1" dirty="0"/>
              <a:t>politiques ou réglementaires</a:t>
            </a:r>
            <a:r>
              <a:rPr lang="fr-MA" dirty="0"/>
              <a:t> :</a:t>
            </a:r>
          </a:p>
          <a:p>
            <a:r>
              <a:rPr lang="fr-MA" dirty="0"/>
              <a:t>contrôle des données,</a:t>
            </a:r>
          </a:p>
          <a:p>
            <a:r>
              <a:rPr lang="fr-MA" dirty="0"/>
              <a:t>protection de la vie privée,</a:t>
            </a:r>
          </a:p>
          <a:p>
            <a:r>
              <a:rPr lang="fr-MA" dirty="0"/>
              <a:t>➤ Cela illustre la tension entre la </a:t>
            </a:r>
            <a:r>
              <a:rPr lang="fr-MA" b="1" dirty="0"/>
              <a:t>puissance technologique mondiale</a:t>
            </a:r>
            <a:r>
              <a:rPr lang="fr-MA" dirty="0"/>
              <a:t> de l’IA et les </a:t>
            </a:r>
            <a:r>
              <a:rPr lang="fr-MA" b="1" dirty="0"/>
              <a:t>questions éthiques et géopolitiques</a:t>
            </a:r>
            <a:r>
              <a:rPr lang="fr-MA" dirty="0"/>
              <a:t> qu’elle soulève. »</a:t>
            </a:r>
          </a:p>
          <a:p>
            <a:endParaRPr lang="fr-MA" dirty="0"/>
          </a:p>
          <a:p>
            <a:r>
              <a:rPr lang="fr-MA" b="1" dirty="0"/>
              <a:t>🔹 5. Impact économique et professionnel</a:t>
            </a:r>
          </a:p>
          <a:p>
            <a:r>
              <a:rPr lang="fr-MA" dirty="0"/>
              <a:t>« D’un point de vue économique, </a:t>
            </a:r>
            <a:r>
              <a:rPr lang="fr-MA" dirty="0" err="1"/>
              <a:t>ChatGPT</a:t>
            </a:r>
            <a:r>
              <a:rPr lang="fr-MA" dirty="0"/>
              <a:t> est déjà un outil stratégique :</a:t>
            </a:r>
          </a:p>
          <a:p>
            <a:r>
              <a:rPr lang="fr-MA" b="1" dirty="0"/>
              <a:t>97 % des dirigeants d’entreprises</a:t>
            </a:r>
            <a:r>
              <a:rPr lang="fr-MA" dirty="0"/>
              <a:t> estiment qu’il peut </a:t>
            </a:r>
            <a:r>
              <a:rPr lang="fr-MA" b="1" dirty="0"/>
              <a:t>améliorer leurs activités</a:t>
            </a:r>
            <a:r>
              <a:rPr lang="fr-MA" dirty="0"/>
              <a:t>,</a:t>
            </a:r>
          </a:p>
          <a:p>
            <a:r>
              <a:rPr lang="fr-MA" dirty="0"/>
              <a:t>et </a:t>
            </a:r>
            <a:r>
              <a:rPr lang="fr-MA" b="1" dirty="0"/>
              <a:t>69 % des marketeurs</a:t>
            </a:r>
            <a:r>
              <a:rPr lang="fr-MA" dirty="0"/>
              <a:t> l’utilisent régulièrement.</a:t>
            </a:r>
          </a:p>
          <a:p>
            <a:r>
              <a:rPr lang="fr-MA" dirty="0"/>
              <a:t>➤ Cela veut dire que </a:t>
            </a:r>
            <a:r>
              <a:rPr lang="fr-MA" dirty="0" err="1"/>
              <a:t>ChatGPT</a:t>
            </a:r>
            <a:r>
              <a:rPr lang="fr-MA" dirty="0"/>
              <a:t> n’est plus un simple gadget : c’est </a:t>
            </a:r>
            <a:r>
              <a:rPr lang="fr-MA" b="1" dirty="0"/>
              <a:t>un levier de performance et de productivité</a:t>
            </a:r>
            <a:r>
              <a:rPr lang="fr-MA" dirty="0"/>
              <a:t>. »</a:t>
            </a:r>
          </a:p>
          <a:p>
            <a:r>
              <a:rPr lang="fr-MA" dirty="0"/>
              <a:t>💼 </a:t>
            </a:r>
            <a:r>
              <a:rPr lang="fr-MA" i="1" dirty="0"/>
              <a:t>Exemples d’usages professionnels :</a:t>
            </a:r>
            <a:endParaRPr lang="fr-MA" dirty="0"/>
          </a:p>
          <a:p>
            <a:r>
              <a:rPr lang="fr-MA" dirty="0"/>
              <a:t>Génération automatique de textes et d’e-mails,</a:t>
            </a:r>
          </a:p>
          <a:p>
            <a:r>
              <a:rPr lang="fr-MA" dirty="0"/>
              <a:t>Création de présentations ou de campagnes marketing,</a:t>
            </a:r>
          </a:p>
          <a:p>
            <a:r>
              <a:rPr lang="fr-MA" dirty="0"/>
              <a:t>Traduction et résumé de documents,</a:t>
            </a:r>
          </a:p>
          <a:p>
            <a:r>
              <a:rPr lang="fr-MA" dirty="0"/>
              <a:t>Analyse de feedbacks clients, etc.</a:t>
            </a:r>
          </a:p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926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2439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Meilleurs diagnostics</a:t>
            </a:r>
          </a:p>
          <a:p>
            <a:r>
              <a:rPr lang="fr-MA" dirty="0"/>
              <a:t>« L’un des apports majeurs de l’IA dans la médecine, c’est l’amélioration du </a:t>
            </a:r>
            <a:r>
              <a:rPr lang="fr-MA" b="1" dirty="0"/>
              <a:t>diagnostic médical</a:t>
            </a:r>
            <a:r>
              <a:rPr lang="fr-MA" dirty="0"/>
              <a:t>.</a:t>
            </a:r>
          </a:p>
          <a:p>
            <a:r>
              <a:rPr lang="fr-MA" dirty="0"/>
              <a:t>Grâce aux algorithmes de reconnaissance d’images, l’IA est capable d’analyser </a:t>
            </a:r>
            <a:r>
              <a:rPr lang="fr-MA" b="1" dirty="0"/>
              <a:t>des radiographies, des scanners, ou des IRM</a:t>
            </a:r>
            <a:r>
              <a:rPr lang="fr-MA" dirty="0"/>
              <a:t> et de détecter des anomalies que l’œil humain pourrait parfois manquer.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Des systèmes comme </a:t>
            </a:r>
            <a:r>
              <a:rPr lang="fr-MA" b="1" dirty="0"/>
              <a:t>Google DeepMind</a:t>
            </a:r>
            <a:r>
              <a:rPr lang="fr-MA" dirty="0"/>
              <a:t> détectent certains cancers avec une précision supérieure à celle de nombreux radiologues.</a:t>
            </a:r>
          </a:p>
          <a:p>
            <a:r>
              <a:rPr lang="fr-MA" dirty="0"/>
              <a:t>L’IA peut repérer des micro-anomalies sur des images pulmonaires, oculaires ou dermatologiques avant même l’apparition des symptômes visibles.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Traitements personnalisés</a:t>
            </a:r>
          </a:p>
          <a:p>
            <a:r>
              <a:rPr lang="fr-MA" dirty="0"/>
              <a:t>« Deuxième usage : les </a:t>
            </a:r>
            <a:r>
              <a:rPr lang="fr-MA" b="1" dirty="0"/>
              <a:t>traitements personnalisés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L’IA aide les médecins à proposer </a:t>
            </a:r>
            <a:r>
              <a:rPr lang="fr-MA" b="1" dirty="0"/>
              <a:t>des soins adaptés à chaque patient</a:t>
            </a:r>
            <a:r>
              <a:rPr lang="fr-MA" dirty="0"/>
              <a:t>, en analysant des données complexes :</a:t>
            </a:r>
            <a:br>
              <a:rPr lang="fr-MA" dirty="0"/>
            </a:br>
            <a:r>
              <a:rPr lang="fr-MA" dirty="0"/>
              <a:t>antécédents médicaux, analyses de sang, mode de vie, âge, génétique, etc.</a:t>
            </a:r>
          </a:p>
          <a:p>
            <a:r>
              <a:rPr lang="fr-MA" dirty="0"/>
              <a:t>➤ Concrètement :</a:t>
            </a:r>
          </a:p>
          <a:p>
            <a:r>
              <a:rPr lang="fr-MA" dirty="0"/>
              <a:t>Dans le domaine du cancer, certaines IA proposent </a:t>
            </a:r>
            <a:r>
              <a:rPr lang="fr-MA" b="1" dirty="0"/>
              <a:t>des protocoles de chimiothérapie individualisés</a:t>
            </a:r>
            <a:r>
              <a:rPr lang="fr-MA" dirty="0"/>
              <a:t> selon le profil du patient.</a:t>
            </a:r>
          </a:p>
          <a:p>
            <a:endParaRPr lang="fr-MA" dirty="0"/>
          </a:p>
          <a:p>
            <a:r>
              <a:rPr lang="fr-MA" dirty="0"/>
              <a:t>C’est ce qu’on appelle la </a:t>
            </a:r>
            <a:r>
              <a:rPr lang="fr-MA" b="1" dirty="0"/>
              <a:t>médecine de précision</a:t>
            </a:r>
            <a:r>
              <a:rPr lang="fr-MA" dirty="0"/>
              <a:t> : un traitement unique pour chaque individu. »</a:t>
            </a:r>
          </a:p>
          <a:p>
            <a:r>
              <a:rPr lang="fr-MA" dirty="0"/>
              <a:t>🧠 </a:t>
            </a:r>
            <a:r>
              <a:rPr lang="fr-MA" i="1" dirty="0"/>
              <a:t>Note pédagogique :</a:t>
            </a:r>
          </a:p>
          <a:p>
            <a:endParaRPr lang="fr-MA" dirty="0"/>
          </a:p>
          <a:p>
            <a:r>
              <a:rPr lang="fr-MA" dirty="0"/>
              <a:t>Souligner que l’IA ne remplace pas le jugement clinique, mais l’enrichit par l’analyse de grandes masses de données.</a:t>
            </a:r>
            <a:br>
              <a:rPr lang="fr-MA" dirty="0"/>
            </a:br>
            <a:br>
              <a:rPr lang="fr-MA" dirty="0"/>
            </a:br>
            <a:endParaRPr lang="fr-MA" dirty="0"/>
          </a:p>
          <a:p>
            <a:r>
              <a:rPr lang="fr-MA" b="1" dirty="0"/>
              <a:t>🔹 3. Prévention des maladies</a:t>
            </a:r>
          </a:p>
          <a:p>
            <a:r>
              <a:rPr lang="fr-MA" dirty="0"/>
              <a:t>« Troisième application : la </a:t>
            </a:r>
            <a:r>
              <a:rPr lang="fr-MA" b="1" dirty="0"/>
              <a:t>prévention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L’IA peut analyser les données démographiques, les antécédents familiaux, les habitudes alimentaires ou le niveau d’activité physique pour </a:t>
            </a:r>
            <a:r>
              <a:rPr lang="fr-MA" b="1" dirty="0"/>
              <a:t>anticiper les risques de maladies chroniques</a:t>
            </a:r>
            <a:r>
              <a:rPr lang="fr-MA" dirty="0"/>
              <a:t>.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Détection précoce du </a:t>
            </a:r>
            <a:r>
              <a:rPr lang="fr-MA" b="1" dirty="0"/>
              <a:t>diabète</a:t>
            </a:r>
            <a:r>
              <a:rPr lang="fr-MA" dirty="0"/>
              <a:t>, de l’</a:t>
            </a:r>
            <a:r>
              <a:rPr lang="fr-MA" b="1" dirty="0"/>
              <a:t>hypertension</a:t>
            </a:r>
            <a:r>
              <a:rPr lang="fr-MA" dirty="0"/>
              <a:t> ou de maladies cardiovasculaires.</a:t>
            </a:r>
          </a:p>
          <a:p>
            <a:r>
              <a:rPr lang="fr-MA" dirty="0"/>
              <a:t>Les montres connectées utilisent l’IA pour </a:t>
            </a:r>
            <a:r>
              <a:rPr lang="fr-MA" b="1" dirty="0"/>
              <a:t>surveiller le rythme cardiaque</a:t>
            </a:r>
            <a:r>
              <a:rPr lang="fr-MA" dirty="0"/>
              <a:t> et </a:t>
            </a:r>
            <a:r>
              <a:rPr lang="fr-MA" b="1" dirty="0"/>
              <a:t>alerter les utilisateurs</a:t>
            </a:r>
            <a:r>
              <a:rPr lang="fr-MA" dirty="0"/>
              <a:t> en cas d’anomalie.</a:t>
            </a:r>
          </a:p>
          <a:p>
            <a:r>
              <a:rPr lang="fr-MA" dirty="0"/>
              <a:t>Ces outils permettent d’intervenir </a:t>
            </a:r>
            <a:r>
              <a:rPr lang="fr-MA" b="1" dirty="0"/>
              <a:t>avant</a:t>
            </a:r>
            <a:r>
              <a:rPr lang="fr-MA" dirty="0"/>
              <a:t> que la maladie ne se déclare. 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269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Investissement</a:t>
            </a:r>
          </a:p>
          <a:p>
            <a:r>
              <a:rPr lang="fr-MA" dirty="0"/>
              <a:t>« L’IA est utilisée pour </a:t>
            </a:r>
            <a:r>
              <a:rPr lang="fr-MA" b="1" dirty="0"/>
              <a:t>analyser d’énormes volumes de données financières</a:t>
            </a:r>
            <a:r>
              <a:rPr lang="fr-MA" dirty="0"/>
              <a:t> afin d’identifier des opportunités d’investissement.</a:t>
            </a:r>
          </a:p>
          <a:p>
            <a:r>
              <a:rPr lang="fr-MA" dirty="0"/>
              <a:t>➤ Concrètement, les algorithmes de Machine Learning peuvent :</a:t>
            </a:r>
          </a:p>
          <a:p>
            <a:r>
              <a:rPr lang="fr-MA" dirty="0"/>
              <a:t>prédire les tendances boursières,</a:t>
            </a:r>
          </a:p>
          <a:p>
            <a:r>
              <a:rPr lang="fr-MA" dirty="0"/>
              <a:t>analyser le comportement des marchés,</a:t>
            </a:r>
          </a:p>
          <a:p>
            <a:r>
              <a:rPr lang="fr-MA" dirty="0"/>
              <a:t>ou encore détecter les signaux faibles qu’un humain pourrait négliger.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Gestion des risques</a:t>
            </a:r>
          </a:p>
          <a:p>
            <a:r>
              <a:rPr lang="fr-MA" dirty="0"/>
              <a:t>« L’un des usages les plus puissants de l’IA dans la finance est la </a:t>
            </a:r>
            <a:r>
              <a:rPr lang="fr-MA" b="1" dirty="0"/>
              <a:t>gestion des risques</a:t>
            </a:r>
            <a:r>
              <a:rPr lang="fr-MA" dirty="0"/>
              <a:t>.</a:t>
            </a:r>
          </a:p>
          <a:p>
            <a:r>
              <a:rPr lang="fr-MA" dirty="0"/>
              <a:t>Les banques et les compagnies d’assurance s’appuient sur l’IA pour </a:t>
            </a:r>
            <a:r>
              <a:rPr lang="fr-MA" b="1" dirty="0"/>
              <a:t>évaluer les risques de crédit, de fraude ou de marché</a:t>
            </a:r>
            <a:r>
              <a:rPr lang="fr-MA" dirty="0"/>
              <a:t>.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Les banques utilisent l’IA pour </a:t>
            </a:r>
            <a:r>
              <a:rPr lang="fr-MA" b="1" dirty="0"/>
              <a:t>analyser les comportements de paiement</a:t>
            </a:r>
            <a:r>
              <a:rPr lang="fr-MA" dirty="0"/>
              <a:t> et déterminer si un client présente un risque d’endettement.</a:t>
            </a:r>
          </a:p>
          <a:p>
            <a:r>
              <a:rPr lang="fr-MA" dirty="0"/>
              <a:t>Les systèmes de détection de fraude repèrent en temps réel </a:t>
            </a:r>
            <a:r>
              <a:rPr lang="fr-MA" b="1" dirty="0"/>
              <a:t>des transactions suspectes</a:t>
            </a:r>
            <a:r>
              <a:rPr lang="fr-MA" dirty="0"/>
              <a:t> et bloquent automatiquement les opérations à risque.</a:t>
            </a:r>
          </a:p>
          <a:p>
            <a:r>
              <a:rPr lang="fr-MA" dirty="0"/>
              <a:t>L’objectif est double : </a:t>
            </a:r>
            <a:r>
              <a:rPr lang="fr-MA" b="1" dirty="0"/>
              <a:t>protéger les actifs</a:t>
            </a:r>
            <a:r>
              <a:rPr lang="fr-MA" dirty="0"/>
              <a:t> et </a:t>
            </a:r>
            <a:r>
              <a:rPr lang="fr-MA" b="1" dirty="0"/>
              <a:t>réduire les pertes</a:t>
            </a:r>
            <a:r>
              <a:rPr lang="fr-MA" dirty="0"/>
              <a:t>. »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Conformité réglementaire</a:t>
            </a:r>
          </a:p>
          <a:p>
            <a:r>
              <a:rPr lang="fr-MA" dirty="0"/>
              <a:t>« L’IA aide aussi les entreprises à rester </a:t>
            </a:r>
            <a:r>
              <a:rPr lang="fr-MA" b="1" dirty="0"/>
              <a:t>en conformité avec les lois et les règlements</a:t>
            </a:r>
            <a:r>
              <a:rPr lang="fr-MA" dirty="0"/>
              <a:t>.</a:t>
            </a:r>
          </a:p>
          <a:p>
            <a:r>
              <a:rPr lang="fr-MA" dirty="0"/>
              <a:t>Les institutions financières sont soumises à des contrôles très stricts : lutte contre le blanchiment d’argent, financement du terrorisme, protection des données, etc.</a:t>
            </a:r>
          </a:p>
          <a:p>
            <a:r>
              <a:rPr lang="fr-MA" dirty="0"/>
              <a:t>➤ Les algorithmes permettent d’analyser les données réglementaires, d’alerter en cas d’anomalie et d’éviter les </a:t>
            </a:r>
            <a:r>
              <a:rPr lang="fr-MA" b="1" dirty="0"/>
              <a:t>sanctions financières</a:t>
            </a:r>
            <a:r>
              <a:rPr lang="fr-MA" dirty="0"/>
              <a:t>.</a:t>
            </a:r>
          </a:p>
          <a:p>
            <a:r>
              <a:rPr lang="fr-MA" dirty="0"/>
              <a:t>C’est ce qu’on appelle la </a:t>
            </a:r>
            <a:r>
              <a:rPr lang="fr-MA" b="1" dirty="0" err="1"/>
              <a:t>RegTech</a:t>
            </a:r>
            <a:r>
              <a:rPr lang="fr-MA" dirty="0"/>
              <a:t> – la technologie au service de la régulation. »</a:t>
            </a:r>
          </a:p>
          <a:p>
            <a:endParaRPr lang="fr-MA" dirty="0"/>
          </a:p>
          <a:p>
            <a:r>
              <a:rPr lang="fr-MA" dirty="0"/>
              <a:t>Donner un exemple :</a:t>
            </a:r>
            <a:br>
              <a:rPr lang="fr-MA" dirty="0"/>
            </a:br>
            <a:r>
              <a:rPr lang="fr-MA" dirty="0"/>
              <a:t>« Les banques marocaines comme Attijariwafa Bank ou BMCE utilisent des solutions d’IA pour surveiller les flux financiers et détecter des comportements suspects.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4. Service client</a:t>
            </a:r>
          </a:p>
          <a:p>
            <a:endParaRPr lang="fr-MA" b="1" dirty="0"/>
          </a:p>
          <a:p>
            <a:r>
              <a:rPr lang="fr-MA" dirty="0"/>
              <a:t>« Enfin, l’IA transforme complètement la </a:t>
            </a:r>
            <a:r>
              <a:rPr lang="fr-MA" b="1" dirty="0"/>
              <a:t>relation client</a:t>
            </a:r>
            <a:r>
              <a:rPr lang="fr-MA" dirty="0"/>
              <a:t> dans le secteur financier.</a:t>
            </a:r>
          </a:p>
          <a:p>
            <a:endParaRPr lang="fr-MA" dirty="0"/>
          </a:p>
          <a:p>
            <a:r>
              <a:rPr lang="fr-MA" dirty="0"/>
              <a:t>➤ Grâce aux </a:t>
            </a:r>
            <a:r>
              <a:rPr lang="fr-MA" dirty="0" err="1"/>
              <a:t>chatbots</a:t>
            </a:r>
            <a:r>
              <a:rPr lang="fr-MA" dirty="0"/>
              <a:t> et aux assistants virtuels, les banques offrent désormais un </a:t>
            </a:r>
            <a:r>
              <a:rPr lang="fr-MA" b="1" dirty="0"/>
              <a:t>service client 24h/24 et 7j/7</a:t>
            </a:r>
            <a:r>
              <a:rPr lang="fr-MA" dirty="0"/>
              <a:t>.</a:t>
            </a:r>
          </a:p>
          <a:p>
            <a:r>
              <a:rPr lang="fr-MA" dirty="0"/>
              <a:t>Ces outils peuvent répondre aux questions des clients, effectuer des transactions simples ou recommander des produits financiers adaptés.</a:t>
            </a:r>
          </a:p>
          <a:p>
            <a:r>
              <a:rPr lang="fr-MA" dirty="0"/>
              <a:t>➤ Cela permet de </a:t>
            </a:r>
            <a:r>
              <a:rPr lang="fr-MA" b="1" dirty="0"/>
              <a:t>réduire les coûts de gestion</a:t>
            </a:r>
            <a:r>
              <a:rPr lang="fr-MA" dirty="0"/>
              <a:t> tout en </a:t>
            </a:r>
            <a:r>
              <a:rPr lang="fr-MA" b="1" dirty="0"/>
              <a:t>améliorant la satisfaction client.</a:t>
            </a:r>
            <a:r>
              <a:rPr lang="fr-MA" dirty="0"/>
              <a:t> »</a:t>
            </a:r>
          </a:p>
          <a:p>
            <a:endParaRPr lang="fr-MA" dirty="0"/>
          </a:p>
          <a:p>
            <a:r>
              <a:rPr lang="fr-MA" dirty="0"/>
              <a:t>« Des banques comme la Société Générale ou Bank of America utilisent déjà des assistants IA comme “Erica”, qui aide les clients à suivre leurs dépenses et à planifier leur budget. »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641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Gestion des stocks</a:t>
            </a:r>
          </a:p>
          <a:p>
            <a:r>
              <a:rPr lang="fr-MA" dirty="0"/>
              <a:t>grâce à l’IA, il est possible d’</a:t>
            </a:r>
            <a:r>
              <a:rPr lang="fr-MA" b="1" dirty="0"/>
              <a:t>analyser automatiquement des millions de données de vente, de production et de météo</a:t>
            </a:r>
            <a:r>
              <a:rPr lang="fr-MA" dirty="0"/>
              <a:t> pour prédire la demande future.</a:t>
            </a:r>
          </a:p>
          <a:p>
            <a:r>
              <a:rPr lang="fr-MA" dirty="0"/>
              <a:t>➤ Cela permet :</a:t>
            </a:r>
          </a:p>
          <a:p>
            <a:r>
              <a:rPr lang="fr-MA" dirty="0"/>
              <a:t>de maintenir les bons niveaux de stock,</a:t>
            </a:r>
          </a:p>
          <a:p>
            <a:r>
              <a:rPr lang="fr-MA" dirty="0"/>
              <a:t>d’éviter les ruptures de produits,</a:t>
            </a:r>
          </a:p>
          <a:p>
            <a:r>
              <a:rPr lang="fr-MA" dirty="0"/>
              <a:t>et de réduire les pertes liées au surstockage.</a:t>
            </a:r>
          </a:p>
          <a:p>
            <a:r>
              <a:rPr lang="fr-MA" dirty="0"/>
              <a:t>En somme, l’IA aide les entreprises à </a:t>
            </a:r>
            <a:r>
              <a:rPr lang="fr-MA" b="1" dirty="0"/>
              <a:t>trouver l’équilibre parfait entre offre et demande.</a:t>
            </a:r>
            <a:r>
              <a:rPr lang="fr-MA" dirty="0"/>
              <a:t> »</a:t>
            </a:r>
          </a:p>
          <a:p>
            <a:endParaRPr lang="fr-MA" dirty="0"/>
          </a:p>
          <a:p>
            <a:r>
              <a:rPr lang="fr-MA" dirty="0"/>
              <a:t>📦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Amazon</a:t>
            </a:r>
            <a:r>
              <a:rPr lang="fr-MA" dirty="0"/>
              <a:t> utilise des algorithmes d’IA pour anticiper ce que les clients vont acheter avant même qu’ils ne passent commande.</a:t>
            </a:r>
          </a:p>
          <a:p>
            <a:r>
              <a:rPr lang="fr-MA" dirty="0"/>
              <a:t>Les supermarchés comme </a:t>
            </a:r>
            <a:r>
              <a:rPr lang="fr-MA" b="1" dirty="0"/>
              <a:t>Carrefour</a:t>
            </a:r>
            <a:r>
              <a:rPr lang="fr-MA" dirty="0"/>
              <a:t> utilisent l’IA pour ajuster automatiquement les commandes en fonction des ventes et des saisons.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Planification d’itinéraires</a:t>
            </a:r>
          </a:p>
          <a:p>
            <a:endParaRPr lang="fr-MA" dirty="0"/>
          </a:p>
          <a:p>
            <a:r>
              <a:rPr lang="fr-MA" dirty="0"/>
              <a:t>Les algorithmes analysent en temps réel :</a:t>
            </a:r>
          </a:p>
          <a:p>
            <a:r>
              <a:rPr lang="fr-MA" dirty="0"/>
              <a:t>le </a:t>
            </a:r>
            <a:r>
              <a:rPr lang="fr-MA" b="1" dirty="0"/>
              <a:t>trafic routier</a:t>
            </a:r>
            <a:r>
              <a:rPr lang="fr-MA" dirty="0"/>
              <a:t>,</a:t>
            </a:r>
          </a:p>
          <a:p>
            <a:r>
              <a:rPr lang="fr-MA" dirty="0"/>
              <a:t>les </a:t>
            </a:r>
            <a:r>
              <a:rPr lang="fr-MA" b="1" dirty="0"/>
              <a:t>conditions météorologiques</a:t>
            </a:r>
            <a:r>
              <a:rPr lang="fr-MA" dirty="0"/>
              <a:t>,</a:t>
            </a:r>
          </a:p>
          <a:p>
            <a:r>
              <a:rPr lang="fr-MA" dirty="0"/>
              <a:t>et même les </a:t>
            </a:r>
            <a:r>
              <a:rPr lang="fr-MA" b="1" dirty="0"/>
              <a:t>horaires de livraison</a:t>
            </a:r>
            <a:r>
              <a:rPr lang="fr-MA" dirty="0"/>
              <a:t> des clients.</a:t>
            </a:r>
          </a:p>
          <a:p>
            <a:r>
              <a:rPr lang="fr-MA" dirty="0"/>
              <a:t>➤ Cela permet de choisir </a:t>
            </a:r>
            <a:r>
              <a:rPr lang="fr-MA" b="1" dirty="0"/>
              <a:t>le chemin le plus rapide et le plus économique</a:t>
            </a:r>
            <a:r>
              <a:rPr lang="fr-MA" dirty="0"/>
              <a:t>, ce qui réduit :</a:t>
            </a:r>
          </a:p>
          <a:p>
            <a:r>
              <a:rPr lang="fr-MA" dirty="0"/>
              <a:t>la consommation de carburant,</a:t>
            </a:r>
          </a:p>
          <a:p>
            <a:r>
              <a:rPr lang="fr-MA" dirty="0"/>
              <a:t>les retards de livraison,</a:t>
            </a:r>
          </a:p>
          <a:p>
            <a:r>
              <a:rPr lang="fr-MA" dirty="0"/>
              <a:t>et les coûts logistiques. »</a:t>
            </a:r>
          </a:p>
          <a:p>
            <a:endParaRPr lang="fr-MA" dirty="0"/>
          </a:p>
          <a:p>
            <a:r>
              <a:rPr lang="fr-MA" dirty="0"/>
              <a:t>🚛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DHL</a:t>
            </a:r>
            <a:r>
              <a:rPr lang="fr-MA" dirty="0"/>
              <a:t> utilisent des IA qui recalculent les itinéraires de livraison en temps réel pour éviter les embouteillages.</a:t>
            </a:r>
          </a:p>
          <a:p>
            <a:r>
              <a:rPr lang="fr-MA" dirty="0"/>
              <a:t>Les applications comme </a:t>
            </a:r>
            <a:r>
              <a:rPr lang="fr-MA" b="1" dirty="0"/>
              <a:t>Google </a:t>
            </a:r>
            <a:r>
              <a:rPr lang="fr-MA" b="1" dirty="0" err="1"/>
              <a:t>Maps</a:t>
            </a:r>
            <a:r>
              <a:rPr lang="fr-MA" dirty="0"/>
              <a:t>, </a:t>
            </a:r>
            <a:r>
              <a:rPr lang="fr-MA" b="1" dirty="0"/>
              <a:t>Waze</a:t>
            </a:r>
            <a:r>
              <a:rPr lang="fr-MA" dirty="0"/>
              <a:t> ou </a:t>
            </a:r>
            <a:r>
              <a:rPr lang="fr-MA" b="1" dirty="0"/>
              <a:t>Uber</a:t>
            </a:r>
            <a:r>
              <a:rPr lang="fr-MA" dirty="0"/>
              <a:t> reposent également sur ces technologies d’IA pour optimiser les trajets.</a:t>
            </a:r>
          </a:p>
          <a:p>
            <a:br>
              <a:rPr lang="fr-MA" dirty="0"/>
            </a:br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281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Traçabilité des colis</a:t>
            </a:r>
          </a:p>
          <a:p>
            <a:endParaRPr lang="fr-MA" dirty="0"/>
          </a:p>
          <a:p>
            <a:r>
              <a:rPr lang="fr-MA" dirty="0"/>
              <a:t>➤ Concrètement, cela permet de :</a:t>
            </a:r>
          </a:p>
          <a:p>
            <a:r>
              <a:rPr lang="fr-MA" dirty="0"/>
              <a:t>savoir exactement où se trouve le colis,</a:t>
            </a:r>
          </a:p>
          <a:p>
            <a:r>
              <a:rPr lang="fr-MA" dirty="0"/>
              <a:t>anticiper les retards,</a:t>
            </a:r>
          </a:p>
          <a:p>
            <a:r>
              <a:rPr lang="fr-MA" dirty="0"/>
              <a:t>et informer le client automatiquement par notification ou SMS.</a:t>
            </a:r>
          </a:p>
          <a:p>
            <a:r>
              <a:rPr lang="fr-MA" dirty="0"/>
              <a:t>Cela </a:t>
            </a:r>
            <a:r>
              <a:rPr lang="fr-MA" b="1" dirty="0"/>
              <a:t>renforce la transparence</a:t>
            </a:r>
            <a:r>
              <a:rPr lang="fr-MA" dirty="0"/>
              <a:t> et </a:t>
            </a:r>
            <a:r>
              <a:rPr lang="fr-MA" b="1" dirty="0"/>
              <a:t>améliore la satisfaction client</a:t>
            </a:r>
            <a:r>
              <a:rPr lang="fr-MA" dirty="0"/>
              <a:t>. »</a:t>
            </a:r>
          </a:p>
          <a:p>
            <a:endParaRPr lang="fr-MA" dirty="0"/>
          </a:p>
          <a:p>
            <a:r>
              <a:rPr lang="fr-MA" dirty="0"/>
              <a:t>📦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Les sociétés comme </a:t>
            </a:r>
            <a:r>
              <a:rPr lang="fr-MA" b="1" dirty="0"/>
              <a:t>DHL, Amazon ou FedEx</a:t>
            </a:r>
            <a:r>
              <a:rPr lang="fr-MA" dirty="0"/>
              <a:t> utilisent des systèmes d’IA couplés à des capteurs GPS et RFID pour suivre les colis.</a:t>
            </a:r>
          </a:p>
          <a:p>
            <a:r>
              <a:rPr lang="fr-MA" dirty="0"/>
              <a:t>Certaines plateformes marocaines comme </a:t>
            </a:r>
            <a:r>
              <a:rPr lang="fr-MA" b="1" dirty="0"/>
              <a:t>Amana (Poste Maroc)</a:t>
            </a:r>
            <a:r>
              <a:rPr lang="fr-MA" dirty="0"/>
              <a:t> intègrent déjà des solutions similaires pour informer les clients en temps réel.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Prédiction des délais de livraison</a:t>
            </a:r>
          </a:p>
          <a:p>
            <a:r>
              <a:rPr lang="fr-MA" dirty="0"/>
              <a:t>➤ Résultat : l’entreprise peut </a:t>
            </a:r>
            <a:r>
              <a:rPr lang="fr-MA" b="1" dirty="0"/>
              <a:t>prévoir les retards</a:t>
            </a:r>
            <a:r>
              <a:rPr lang="fr-MA" dirty="0"/>
              <a:t> et </a:t>
            </a:r>
            <a:r>
              <a:rPr lang="fr-MA" b="1" dirty="0"/>
              <a:t>ajuster les itinéraires</a:t>
            </a:r>
            <a:r>
              <a:rPr lang="fr-MA" dirty="0"/>
              <a:t> avant même qu’un problème ne survienne.</a:t>
            </a:r>
          </a:p>
          <a:p>
            <a:r>
              <a:rPr lang="fr-MA" dirty="0"/>
              <a:t>Cette capacité prédictive améliore la ponctualité et réduit les plaintes clients.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Sécurité et prévention des fraudes</a:t>
            </a:r>
          </a:p>
          <a:p>
            <a:r>
              <a:rPr lang="fr-MA" dirty="0"/>
              <a:t>« Enfin, l’IA joue un rôle crucial dans la </a:t>
            </a:r>
            <a:r>
              <a:rPr lang="fr-MA" b="1" dirty="0"/>
              <a:t>sécurité logistique</a:t>
            </a:r>
            <a:r>
              <a:rPr lang="fr-MA" dirty="0"/>
              <a:t>.</a:t>
            </a:r>
          </a:p>
          <a:p>
            <a:r>
              <a:rPr lang="fr-MA" dirty="0"/>
              <a:t>Elle permet de détecter :</a:t>
            </a:r>
          </a:p>
          <a:p>
            <a:r>
              <a:rPr lang="fr-MA" dirty="0"/>
              <a:t>les </a:t>
            </a:r>
            <a:r>
              <a:rPr lang="fr-MA" b="1" dirty="0"/>
              <a:t>fraudes</a:t>
            </a:r>
            <a:r>
              <a:rPr lang="fr-MA" dirty="0"/>
              <a:t> (ex. falsification de documents ou de signatures),</a:t>
            </a:r>
          </a:p>
          <a:p>
            <a:r>
              <a:rPr lang="fr-MA" dirty="0"/>
              <a:t>les </a:t>
            </a:r>
            <a:r>
              <a:rPr lang="fr-MA" b="1" dirty="0"/>
              <a:t>incidents de transport</a:t>
            </a:r>
            <a:r>
              <a:rPr lang="fr-MA" dirty="0"/>
              <a:t> (perte, vol, erreur de livraison),</a:t>
            </a:r>
          </a:p>
          <a:p>
            <a:r>
              <a:rPr lang="fr-MA" dirty="0"/>
              <a:t>et les </a:t>
            </a:r>
            <a:r>
              <a:rPr lang="fr-MA" b="1" dirty="0"/>
              <a:t>zones à risque</a:t>
            </a:r>
            <a:r>
              <a:rPr lang="fr-MA" dirty="0"/>
              <a:t> dans la chaîne d’approvisionnement.</a:t>
            </a:r>
          </a:p>
          <a:p>
            <a:endParaRPr lang="fr-MA" dirty="0"/>
          </a:p>
          <a:p>
            <a:endParaRPr lang="fr-MA" dirty="0"/>
          </a:p>
          <a:p>
            <a:r>
              <a:rPr lang="fr-MA" dirty="0"/>
              <a:t>🔒 </a:t>
            </a:r>
            <a:r>
              <a:rPr lang="fr-MA" i="1" dirty="0"/>
              <a:t>Exemple concret :</a:t>
            </a:r>
            <a:endParaRPr lang="fr-MA" dirty="0"/>
          </a:p>
          <a:p>
            <a:r>
              <a:rPr lang="fr-MA" dirty="0"/>
              <a:t>Certaines compagnies utilisent des caméras couplées à l’IA pour </a:t>
            </a:r>
            <a:r>
              <a:rPr lang="fr-MA" b="1" dirty="0"/>
              <a:t>surveiller les entrepôts</a:t>
            </a:r>
            <a:r>
              <a:rPr lang="fr-MA" dirty="0"/>
              <a:t> et </a:t>
            </a:r>
            <a:r>
              <a:rPr lang="fr-MA" b="1" dirty="0"/>
              <a:t>détecter les comportements inhabituels</a:t>
            </a:r>
            <a:r>
              <a:rPr lang="fr-MA" dirty="0"/>
              <a:t>.</a:t>
            </a:r>
          </a:p>
          <a:p>
            <a:r>
              <a:rPr lang="fr-MA" dirty="0"/>
              <a:t>Les entreprises maritimes intègrent l’IA pour </a:t>
            </a:r>
            <a:r>
              <a:rPr lang="fr-MA" b="1" dirty="0"/>
              <a:t>sécuriser les itinéraires des navires contre les zones de piraterie ou de météo extrême.</a:t>
            </a:r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365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Les systèmes de conduite autonome</a:t>
            </a:r>
          </a:p>
          <a:p>
            <a:endParaRPr lang="fr-MA" dirty="0"/>
          </a:p>
          <a:p>
            <a:r>
              <a:rPr lang="fr-MA" dirty="0"/>
              <a:t>➤ Leur objectif est multiple :</a:t>
            </a:r>
          </a:p>
          <a:p>
            <a:r>
              <a:rPr lang="fr-MA" b="1" dirty="0"/>
              <a:t>réduire les accidents</a:t>
            </a:r>
            <a:r>
              <a:rPr lang="fr-MA" dirty="0"/>
              <a:t> liés à l’erreur humaine,</a:t>
            </a:r>
          </a:p>
          <a:p>
            <a:r>
              <a:rPr lang="fr-MA" b="1" dirty="0"/>
              <a:t>fluidifier le trafic</a:t>
            </a:r>
            <a:r>
              <a:rPr lang="fr-MA" dirty="0"/>
              <a:t>,</a:t>
            </a:r>
          </a:p>
          <a:p>
            <a:r>
              <a:rPr lang="fr-MA" dirty="0"/>
              <a:t>et </a:t>
            </a:r>
            <a:r>
              <a:rPr lang="fr-MA" b="1" dirty="0"/>
              <a:t>rendre les transports plus accessibles</a:t>
            </a:r>
            <a:r>
              <a:rPr lang="fr-MA" dirty="0"/>
              <a:t>, notamment pour les personnes âgées ou handicapées.</a:t>
            </a:r>
          </a:p>
          <a:p>
            <a:r>
              <a:rPr lang="fr-MA" dirty="0"/>
              <a:t>On estime qu’à long terme, ces systèmes pourraient sauver </a:t>
            </a:r>
            <a:r>
              <a:rPr lang="fr-MA" b="1" dirty="0"/>
              <a:t>des milliers de vies</a:t>
            </a:r>
            <a:r>
              <a:rPr lang="fr-MA" dirty="0"/>
              <a:t> en éliminant les erreurs de conduite. »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Les véhicules connectés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une voiture connectée peut signaler automatiquement un accident aux véhicules à proximité,</a:t>
            </a:r>
          </a:p>
          <a:p>
            <a:r>
              <a:rPr lang="fr-MA" dirty="0"/>
              <a:t>ou adapter sa vitesse selon les feux et conditions de circulation transmises par les capteurs urbains. »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826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Apprentissage personnalisé</a:t>
            </a:r>
          </a:p>
          <a:p>
            <a:endParaRPr lang="fr-MA" dirty="0"/>
          </a:p>
          <a:p>
            <a:r>
              <a:rPr lang="fr-MA" dirty="0"/>
              <a:t>Les plateformes d’apprentissage analysent les performances, le rythme, les erreurs et les préférences de chaque apprenant pour lui offrir un parcours sur mesure.</a:t>
            </a:r>
          </a:p>
          <a:p>
            <a:r>
              <a:rPr lang="fr-MA" dirty="0"/>
              <a:t>➤ Par exemple :</a:t>
            </a:r>
          </a:p>
          <a:p>
            <a:r>
              <a:rPr lang="fr-MA" dirty="0"/>
              <a:t>Un étudiant qui réussit bien les exercices de logique mais échoue en grammaire recevra automatiquement </a:t>
            </a:r>
            <a:r>
              <a:rPr lang="fr-MA" b="1" dirty="0"/>
              <a:t>plus d’activités ciblées</a:t>
            </a:r>
            <a:r>
              <a:rPr lang="fr-MA" dirty="0"/>
              <a:t> en grammaire.</a:t>
            </a:r>
          </a:p>
          <a:p>
            <a:r>
              <a:rPr lang="fr-MA" dirty="0"/>
              <a:t>Les systèmes adaptatifs comme </a:t>
            </a:r>
            <a:r>
              <a:rPr lang="fr-MA" b="1" dirty="0"/>
              <a:t>Coursera</a:t>
            </a:r>
            <a:r>
              <a:rPr lang="fr-MA" dirty="0"/>
              <a:t>, </a:t>
            </a:r>
            <a:r>
              <a:rPr lang="fr-MA" b="1" dirty="0" err="1"/>
              <a:t>Duolingo</a:t>
            </a:r>
            <a:r>
              <a:rPr lang="fr-MA" dirty="0"/>
              <a:t> ou </a:t>
            </a:r>
            <a:r>
              <a:rPr lang="fr-MA" b="1" dirty="0"/>
              <a:t>Khan </a:t>
            </a:r>
            <a:r>
              <a:rPr lang="fr-MA" b="1" dirty="0" err="1"/>
              <a:t>Academy</a:t>
            </a:r>
            <a:r>
              <a:rPr lang="fr-MA" dirty="0"/>
              <a:t> utilisent déjà l’IA pour ajuster le niveau de difficulté et le type d’exercices.</a:t>
            </a:r>
          </a:p>
          <a:p>
            <a:r>
              <a:rPr lang="fr-MA" dirty="0"/>
              <a:t>L’objectif est de rendre l’apprentissage </a:t>
            </a:r>
            <a:r>
              <a:rPr lang="fr-MA" b="1" dirty="0"/>
              <a:t>plus efficace, plus rapide et plus motivant</a:t>
            </a:r>
            <a:r>
              <a:rPr lang="fr-MA" dirty="0"/>
              <a:t>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Évaluation automatique et feedback personnalisé</a:t>
            </a:r>
          </a:p>
          <a:p>
            <a:r>
              <a:rPr lang="fr-MA" dirty="0"/>
              <a:t>L’IA peut désormais </a:t>
            </a:r>
            <a:r>
              <a:rPr lang="fr-MA" b="1" dirty="0"/>
              <a:t>corriger des copies, des quiz, ou même des essais rédigés</a:t>
            </a:r>
            <a:r>
              <a:rPr lang="fr-MA" dirty="0"/>
              <a:t>, tout en fournissant des </a:t>
            </a:r>
            <a:r>
              <a:rPr lang="fr-MA" b="1" dirty="0"/>
              <a:t>commentaires personnalisés</a:t>
            </a:r>
            <a:r>
              <a:rPr lang="fr-MA" dirty="0"/>
              <a:t> à chaque étudiant.</a:t>
            </a:r>
          </a:p>
          <a:p>
            <a:r>
              <a:rPr lang="fr-MA" dirty="0"/>
              <a:t>➤ Ces systèmes d’évaluation reposent sur des modèles de traitement du langage (comme </a:t>
            </a:r>
            <a:r>
              <a:rPr lang="fr-MA" dirty="0" err="1"/>
              <a:t>ChatGPT</a:t>
            </a:r>
            <a:r>
              <a:rPr lang="fr-MA" dirty="0"/>
              <a:t>) et sur l’analyse de données.</a:t>
            </a:r>
          </a:p>
          <a:p>
            <a:r>
              <a:rPr lang="fr-MA" dirty="0"/>
              <a:t>Cela permet :</a:t>
            </a:r>
          </a:p>
          <a:p>
            <a:r>
              <a:rPr lang="fr-MA" dirty="0"/>
              <a:t>de gagner du temps pour les enseignants,</a:t>
            </a:r>
          </a:p>
          <a:p>
            <a:r>
              <a:rPr lang="fr-MA" dirty="0"/>
              <a:t>d’offrir un suivi continu,</a:t>
            </a:r>
          </a:p>
          <a:p>
            <a:r>
              <a:rPr lang="fr-MA" dirty="0"/>
              <a:t>et d’identifier les difficultés spécifiques de chaque élève.</a:t>
            </a:r>
          </a:p>
          <a:p>
            <a:r>
              <a:rPr lang="fr-MA" dirty="0"/>
              <a:t>Par exemple, certaines universités américaines utilisent des IA pour </a:t>
            </a:r>
            <a:r>
              <a:rPr lang="fr-MA" b="1" dirty="0"/>
              <a:t>évaluer la participation orale</a:t>
            </a:r>
            <a:r>
              <a:rPr lang="fr-MA" dirty="0"/>
              <a:t> des étudiants ou pour </a:t>
            </a:r>
            <a:r>
              <a:rPr lang="fr-MA" b="1" dirty="0"/>
              <a:t>corriger automatiquement les devoirs de programmation</a:t>
            </a:r>
            <a:r>
              <a:rPr lang="fr-MA" dirty="0"/>
              <a:t>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Recherche et innovation pédagogique</a:t>
            </a:r>
          </a:p>
          <a:p>
            <a:r>
              <a:rPr lang="fr-MA" dirty="0"/>
              <a:t>➤ Les chercheurs peuvent désormais :</a:t>
            </a:r>
          </a:p>
          <a:p>
            <a:r>
              <a:rPr lang="fr-MA" dirty="0"/>
              <a:t>analyser des millions de données issues des plateformes d’e-learning pour comprendre </a:t>
            </a:r>
            <a:r>
              <a:rPr lang="fr-MA" b="1" dirty="0"/>
              <a:t>comment les étudiants apprennent</a:t>
            </a:r>
            <a:r>
              <a:rPr lang="fr-MA" dirty="0"/>
              <a:t>,</a:t>
            </a:r>
          </a:p>
          <a:p>
            <a:r>
              <a:rPr lang="fr-MA" dirty="0"/>
              <a:t>repérer </a:t>
            </a:r>
            <a:r>
              <a:rPr lang="fr-MA" b="1" dirty="0"/>
              <a:t>les facteurs de réussite ou d’échec</a:t>
            </a:r>
            <a:r>
              <a:rPr lang="fr-MA" dirty="0"/>
              <a:t>,</a:t>
            </a:r>
          </a:p>
          <a:p>
            <a:r>
              <a:rPr lang="fr-MA" dirty="0"/>
              <a:t>et concevoir </a:t>
            </a:r>
            <a:r>
              <a:rPr lang="fr-MA" b="1" dirty="0"/>
              <a:t>de nouvelles méthodes pédagogiques</a:t>
            </a:r>
            <a:r>
              <a:rPr lang="fr-MA" dirty="0"/>
              <a:t> plus efficaces.</a:t>
            </a:r>
          </a:p>
          <a:p>
            <a:r>
              <a:rPr lang="fr-MA" dirty="0"/>
              <a:t>➤ L’IA est aussi utilisée pour créer des environnements immersifs d’apprentissage :</a:t>
            </a:r>
          </a:p>
          <a:p>
            <a:r>
              <a:rPr lang="fr-MA" dirty="0"/>
              <a:t>classes virtuelles 3D,</a:t>
            </a:r>
          </a:p>
          <a:p>
            <a:r>
              <a:rPr lang="fr-MA" dirty="0"/>
              <a:t>simulateurs de formation,</a:t>
            </a:r>
          </a:p>
          <a:p>
            <a:r>
              <a:rPr lang="fr-MA" dirty="0"/>
              <a:t>ou </a:t>
            </a:r>
            <a:r>
              <a:rPr lang="fr-MA" dirty="0" err="1"/>
              <a:t>chatbots</a:t>
            </a:r>
            <a:r>
              <a:rPr lang="fr-MA" dirty="0"/>
              <a:t> pédagogiques comme tuteurs numériques. »</a:t>
            </a:r>
          </a:p>
          <a:p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199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Production d’énergie renouvelable et prévision climatique</a:t>
            </a:r>
          </a:p>
          <a:p>
            <a:r>
              <a:rPr lang="fr-MA" dirty="0"/>
              <a:t>➤ D’abord, dans les </a:t>
            </a:r>
            <a:r>
              <a:rPr lang="fr-MA" b="1" dirty="0"/>
              <a:t>énergies renouvelables</a:t>
            </a:r>
            <a:r>
              <a:rPr lang="fr-MA" dirty="0"/>
              <a:t>, l’IA aide à :</a:t>
            </a:r>
          </a:p>
          <a:p>
            <a:r>
              <a:rPr lang="fr-MA" dirty="0"/>
              <a:t>prévoir les conditions météorologiques (ensoleillement, vent, précipitations),</a:t>
            </a:r>
          </a:p>
          <a:p>
            <a:r>
              <a:rPr lang="fr-MA" dirty="0"/>
              <a:t>optimiser la production d’énergie solaire et éolienne,</a:t>
            </a:r>
          </a:p>
          <a:p>
            <a:r>
              <a:rPr lang="fr-MA" dirty="0"/>
              <a:t>et ajuster en temps réel la distribution d’électricité selon la demande.</a:t>
            </a:r>
          </a:p>
          <a:p>
            <a:r>
              <a:rPr lang="fr-MA" dirty="0"/>
              <a:t>Par exemple :</a:t>
            </a:r>
          </a:p>
          <a:p>
            <a:r>
              <a:rPr lang="fr-MA" dirty="0"/>
              <a:t>Les fermes solaires utilisent l’IA pour </a:t>
            </a:r>
            <a:r>
              <a:rPr lang="fr-MA" b="1" dirty="0"/>
              <a:t>orienter automatiquement les panneaux solaires</a:t>
            </a:r>
            <a:r>
              <a:rPr lang="fr-MA" dirty="0"/>
              <a:t> selon l’intensité du soleil.</a:t>
            </a:r>
          </a:p>
          <a:p>
            <a:r>
              <a:rPr lang="fr-MA" dirty="0"/>
              <a:t>Les parcs éoliens analysent en continu la vitesse et la direction du vent pour </a:t>
            </a:r>
            <a:r>
              <a:rPr lang="fr-MA" b="1" dirty="0"/>
              <a:t>adapter la rotation des pales</a:t>
            </a:r>
            <a:r>
              <a:rPr lang="fr-MA" dirty="0"/>
              <a:t>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dirty="0"/>
              <a:t>« Ensuite, l’IA est aussi utilisée pour </a:t>
            </a:r>
            <a:r>
              <a:rPr lang="fr-MA" b="1" dirty="0"/>
              <a:t>surveiller la qualité de l’air et prédire la pollution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Des </a:t>
            </a:r>
            <a:r>
              <a:rPr lang="fr-MA" b="1" dirty="0"/>
              <a:t>capteurs intelligents</a:t>
            </a:r>
            <a:r>
              <a:rPr lang="fr-MA" dirty="0"/>
              <a:t> collectent des données environnementales et permettent aux autorités de prévoir les pics de pollution ou les risques climatiques.</a:t>
            </a:r>
          </a:p>
          <a:p>
            <a:r>
              <a:rPr lang="fr-MA" dirty="0"/>
              <a:t>➤ Cela aide les gouvernements à prendre des décisions rapides : alerter la population, restreindre la circulation, ou ajuster la production industrielle. »</a:t>
            </a:r>
          </a:p>
          <a:p>
            <a:r>
              <a:rPr lang="fr-MA" dirty="0"/>
              <a:t>🌦️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En </a:t>
            </a:r>
            <a:r>
              <a:rPr lang="fr-MA" b="1" dirty="0"/>
              <a:t>Inde</a:t>
            </a:r>
            <a:r>
              <a:rPr lang="fr-MA" dirty="0"/>
              <a:t> et en </a:t>
            </a:r>
            <a:r>
              <a:rPr lang="fr-MA" b="1" dirty="0"/>
              <a:t>Chine</a:t>
            </a:r>
            <a:r>
              <a:rPr lang="fr-MA" dirty="0"/>
              <a:t>, des modèles d’IA anticipent les pics de pollution urbaine plusieurs jours à l’avance.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Gestion du réseau électrique</a:t>
            </a:r>
          </a:p>
          <a:p>
            <a:endParaRPr lang="fr-MA" dirty="0"/>
          </a:p>
          <a:p>
            <a:r>
              <a:rPr lang="fr-MA" dirty="0"/>
              <a:t>➤ L’IA analyse en temps réel :</a:t>
            </a:r>
          </a:p>
          <a:p>
            <a:r>
              <a:rPr lang="fr-MA" dirty="0"/>
              <a:t>la consommation d’énergie,</a:t>
            </a:r>
          </a:p>
          <a:p>
            <a:r>
              <a:rPr lang="fr-MA" dirty="0"/>
              <a:t>la production (solaire, éolienne, thermique),</a:t>
            </a:r>
          </a:p>
          <a:p>
            <a:r>
              <a:rPr lang="fr-MA" dirty="0"/>
              <a:t>et les pannes potentielles.</a:t>
            </a:r>
          </a:p>
          <a:p>
            <a:r>
              <a:rPr lang="fr-MA" dirty="0"/>
              <a:t>Grâce à cela, elle peut :</a:t>
            </a:r>
          </a:p>
          <a:p>
            <a:r>
              <a:rPr lang="fr-MA" b="1" dirty="0"/>
              <a:t>anticiper les coupures</a:t>
            </a:r>
            <a:r>
              <a:rPr lang="fr-MA" dirty="0"/>
              <a:t>,</a:t>
            </a:r>
          </a:p>
          <a:p>
            <a:r>
              <a:rPr lang="fr-MA" b="1" dirty="0"/>
              <a:t>rééquilibrer la distribution</a:t>
            </a:r>
            <a:r>
              <a:rPr lang="fr-MA" dirty="0"/>
              <a:t>,</a:t>
            </a:r>
          </a:p>
          <a:p>
            <a:r>
              <a:rPr lang="fr-MA" dirty="0"/>
              <a:t>et </a:t>
            </a:r>
            <a:r>
              <a:rPr lang="fr-MA" b="1" dirty="0"/>
              <a:t>optimiser la consommation</a:t>
            </a:r>
            <a:r>
              <a:rPr lang="fr-MA" dirty="0"/>
              <a:t> selon les périodes de la journée.</a:t>
            </a:r>
          </a:p>
          <a:p>
            <a:r>
              <a:rPr lang="fr-MA" dirty="0"/>
              <a:t>En d’autres termes, elle rend le réseau </a:t>
            </a:r>
            <a:r>
              <a:rPr lang="fr-MA" b="1" dirty="0"/>
              <a:t>plus stable, plus écologique et plus économique</a:t>
            </a:r>
            <a:r>
              <a:rPr lang="fr-MA" dirty="0"/>
              <a:t>. »</a:t>
            </a:r>
          </a:p>
          <a:p>
            <a:r>
              <a:rPr lang="fr-MA" dirty="0"/>
              <a:t>⚡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Google DeepMind</a:t>
            </a:r>
            <a:r>
              <a:rPr lang="fr-MA" dirty="0"/>
              <a:t> collabore avec des opérateurs d’énergie pour réduire la consommation des data centers de 30 %.</a:t>
            </a:r>
          </a:p>
          <a:p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811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Personnalisation de l’expérience d’achat</a:t>
            </a:r>
          </a:p>
          <a:p>
            <a:r>
              <a:rPr lang="fr-MA" dirty="0"/>
              <a:t>« L’IA permet aujourd’hui de </a:t>
            </a:r>
            <a:r>
              <a:rPr lang="fr-MA" b="1" dirty="0"/>
              <a:t>personnaliser complètement l’expérience d’achat</a:t>
            </a:r>
            <a:r>
              <a:rPr lang="fr-MA" dirty="0"/>
              <a:t> des clients.</a:t>
            </a:r>
          </a:p>
          <a:p>
            <a:r>
              <a:rPr lang="fr-MA" dirty="0"/>
              <a:t>➤ Comment cela fonctionne-t-il ?</a:t>
            </a:r>
            <a:br>
              <a:rPr lang="fr-MA" dirty="0"/>
            </a:br>
            <a:r>
              <a:rPr lang="fr-MA" dirty="0"/>
              <a:t>Les algorithmes analysent :</a:t>
            </a:r>
          </a:p>
          <a:p>
            <a:r>
              <a:rPr lang="fr-MA" dirty="0"/>
              <a:t>les </a:t>
            </a:r>
            <a:r>
              <a:rPr lang="fr-MA" b="1" dirty="0"/>
              <a:t>historiques d’achat</a:t>
            </a:r>
            <a:r>
              <a:rPr lang="fr-MA" dirty="0"/>
              <a:t>,</a:t>
            </a:r>
          </a:p>
          <a:p>
            <a:r>
              <a:rPr lang="fr-MA" dirty="0"/>
              <a:t>les </a:t>
            </a:r>
            <a:r>
              <a:rPr lang="fr-MA" b="1" dirty="0"/>
              <a:t>clics</a:t>
            </a:r>
            <a:r>
              <a:rPr lang="fr-MA" dirty="0"/>
              <a:t> et les </a:t>
            </a:r>
            <a:r>
              <a:rPr lang="fr-MA" b="1" dirty="0"/>
              <a:t>recherches</a:t>
            </a:r>
            <a:r>
              <a:rPr lang="fr-MA" dirty="0"/>
              <a:t>,</a:t>
            </a:r>
          </a:p>
          <a:p>
            <a:r>
              <a:rPr lang="fr-MA" dirty="0"/>
              <a:t>le </a:t>
            </a:r>
            <a:r>
              <a:rPr lang="fr-MA" b="1" dirty="0"/>
              <a:t>temps passé sur chaque page</a:t>
            </a:r>
            <a:r>
              <a:rPr lang="fr-MA" dirty="0"/>
              <a:t>,</a:t>
            </a:r>
          </a:p>
          <a:p>
            <a:r>
              <a:rPr lang="fr-MA" dirty="0"/>
              <a:t>voire même les </a:t>
            </a:r>
            <a:r>
              <a:rPr lang="fr-MA" b="1" dirty="0"/>
              <a:t>commentaires laissés</a:t>
            </a:r>
            <a:r>
              <a:rPr lang="fr-MA" dirty="0"/>
              <a:t> par les clients.</a:t>
            </a:r>
          </a:p>
          <a:p>
            <a:r>
              <a:rPr lang="fr-MA" dirty="0"/>
              <a:t>À partir de ces données, l’IA peut </a:t>
            </a:r>
            <a:r>
              <a:rPr lang="fr-MA" b="1" dirty="0"/>
              <a:t>comprendre vos préférences</a:t>
            </a:r>
            <a:r>
              <a:rPr lang="fr-MA" dirty="0"/>
              <a:t> et adapter l’offre en conséquence.</a:t>
            </a:r>
          </a:p>
          <a:p>
            <a:r>
              <a:rPr lang="fr-MA" dirty="0"/>
              <a:t>➤ Exemple :</a:t>
            </a:r>
          </a:p>
          <a:p>
            <a:r>
              <a:rPr lang="fr-MA" dirty="0"/>
              <a:t>Si vous regardez souvent des ordinateurs portables, le site vous proposera des accessoires compatibles, des promotions ciblées ou des articles similaires.</a:t>
            </a:r>
          </a:p>
          <a:p>
            <a:r>
              <a:rPr lang="fr-MA" dirty="0"/>
              <a:t>Si vous écoutez de la musique sur Spotify, l’IA détecte vos goûts pour créer des playlists “personnalisées”.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Recommandation de produits et services</a:t>
            </a:r>
          </a:p>
          <a:p>
            <a:r>
              <a:rPr lang="fr-MA" dirty="0"/>
              <a:t>« Deuxième grande application : les </a:t>
            </a:r>
            <a:r>
              <a:rPr lang="fr-MA" b="1" dirty="0"/>
              <a:t>systèmes de recommandation</a:t>
            </a:r>
            <a:r>
              <a:rPr lang="fr-MA" dirty="0"/>
              <a:t>.</a:t>
            </a:r>
          </a:p>
          <a:p>
            <a:endParaRPr lang="fr-MA" dirty="0"/>
          </a:p>
          <a:p>
            <a:r>
              <a:rPr lang="fr-MA" dirty="0"/>
              <a:t>➤ Les plateformes comme </a:t>
            </a:r>
            <a:r>
              <a:rPr lang="fr-MA" b="1" dirty="0"/>
              <a:t>Amazon, Netflix, YouTube</a:t>
            </a:r>
            <a:r>
              <a:rPr lang="fr-MA" dirty="0"/>
              <a:t> ou </a:t>
            </a:r>
            <a:r>
              <a:rPr lang="fr-MA" b="1" dirty="0" err="1"/>
              <a:t>TikTok</a:t>
            </a:r>
            <a:r>
              <a:rPr lang="fr-MA" dirty="0"/>
              <a:t> en sont les exemples les plus connus.</a:t>
            </a:r>
          </a:p>
          <a:p>
            <a:r>
              <a:rPr lang="fr-MA" dirty="0"/>
              <a:t>Amazon vous recommande un livre ou un gadget basé sur vos achats précédents.</a:t>
            </a:r>
          </a:p>
          <a:p>
            <a:r>
              <a:rPr lang="fr-MA" dirty="0"/>
              <a:t>Netflix vous suggère un film en fonction de ce que vous avez regardé et aimé.</a:t>
            </a:r>
          </a:p>
          <a:p>
            <a:r>
              <a:rPr lang="fr-MA" dirty="0" err="1"/>
              <a:t>TikTok</a:t>
            </a:r>
            <a:r>
              <a:rPr lang="fr-MA" dirty="0"/>
              <a:t> utilise l’IA pour personnaliser votre fil d’actualité en quelques secondes selon vos réactions.</a:t>
            </a:r>
          </a:p>
          <a:p>
            <a:endParaRPr lang="fr-MA" dirty="0"/>
          </a:p>
          <a:p>
            <a:r>
              <a:rPr lang="fr-MA" dirty="0"/>
              <a:t>➤ Résultat :</a:t>
            </a:r>
          </a:p>
          <a:p>
            <a:r>
              <a:rPr lang="fr-MA" dirty="0"/>
              <a:t>Les clients trouvent plus facilement ce qui les intéresse,</a:t>
            </a:r>
          </a:p>
          <a:p>
            <a:r>
              <a:rPr lang="fr-MA" dirty="0"/>
              <a:t>Les entreprises augmentent leurs ventes,</a:t>
            </a:r>
          </a:p>
          <a:p>
            <a:r>
              <a:rPr lang="fr-MA" dirty="0"/>
              <a:t>Et l’expérience utilisateur devient plus fluide et agréable. »</a:t>
            </a:r>
          </a:p>
          <a:p>
            <a:endParaRPr lang="fr-MA" dirty="0"/>
          </a:p>
          <a:p>
            <a:r>
              <a:rPr lang="fr-MA" dirty="0"/>
              <a:t>📊 </a:t>
            </a:r>
            <a:r>
              <a:rPr lang="fr-MA" i="1" dirty="0"/>
              <a:t>Note pédagogique :</a:t>
            </a:r>
            <a:endParaRPr lang="fr-MA" dirty="0"/>
          </a:p>
          <a:p>
            <a:r>
              <a:rPr lang="fr-MA" dirty="0"/>
              <a:t>Expliquer que ces recommandations reposent sur deux types d’IA :</a:t>
            </a:r>
          </a:p>
          <a:p>
            <a:r>
              <a:rPr lang="fr-MA" dirty="0"/>
              <a:t>le </a:t>
            </a:r>
            <a:r>
              <a:rPr lang="fr-MA" b="1" dirty="0"/>
              <a:t>filtrage collaboratif</a:t>
            </a:r>
            <a:r>
              <a:rPr lang="fr-MA" dirty="0"/>
              <a:t> (basé sur les préférences d’utilisateurs similaires),</a:t>
            </a:r>
          </a:p>
          <a:p>
            <a:r>
              <a:rPr lang="fr-MA" dirty="0"/>
              <a:t>et le </a:t>
            </a:r>
            <a:r>
              <a:rPr lang="fr-MA" b="1" dirty="0"/>
              <a:t>profilage individuel</a:t>
            </a:r>
            <a:r>
              <a:rPr lang="fr-MA" dirty="0"/>
              <a:t> (basé sur le comportement propre de l’utilisateur).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💬 3. L’impact sur le marketing moderne</a:t>
            </a:r>
          </a:p>
          <a:p>
            <a:r>
              <a:rPr lang="fr-MA" dirty="0"/>
              <a:t>« L’intelligence artificielle a aussi transformé la manière de faire du marketing.</a:t>
            </a:r>
            <a:br>
              <a:rPr lang="fr-MA" dirty="0"/>
            </a:br>
            <a:r>
              <a:rPr lang="fr-MA" dirty="0"/>
              <a:t>Les entreprises utilisent désormais l’IA pour :</a:t>
            </a:r>
          </a:p>
          <a:p>
            <a:r>
              <a:rPr lang="fr-MA" dirty="0"/>
              <a:t>analyser les tendances de marché,</a:t>
            </a:r>
          </a:p>
          <a:p>
            <a:r>
              <a:rPr lang="fr-MA" dirty="0"/>
              <a:t>prédire les comportements d’achat,</a:t>
            </a:r>
          </a:p>
          <a:p>
            <a:r>
              <a:rPr lang="fr-MA" dirty="0"/>
              <a:t>ajuster les campagnes publicitaires en temps réel.</a:t>
            </a:r>
          </a:p>
          <a:p>
            <a:r>
              <a:rPr lang="fr-MA" dirty="0"/>
              <a:t>➤ Par exemple, sur </a:t>
            </a:r>
            <a:r>
              <a:rPr lang="fr-MA" b="1" dirty="0"/>
              <a:t>Google </a:t>
            </a:r>
            <a:r>
              <a:rPr lang="fr-MA" b="1" dirty="0" err="1"/>
              <a:t>Ads</a:t>
            </a:r>
            <a:r>
              <a:rPr lang="fr-MA" b="1" dirty="0"/>
              <a:t> ou Facebook</a:t>
            </a:r>
            <a:r>
              <a:rPr lang="fr-MA" dirty="0"/>
              <a:t>, les algorithmes optimisent automatiquement la diffusion des publicités pour toucher les bonnes personnes au bon moment.</a:t>
            </a:r>
          </a:p>
          <a:p>
            <a:r>
              <a:rPr lang="fr-MA" dirty="0"/>
              <a:t>Cela permet aux marques de </a:t>
            </a:r>
            <a:r>
              <a:rPr lang="fr-MA" b="1" dirty="0"/>
              <a:t>réduire leurs coûts</a:t>
            </a:r>
            <a:r>
              <a:rPr lang="fr-MA" dirty="0"/>
              <a:t> et </a:t>
            </a:r>
            <a:r>
              <a:rPr lang="fr-MA" b="1" dirty="0"/>
              <a:t>d’augmenter leur impact</a:t>
            </a:r>
            <a:r>
              <a:rPr lang="fr-MA" dirty="0"/>
              <a:t>. »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43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Automatisation des tâches commerciales</a:t>
            </a:r>
          </a:p>
          <a:p>
            <a:r>
              <a:rPr lang="fr-MA" dirty="0"/>
              <a:t>« L’un des avantages les plus concrets de l’IA est l’</a:t>
            </a:r>
            <a:r>
              <a:rPr lang="fr-MA" b="1" dirty="0"/>
              <a:t>automatisation des tâches répétitives</a:t>
            </a:r>
            <a:r>
              <a:rPr lang="fr-MA" dirty="0"/>
              <a:t>.</a:t>
            </a:r>
          </a:p>
          <a:p>
            <a:r>
              <a:rPr lang="fr-MA" dirty="0"/>
              <a:t>➤ Aujourd’hui, les entreprises peuvent automatiser :</a:t>
            </a:r>
          </a:p>
          <a:p>
            <a:r>
              <a:rPr lang="fr-MA" dirty="0"/>
              <a:t>la </a:t>
            </a:r>
            <a:r>
              <a:rPr lang="fr-MA" b="1" dirty="0"/>
              <a:t>prise de rendez-vous</a:t>
            </a:r>
            <a:r>
              <a:rPr lang="fr-MA" dirty="0"/>
              <a:t> avec les clients,</a:t>
            </a:r>
          </a:p>
          <a:p>
            <a:r>
              <a:rPr lang="fr-MA" dirty="0"/>
              <a:t>la </a:t>
            </a:r>
            <a:r>
              <a:rPr lang="fr-MA" b="1" dirty="0"/>
              <a:t>gestion des commandes et des factures</a:t>
            </a:r>
            <a:r>
              <a:rPr lang="fr-MA" dirty="0"/>
              <a:t>,</a:t>
            </a:r>
          </a:p>
          <a:p>
            <a:r>
              <a:rPr lang="fr-MA" dirty="0"/>
              <a:t>et même la </a:t>
            </a:r>
            <a:r>
              <a:rPr lang="fr-MA" b="1" dirty="0"/>
              <a:t>réponse automatique aux messages clients</a:t>
            </a:r>
            <a:r>
              <a:rPr lang="fr-MA" dirty="0"/>
              <a:t> via des </a:t>
            </a:r>
            <a:r>
              <a:rPr lang="fr-MA" dirty="0" err="1"/>
              <a:t>chatbots</a:t>
            </a:r>
            <a:r>
              <a:rPr lang="fr-MA" dirty="0"/>
              <a:t> intelligents.</a:t>
            </a:r>
          </a:p>
          <a:p>
            <a:r>
              <a:rPr lang="fr-MA" dirty="0"/>
              <a:t>Ces systèmes fonctionnent 24h/24, 7j/7, et offrent une </a:t>
            </a:r>
            <a:r>
              <a:rPr lang="fr-MA" b="1" dirty="0"/>
              <a:t>assistance rapide et personnalisée</a:t>
            </a:r>
            <a:r>
              <a:rPr lang="fr-MA" dirty="0"/>
              <a:t>. »</a:t>
            </a:r>
          </a:p>
          <a:p>
            <a:r>
              <a:rPr lang="fr-MA" dirty="0"/>
              <a:t>💬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Des plateformes comme </a:t>
            </a:r>
            <a:r>
              <a:rPr lang="fr-MA" b="1" dirty="0"/>
              <a:t>HubSpot</a:t>
            </a:r>
            <a:r>
              <a:rPr lang="fr-MA" dirty="0"/>
              <a:t>, </a:t>
            </a:r>
            <a:r>
              <a:rPr lang="fr-MA" b="1" dirty="0"/>
              <a:t>Salesforce</a:t>
            </a:r>
            <a:r>
              <a:rPr lang="fr-MA" dirty="0"/>
              <a:t> ou </a:t>
            </a:r>
            <a:r>
              <a:rPr lang="fr-MA" b="1" dirty="0" err="1"/>
              <a:t>Zoho</a:t>
            </a:r>
            <a:r>
              <a:rPr lang="fr-MA" b="1" dirty="0"/>
              <a:t> CRM</a:t>
            </a:r>
            <a:r>
              <a:rPr lang="fr-MA" dirty="0"/>
              <a:t> utilisent déjà l’IA pour planifier automatiquement les appels commerciaux et relancer les prospects.</a:t>
            </a:r>
          </a:p>
          <a:p>
            <a:endParaRPr lang="fr-MA" dirty="0"/>
          </a:p>
          <a:p>
            <a:r>
              <a:rPr lang="fr-MA" dirty="0"/>
              <a:t>➤ Résultat : gain de temps, réduction des coûts, et meilleure satisfaction client. »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Analyse de données commerciales (vente, marketing et réseaux sociaux)</a:t>
            </a:r>
          </a:p>
          <a:p>
            <a:r>
              <a:rPr lang="fr-MA" dirty="0"/>
              <a:t>« Deuxième application : l’</a:t>
            </a:r>
            <a:r>
              <a:rPr lang="fr-MA" b="1" dirty="0"/>
              <a:t>analyse de données commerciales</a:t>
            </a:r>
            <a:r>
              <a:rPr lang="fr-MA" dirty="0"/>
              <a:t>.</a:t>
            </a:r>
          </a:p>
          <a:p>
            <a:r>
              <a:rPr lang="fr-MA" dirty="0"/>
              <a:t>Les entreprises reçoivent aujourd’hui des millions de données issues des ventes, des campagnes publicitaires et surtout des </a:t>
            </a:r>
            <a:r>
              <a:rPr lang="fr-MA" b="1" dirty="0"/>
              <a:t>réseaux sociaux</a:t>
            </a:r>
            <a:r>
              <a:rPr lang="fr-MA" dirty="0"/>
              <a:t>.</a:t>
            </a:r>
          </a:p>
          <a:p>
            <a:r>
              <a:rPr lang="fr-MA" dirty="0"/>
              <a:t>➤ L’IA permet d’extraire des informations précieuses à partir de ces données :</a:t>
            </a:r>
          </a:p>
          <a:p>
            <a:r>
              <a:rPr lang="fr-MA" dirty="0"/>
              <a:t>Quels produits se vendent le mieux ?</a:t>
            </a:r>
          </a:p>
          <a:p>
            <a:r>
              <a:rPr lang="fr-MA" dirty="0"/>
              <a:t>Quelle campagne publicitaire fonctionne le plus ?</a:t>
            </a:r>
          </a:p>
          <a:p>
            <a:r>
              <a:rPr lang="fr-MA" dirty="0"/>
              <a:t>Que pensent réellement les clients d’une marque ?</a:t>
            </a:r>
          </a:p>
          <a:p>
            <a:r>
              <a:rPr lang="fr-MA" dirty="0"/>
              <a:t>Grâce à des techniques de </a:t>
            </a:r>
            <a:r>
              <a:rPr lang="fr-MA" b="1" dirty="0"/>
              <a:t>Big Data et de traitement du langage naturel</a:t>
            </a:r>
            <a:r>
              <a:rPr lang="fr-MA" dirty="0"/>
              <a:t>, les entreprises peuvent </a:t>
            </a:r>
            <a:r>
              <a:rPr lang="fr-MA" b="1" dirty="0"/>
              <a:t>mesurer les émotions</a:t>
            </a:r>
            <a:r>
              <a:rPr lang="fr-MA" dirty="0"/>
              <a:t> exprimées sur les réseaux sociaux et ajuster leurs stratégies. »</a:t>
            </a:r>
          </a:p>
          <a:p>
            <a:endParaRPr lang="fr-MA" dirty="0"/>
          </a:p>
          <a:p>
            <a:r>
              <a:rPr lang="fr-MA" dirty="0"/>
              <a:t>📊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Les grandes marques utilisent des outils d’analyse comme </a:t>
            </a:r>
            <a:r>
              <a:rPr lang="fr-MA" b="1" dirty="0"/>
              <a:t>IBM Watson Marketing</a:t>
            </a:r>
            <a:r>
              <a:rPr lang="fr-MA" dirty="0"/>
              <a:t> ou </a:t>
            </a:r>
            <a:r>
              <a:rPr lang="fr-MA" b="1" dirty="0"/>
              <a:t>Google Analytics AI</a:t>
            </a:r>
            <a:r>
              <a:rPr lang="fr-MA" dirty="0"/>
              <a:t> pour suivre la réputation de leur marque.</a:t>
            </a:r>
          </a:p>
          <a:p>
            <a:r>
              <a:rPr lang="fr-MA" dirty="0"/>
              <a:t>Les entreprises marocaines commencent également à utiliser l’IA pour </a:t>
            </a:r>
            <a:r>
              <a:rPr lang="fr-MA" b="1" dirty="0"/>
              <a:t>analyser les commentaires clients</a:t>
            </a:r>
            <a:r>
              <a:rPr lang="fr-MA" dirty="0"/>
              <a:t> et </a:t>
            </a:r>
            <a:r>
              <a:rPr lang="fr-MA" b="1" dirty="0"/>
              <a:t>améliorer leurs produits</a:t>
            </a:r>
            <a:r>
              <a:rPr lang="fr-MA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9166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Automatiser les tâches de production</a:t>
            </a:r>
          </a:p>
          <a:p>
            <a:endParaRPr lang="fr-MA" dirty="0"/>
          </a:p>
          <a:p>
            <a:r>
              <a:rPr lang="fr-MA" dirty="0"/>
              <a:t>Dans les usines modernes, des </a:t>
            </a:r>
            <a:r>
              <a:rPr lang="fr-MA" b="1" dirty="0"/>
              <a:t>robots intelligents</a:t>
            </a:r>
            <a:r>
              <a:rPr lang="fr-MA" dirty="0"/>
              <a:t> peuvent effectuer des tâches comme l’assemblage, la peinture, la découpe ou la soudure </a:t>
            </a:r>
            <a:r>
              <a:rPr lang="fr-MA" b="1" dirty="0"/>
              <a:t>avec une précision et une rapidité supérieures à celles de l’humain</a:t>
            </a:r>
            <a:r>
              <a:rPr lang="fr-MA" dirty="0"/>
              <a:t>.</a:t>
            </a:r>
          </a:p>
          <a:p>
            <a:r>
              <a:rPr lang="fr-MA" dirty="0"/>
              <a:t>➤ L’objectif n’est pas seulement de remplacer l’homme, mais de :</a:t>
            </a:r>
          </a:p>
          <a:p>
            <a:r>
              <a:rPr lang="fr-MA" b="1" dirty="0"/>
              <a:t>améliorer la qualité et la sécurité</a:t>
            </a:r>
            <a:r>
              <a:rPr lang="fr-MA" dirty="0"/>
              <a:t>,</a:t>
            </a:r>
          </a:p>
          <a:p>
            <a:r>
              <a:rPr lang="fr-MA" b="1" dirty="0"/>
              <a:t>réduire les coûts de production</a:t>
            </a:r>
            <a:r>
              <a:rPr lang="fr-MA" dirty="0"/>
              <a:t>,</a:t>
            </a:r>
          </a:p>
          <a:p>
            <a:r>
              <a:rPr lang="fr-MA" dirty="0"/>
              <a:t>et </a:t>
            </a:r>
            <a:r>
              <a:rPr lang="fr-MA" b="1" dirty="0"/>
              <a:t>optimiser les flux de travail</a:t>
            </a:r>
            <a:r>
              <a:rPr lang="fr-MA" dirty="0"/>
              <a:t> en temps réel.</a:t>
            </a:r>
          </a:p>
          <a:p>
            <a:r>
              <a:rPr lang="fr-MA" dirty="0"/>
              <a:t>Ces robots sont capables d’apprendre de leurs erreurs, de s’adapter aux changements de production et même de coopérer avec les humains — on parle alors de </a:t>
            </a:r>
            <a:r>
              <a:rPr lang="fr-MA" b="1" dirty="0"/>
              <a:t>cobots</a:t>
            </a:r>
            <a:r>
              <a:rPr lang="fr-MA" dirty="0"/>
              <a:t> (robots collaboratifs). »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Identifier les défauts de fabrication avant l’envoi aux clients</a:t>
            </a:r>
          </a:p>
          <a:p>
            <a:r>
              <a:rPr lang="fr-MA" dirty="0"/>
              <a:t>➤ Grâce à la vision par ordinateur et à l’analyse d’images, les systèmes d’IA peuvent :</a:t>
            </a:r>
          </a:p>
          <a:p>
            <a:r>
              <a:rPr lang="fr-MA" dirty="0"/>
              <a:t>inspecter des milliers de pièces à la minute,</a:t>
            </a:r>
          </a:p>
          <a:p>
            <a:r>
              <a:rPr lang="fr-MA" dirty="0"/>
              <a:t>repérer les micro-défauts invisibles à l’œil nu,</a:t>
            </a:r>
          </a:p>
          <a:p>
            <a:r>
              <a:rPr lang="fr-MA" dirty="0"/>
              <a:t>et </a:t>
            </a:r>
            <a:r>
              <a:rPr lang="fr-MA" b="1" dirty="0"/>
              <a:t>prévenir les erreurs avant l’expédition</a:t>
            </a:r>
            <a:r>
              <a:rPr lang="fr-MA" dirty="0"/>
              <a:t> des produits.</a:t>
            </a:r>
          </a:p>
          <a:p>
            <a:r>
              <a:rPr lang="fr-MA" dirty="0"/>
              <a:t>Résultat :</a:t>
            </a:r>
          </a:p>
          <a:p>
            <a:r>
              <a:rPr lang="fr-MA" dirty="0"/>
              <a:t>une </a:t>
            </a:r>
            <a:r>
              <a:rPr lang="fr-MA" b="1" dirty="0"/>
              <a:t>amélioration de la qualité</a:t>
            </a:r>
            <a:r>
              <a:rPr lang="fr-MA" dirty="0"/>
              <a:t> des produits,</a:t>
            </a:r>
          </a:p>
          <a:p>
            <a:r>
              <a:rPr lang="fr-MA" dirty="0"/>
              <a:t>une </a:t>
            </a:r>
            <a:r>
              <a:rPr lang="fr-MA" b="1" dirty="0"/>
              <a:t>réduction du taux de retour</a:t>
            </a:r>
            <a:r>
              <a:rPr lang="fr-MA" dirty="0"/>
              <a:t>,</a:t>
            </a:r>
          </a:p>
          <a:p>
            <a:r>
              <a:rPr lang="fr-MA" dirty="0"/>
              <a:t>et un </a:t>
            </a:r>
            <a:r>
              <a:rPr lang="fr-MA" b="1" dirty="0"/>
              <a:t>gain de confiance client</a:t>
            </a:r>
            <a:r>
              <a:rPr lang="fr-MA" dirty="0"/>
              <a:t>. »</a:t>
            </a:r>
          </a:p>
          <a:p>
            <a:endParaRPr lang="fr-MA" dirty="0"/>
          </a:p>
          <a:p>
            <a:r>
              <a:rPr lang="fr-MA" dirty="0"/>
              <a:t>🏭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Dans l’agroalimentaire, les caméras IA vérifient la taille, la couleur et la forme des produits avant l’emballage.</a:t>
            </a:r>
          </a:p>
          <a:p>
            <a:r>
              <a:rPr lang="fr-MA" dirty="0"/>
              <a:t>Dans l’industrie électronique, elle détecte les circuits défectueux sur des cartes avant leur envoi.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Vers une production durable et économe</a:t>
            </a:r>
          </a:p>
          <a:p>
            <a:r>
              <a:rPr lang="fr-MA" dirty="0"/>
              <a:t>➤ Elle permet de :</a:t>
            </a:r>
          </a:p>
          <a:p>
            <a:r>
              <a:rPr lang="fr-MA" dirty="0"/>
              <a:t>surveiller la consommation d’énergie,</a:t>
            </a:r>
          </a:p>
          <a:p>
            <a:r>
              <a:rPr lang="fr-MA" dirty="0"/>
              <a:t>ajuster les cycles de production pour réduire les déchets,</a:t>
            </a:r>
          </a:p>
          <a:p>
            <a:r>
              <a:rPr lang="fr-MA" dirty="0"/>
              <a:t>et développer des matériaux plus écologiques.</a:t>
            </a:r>
          </a:p>
          <a:p>
            <a:r>
              <a:rPr lang="fr-MA" dirty="0"/>
              <a:t>L’objectif n’est plus seulement de produire plus vite, mais de produire </a:t>
            </a:r>
            <a:r>
              <a:rPr lang="fr-MA" b="1" dirty="0"/>
              <a:t>mieux et plus proprement.</a:t>
            </a:r>
            <a:r>
              <a:rPr lang="fr-MA" dirty="0"/>
              <a:t> »</a:t>
            </a:r>
          </a:p>
          <a:p>
            <a:r>
              <a:rPr lang="fr-MA" dirty="0"/>
              <a:t>🌱 </a:t>
            </a:r>
            <a:r>
              <a:rPr lang="fr-MA" i="1" dirty="0"/>
              <a:t>Exemple concret :</a:t>
            </a:r>
            <a:endParaRPr lang="fr-MA" dirty="0"/>
          </a:p>
          <a:p>
            <a:r>
              <a:rPr lang="fr-MA" dirty="0"/>
              <a:t>« Dans certaines usines, les systèmes d’IA régulent automatiquement la température et l’éclairage pour économiser l’énergie tout en garantissant la qualité. »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2866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Surveiller les machines et les environnements de travail</a:t>
            </a:r>
          </a:p>
          <a:p>
            <a:r>
              <a:rPr lang="fr-MA" dirty="0"/>
              <a:t>« L’intelligence artificielle joue un rôle majeur dans la </a:t>
            </a:r>
            <a:r>
              <a:rPr lang="fr-MA" b="1" dirty="0"/>
              <a:t>surveillance des équipements industriels et des conditions de travail</a:t>
            </a:r>
            <a:r>
              <a:rPr lang="fr-MA" dirty="0"/>
              <a:t>.</a:t>
            </a:r>
          </a:p>
          <a:p>
            <a:r>
              <a:rPr lang="fr-MA" dirty="0"/>
              <a:t>➤ Elle permet de détecter en temps réel :</a:t>
            </a:r>
          </a:p>
          <a:p>
            <a:r>
              <a:rPr lang="fr-MA" dirty="0"/>
              <a:t>les </a:t>
            </a:r>
            <a:r>
              <a:rPr lang="fr-MA" b="1" dirty="0"/>
              <a:t>pannes imminentes</a:t>
            </a:r>
            <a:r>
              <a:rPr lang="fr-MA" dirty="0"/>
              <a:t> d’une machine,</a:t>
            </a:r>
          </a:p>
          <a:p>
            <a:r>
              <a:rPr lang="fr-MA" dirty="0"/>
              <a:t>les </a:t>
            </a:r>
            <a:r>
              <a:rPr lang="fr-MA" b="1" dirty="0"/>
              <a:t>surchauffes</a:t>
            </a:r>
            <a:r>
              <a:rPr lang="fr-MA" dirty="0"/>
              <a:t> ou vibrations anormales,</a:t>
            </a:r>
          </a:p>
          <a:p>
            <a:r>
              <a:rPr lang="fr-MA" dirty="0"/>
              <a:t>ou encore des </a:t>
            </a:r>
            <a:r>
              <a:rPr lang="fr-MA" b="1" dirty="0"/>
              <a:t>situations dangereuses</a:t>
            </a:r>
            <a:r>
              <a:rPr lang="fr-MA" dirty="0"/>
              <a:t> pour les employés.</a:t>
            </a:r>
          </a:p>
          <a:p>
            <a:r>
              <a:rPr lang="fr-MA" dirty="0"/>
              <a:t>L’objectif est de </a:t>
            </a:r>
            <a:r>
              <a:rPr lang="fr-MA" b="1" dirty="0"/>
              <a:t>prévenir les accidents</a:t>
            </a:r>
            <a:r>
              <a:rPr lang="fr-MA" dirty="0"/>
              <a:t>, de </a:t>
            </a:r>
            <a:r>
              <a:rPr lang="fr-MA" b="1" dirty="0"/>
              <a:t>réduire les temps d’arrêt</a:t>
            </a:r>
            <a:r>
              <a:rPr lang="fr-MA" dirty="0"/>
              <a:t> et de </a:t>
            </a:r>
            <a:r>
              <a:rPr lang="fr-MA" b="1" dirty="0"/>
              <a:t>renforcer la sécurité du personnel</a:t>
            </a:r>
            <a:r>
              <a:rPr lang="fr-MA" dirty="0"/>
              <a:t>.</a:t>
            </a:r>
          </a:p>
          <a:p>
            <a:r>
              <a:rPr lang="fr-MA" dirty="0"/>
              <a:t>➤ On parle ici de </a:t>
            </a:r>
            <a:r>
              <a:rPr lang="fr-MA" i="1" dirty="0"/>
              <a:t>maintenance prédictive</a:t>
            </a:r>
            <a:r>
              <a:rPr lang="fr-MA" dirty="0"/>
              <a:t> : les capteurs collectent des données et l’IA analyse ces signaux pour </a:t>
            </a:r>
            <a:r>
              <a:rPr lang="fr-MA" b="1" dirty="0"/>
              <a:t>prévoir une défaillance avant qu’elle ne se produise.</a:t>
            </a:r>
            <a:r>
              <a:rPr lang="fr-MA" dirty="0"/>
              <a:t> »</a:t>
            </a:r>
          </a:p>
          <a:p>
            <a:endParaRPr lang="fr-MA" dirty="0"/>
          </a:p>
          <a:p>
            <a:r>
              <a:rPr lang="fr-MA" dirty="0"/>
              <a:t>⚙️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Dans les usines </a:t>
            </a:r>
            <a:r>
              <a:rPr lang="fr-MA" b="1" dirty="0"/>
              <a:t>Renault</a:t>
            </a:r>
            <a:r>
              <a:rPr lang="fr-MA" dirty="0"/>
              <a:t>, les machines signalent automatiquement les anomalies avant qu’une panne ne bloque toute la chaîne de production.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Optimiser les chaînes d’approvisionnement et les transports</a:t>
            </a:r>
          </a:p>
          <a:p>
            <a:endParaRPr lang="fr-MA" dirty="0"/>
          </a:p>
          <a:p>
            <a:r>
              <a:rPr lang="fr-MA" dirty="0"/>
              <a:t>➤ L’IA aide les entreprises à :</a:t>
            </a:r>
          </a:p>
          <a:p>
            <a:r>
              <a:rPr lang="fr-MA" b="1" dirty="0"/>
              <a:t>suivre les produits</a:t>
            </a:r>
            <a:r>
              <a:rPr lang="fr-MA" dirty="0"/>
              <a:t> à chaque étape du cycle de production,</a:t>
            </a:r>
          </a:p>
          <a:p>
            <a:r>
              <a:rPr lang="fr-MA" b="1" dirty="0"/>
              <a:t>anticiper les retards</a:t>
            </a:r>
            <a:r>
              <a:rPr lang="fr-MA" dirty="0"/>
              <a:t> de livraison ou les ruptures de stock,</a:t>
            </a:r>
          </a:p>
          <a:p>
            <a:r>
              <a:rPr lang="fr-MA" b="1" dirty="0"/>
              <a:t>optimiser les itinéraires de transport</a:t>
            </a:r>
            <a:r>
              <a:rPr lang="fr-MA" dirty="0"/>
              <a:t> pour réduire les coûts et le temps.</a:t>
            </a:r>
          </a:p>
          <a:p>
            <a:r>
              <a:rPr lang="fr-MA" dirty="0"/>
              <a:t>En résumé, elle permet de rendre toute la chaîne d’approvisionnement </a:t>
            </a:r>
            <a:r>
              <a:rPr lang="fr-MA" b="1" dirty="0"/>
              <a:t>plus fluide, plus transparente et plus rentable.</a:t>
            </a:r>
            <a:r>
              <a:rPr lang="fr-MA" dirty="0"/>
              <a:t> »</a:t>
            </a:r>
          </a:p>
          <a:p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7618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Générer des plans de projet plus précis et plus réalistes</a:t>
            </a:r>
          </a:p>
          <a:p>
            <a:r>
              <a:rPr lang="fr-MA" dirty="0"/>
              <a:t>➤ Grâce à l’analyse de </a:t>
            </a:r>
            <a:r>
              <a:rPr lang="fr-MA" b="1" dirty="0"/>
              <a:t>données historiques</a:t>
            </a:r>
            <a:r>
              <a:rPr lang="fr-MA" dirty="0"/>
              <a:t>, de projets passés ou de performances d’équipes, l’IA peut :</a:t>
            </a:r>
          </a:p>
          <a:p>
            <a:r>
              <a:rPr lang="fr-MA" dirty="0"/>
              <a:t>estimer les délais plus précisément,</a:t>
            </a:r>
          </a:p>
          <a:p>
            <a:r>
              <a:rPr lang="fr-MA" dirty="0"/>
              <a:t>prévoir les coûts réels,</a:t>
            </a:r>
          </a:p>
          <a:p>
            <a:r>
              <a:rPr lang="fr-MA" dirty="0"/>
              <a:t>et identifier les risques avant qu’ils ne surviennent.</a:t>
            </a:r>
          </a:p>
          <a:p>
            <a:r>
              <a:rPr lang="fr-MA" dirty="0"/>
              <a:t>Ces modèles d’IA utilisent des algorithmes de simulation (</a:t>
            </a:r>
            <a:r>
              <a:rPr lang="fr-MA" i="1" dirty="0" err="1"/>
              <a:t>what</a:t>
            </a:r>
            <a:r>
              <a:rPr lang="fr-MA" i="1" dirty="0"/>
              <a:t>-if </a:t>
            </a:r>
            <a:r>
              <a:rPr lang="fr-MA" i="1" dirty="0" err="1"/>
              <a:t>analysis</a:t>
            </a:r>
            <a:r>
              <a:rPr lang="fr-MA" dirty="0"/>
              <a:t>) pour proposer </a:t>
            </a:r>
            <a:r>
              <a:rPr lang="fr-MA" b="1" dirty="0"/>
              <a:t>plusieurs scénarios possibles</a:t>
            </a:r>
            <a:r>
              <a:rPr lang="fr-MA" dirty="0"/>
              <a:t>, en tenant compte des imprévus. »</a:t>
            </a:r>
          </a:p>
          <a:p>
            <a:r>
              <a:rPr lang="fr-MA" dirty="0"/>
              <a:t>🧠 </a:t>
            </a:r>
            <a:r>
              <a:rPr lang="fr-MA" i="1" dirty="0"/>
              <a:t>Exemple concret :</a:t>
            </a:r>
            <a:endParaRPr lang="fr-MA" dirty="0"/>
          </a:p>
          <a:p>
            <a:r>
              <a:rPr lang="fr-MA" dirty="0"/>
              <a:t>« Des outils comme </a:t>
            </a:r>
            <a:r>
              <a:rPr lang="fr-MA" b="1" dirty="0"/>
              <a:t>Oracle </a:t>
            </a:r>
            <a:r>
              <a:rPr lang="fr-MA" b="1" dirty="0" err="1"/>
              <a:t>Primavera</a:t>
            </a:r>
            <a:r>
              <a:rPr lang="fr-MA" b="1" dirty="0"/>
              <a:t> Cloud</a:t>
            </a:r>
            <a:r>
              <a:rPr lang="fr-MA" dirty="0"/>
              <a:t>, </a:t>
            </a:r>
            <a:r>
              <a:rPr lang="fr-MA" b="1" dirty="0"/>
              <a:t>Asana Intelligence</a:t>
            </a:r>
            <a:r>
              <a:rPr lang="fr-MA" dirty="0"/>
              <a:t> ou </a:t>
            </a:r>
            <a:r>
              <a:rPr lang="fr-MA" b="1" dirty="0" err="1"/>
              <a:t>Forecast</a:t>
            </a:r>
            <a:r>
              <a:rPr lang="fr-MA" b="1" dirty="0"/>
              <a:t> AI</a:t>
            </a:r>
            <a:r>
              <a:rPr lang="fr-MA" dirty="0"/>
              <a:t> sont capables de suggérer automatiquement des durées et ressources optimales selon le type de projet. »</a:t>
            </a:r>
          </a:p>
          <a:p>
            <a:endParaRPr lang="fr-MA" b="1" dirty="0"/>
          </a:p>
          <a:p>
            <a:r>
              <a:rPr lang="fr-MA" b="1" dirty="0"/>
              <a:t>🔹 2. Coordonner les activités des différentes parties prenantes</a:t>
            </a:r>
          </a:p>
          <a:p>
            <a:r>
              <a:rPr lang="fr-MA" dirty="0"/>
              <a:t>« Deuxième grand usage : </a:t>
            </a:r>
            <a:r>
              <a:rPr lang="fr-MA" b="1" dirty="0"/>
              <a:t>la coordination et la collaboration</a:t>
            </a:r>
            <a:r>
              <a:rPr lang="fr-MA" dirty="0"/>
              <a:t>.</a:t>
            </a:r>
          </a:p>
          <a:p>
            <a:r>
              <a:rPr lang="fr-MA" dirty="0"/>
              <a:t>Dans les projets complexes, plusieurs équipes travaillent simultanément, parfois sur différents continents.</a:t>
            </a:r>
            <a:br>
              <a:rPr lang="fr-MA" dirty="0"/>
            </a:br>
            <a:r>
              <a:rPr lang="fr-MA" dirty="0"/>
              <a:t>➤ L’IA aide à :</a:t>
            </a:r>
          </a:p>
          <a:p>
            <a:r>
              <a:rPr lang="fr-MA" dirty="0"/>
              <a:t>répartir les tâches automatiquement,</a:t>
            </a:r>
          </a:p>
          <a:p>
            <a:r>
              <a:rPr lang="fr-MA" dirty="0"/>
              <a:t>envoyer des rappels aux bonnes personnes,</a:t>
            </a:r>
          </a:p>
          <a:p>
            <a:r>
              <a:rPr lang="fr-MA" dirty="0"/>
              <a:t>détecter les conflits de planning,</a:t>
            </a:r>
          </a:p>
          <a:p>
            <a:r>
              <a:rPr lang="fr-MA" dirty="0"/>
              <a:t>et centraliser les échanges dans un même espace.</a:t>
            </a:r>
          </a:p>
          <a:p>
            <a:r>
              <a:rPr lang="fr-MA" dirty="0"/>
              <a:t>En résumé, elle joue le rôle d’un </a:t>
            </a:r>
            <a:r>
              <a:rPr lang="fr-MA" b="1" dirty="0"/>
              <a:t>assistant virtuel de gestion</a:t>
            </a:r>
            <a:r>
              <a:rPr lang="fr-MA" dirty="0"/>
              <a:t>. »</a:t>
            </a:r>
          </a:p>
          <a:p>
            <a:r>
              <a:rPr lang="fr-MA" dirty="0"/>
              <a:t>📋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$</a:t>
            </a:r>
            <a:endParaRPr lang="fr-MA" dirty="0"/>
          </a:p>
          <a:p>
            <a:r>
              <a:rPr lang="fr-MA" b="1" dirty="0"/>
              <a:t>Microsoft </a:t>
            </a:r>
            <a:r>
              <a:rPr lang="fr-MA" b="1" dirty="0" err="1"/>
              <a:t>Copilot</a:t>
            </a:r>
            <a:r>
              <a:rPr lang="fr-MA" dirty="0"/>
              <a:t> dans Teams résume les réunions, identifie les décisions clés et assigne les actions automatiquement.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Améliorer la communication au sein de l’équipe</a:t>
            </a:r>
          </a:p>
          <a:p>
            <a:endParaRPr lang="fr-MA" dirty="0"/>
          </a:p>
          <a:p>
            <a:endParaRPr lang="fr-MA" dirty="0"/>
          </a:p>
          <a:p>
            <a:r>
              <a:rPr lang="fr-MA" dirty="0"/>
              <a:t>➤ Grâce à la traduction automatique, à la génération de comptes rendus, et à la détection de ton ou d’émotion dans les messages, elle facilite le travail des équipes multiculturelles et distantes.</a:t>
            </a:r>
          </a:p>
          <a:p>
            <a:r>
              <a:rPr lang="fr-MA" dirty="0"/>
              <a:t>Par exemple, un message écrit par un membre stressé peut être reformulé automatiquement de manière plus neutre et collaborative.</a:t>
            </a:r>
          </a:p>
          <a:p>
            <a:r>
              <a:rPr lang="fr-MA" dirty="0"/>
              <a:t>L’IA aide donc à </a:t>
            </a:r>
            <a:r>
              <a:rPr lang="fr-MA" b="1" dirty="0"/>
              <a:t>maintenir une bonne dynamique d’équipe</a:t>
            </a:r>
            <a:r>
              <a:rPr lang="fr-MA" dirty="0"/>
              <a:t> et à réduire les malentendus. »</a:t>
            </a:r>
          </a:p>
          <a:p>
            <a:r>
              <a:rPr lang="fr-MA" dirty="0"/>
              <a:t>💬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Google Workspace</a:t>
            </a:r>
            <a:r>
              <a:rPr lang="fr-MA" dirty="0"/>
              <a:t> proposent déjà la rédaction automatique de résumés de réunions.</a:t>
            </a:r>
          </a:p>
          <a:p>
            <a:r>
              <a:rPr lang="fr-MA" b="1" dirty="0"/>
              <a:t>Notion AI</a:t>
            </a:r>
            <a:r>
              <a:rPr lang="fr-MA" dirty="0"/>
              <a:t> reformule les notes de projet et met à jour les tableaux de bord instantanément.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4. Suivre l’avancement d’un projet et identifier les risques</a:t>
            </a:r>
          </a:p>
          <a:p>
            <a:endParaRPr lang="fr-MA" dirty="0"/>
          </a:p>
          <a:p>
            <a:r>
              <a:rPr lang="fr-MA" dirty="0"/>
              <a:t>➤ Elle analyse les données en temps réel pour :</a:t>
            </a:r>
          </a:p>
          <a:p>
            <a:r>
              <a:rPr lang="fr-MA" dirty="0"/>
              <a:t>signaler les retards,</a:t>
            </a:r>
          </a:p>
          <a:p>
            <a:r>
              <a:rPr lang="fr-MA" dirty="0"/>
              <a:t>générer des alertes,</a:t>
            </a:r>
          </a:p>
          <a:p>
            <a:r>
              <a:rPr lang="fr-MA" dirty="0"/>
              <a:t>et proposer des recommandations.</a:t>
            </a:r>
          </a:p>
          <a:p>
            <a:r>
              <a:rPr lang="fr-MA" dirty="0"/>
              <a:t>Cela permet au chef de projet de réagir immédiatement avant que les problèmes ne deviennent critiques.</a:t>
            </a:r>
          </a:p>
          <a:p>
            <a:r>
              <a:rPr lang="fr-MA" dirty="0"/>
              <a:t>➤ On parle de </a:t>
            </a:r>
            <a:r>
              <a:rPr lang="fr-MA" i="1" dirty="0"/>
              <a:t>gestion prédictive</a:t>
            </a:r>
            <a:r>
              <a:rPr lang="fr-MA" dirty="0"/>
              <a:t> : au lieu de constater les erreurs après coup, l’IA les anticipe. »</a:t>
            </a:r>
          </a:p>
          <a:p>
            <a:endParaRPr lang="fr-MA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6669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Identifier les candidats potentiels grâce à l’analyse de données</a:t>
            </a:r>
          </a:p>
          <a:p>
            <a:endParaRPr lang="fr-MA" dirty="0"/>
          </a:p>
          <a:p>
            <a:r>
              <a:rPr lang="fr-MA" dirty="0"/>
              <a:t>➤ Les recruteurs peuvent désormais utiliser l’IA pour analyser de </a:t>
            </a:r>
            <a:r>
              <a:rPr lang="fr-MA" b="1" dirty="0"/>
              <a:t>grandes quantités de données</a:t>
            </a:r>
            <a:r>
              <a:rPr lang="fr-MA" dirty="0"/>
              <a:t> :</a:t>
            </a:r>
          </a:p>
          <a:p>
            <a:r>
              <a:rPr lang="fr-MA" dirty="0"/>
              <a:t>les profils LinkedIn,</a:t>
            </a:r>
          </a:p>
          <a:p>
            <a:r>
              <a:rPr lang="fr-MA" dirty="0"/>
              <a:t>les bases de CV internes,</a:t>
            </a:r>
          </a:p>
          <a:p>
            <a:r>
              <a:rPr lang="fr-MA" dirty="0"/>
              <a:t>les réseaux sociaux professionnels,</a:t>
            </a:r>
          </a:p>
          <a:p>
            <a:r>
              <a:rPr lang="fr-MA" dirty="0"/>
              <a:t>et même les plateformes comme Indeed ou </a:t>
            </a:r>
            <a:r>
              <a:rPr lang="fr-MA" dirty="0" err="1"/>
              <a:t>Glassdoor</a:t>
            </a:r>
            <a:r>
              <a:rPr lang="fr-MA" dirty="0"/>
              <a:t>.</a:t>
            </a:r>
          </a:p>
          <a:p>
            <a:r>
              <a:rPr lang="fr-MA" dirty="0"/>
              <a:t>Ces algorithmes repèrent les </a:t>
            </a:r>
            <a:r>
              <a:rPr lang="fr-MA" b="1" dirty="0"/>
              <a:t>mots-clés</a:t>
            </a:r>
            <a:r>
              <a:rPr lang="fr-MA" dirty="0"/>
              <a:t>, les </a:t>
            </a:r>
            <a:r>
              <a:rPr lang="fr-MA" b="1" dirty="0"/>
              <a:t>compétences techniques</a:t>
            </a:r>
            <a:r>
              <a:rPr lang="fr-MA" dirty="0"/>
              <a:t> et les </a:t>
            </a:r>
            <a:r>
              <a:rPr lang="fr-MA" b="1" dirty="0"/>
              <a:t>expériences pertinentes</a:t>
            </a:r>
            <a:r>
              <a:rPr lang="fr-MA" dirty="0"/>
              <a:t>.</a:t>
            </a:r>
          </a:p>
          <a:p>
            <a:r>
              <a:rPr lang="fr-MA" dirty="0"/>
              <a:t>➤ En quelques secondes, ils peuvent dresser </a:t>
            </a:r>
            <a:r>
              <a:rPr lang="fr-MA" b="1" dirty="0"/>
              <a:t>une liste de profils qualifiés</a:t>
            </a:r>
            <a:r>
              <a:rPr lang="fr-MA" dirty="0"/>
              <a:t> parmi des milliers de candidatures. »</a:t>
            </a:r>
          </a:p>
          <a:p>
            <a:r>
              <a:rPr lang="fr-MA" dirty="0"/>
              <a:t>💡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LinkedIn </a:t>
            </a:r>
            <a:r>
              <a:rPr lang="fr-MA" b="1" dirty="0" err="1"/>
              <a:t>Recruiter</a:t>
            </a:r>
            <a:r>
              <a:rPr lang="fr-MA" dirty="0"/>
              <a:t> et </a:t>
            </a:r>
            <a:r>
              <a:rPr lang="fr-MA" b="1" dirty="0" err="1"/>
              <a:t>HireVue</a:t>
            </a:r>
            <a:r>
              <a:rPr lang="fr-MA" dirty="0"/>
              <a:t> utilisent déjà des systèmes d’IA pour classer et recommander les candidats selon les critères du poste.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Évaluer les candidats à partir de leurs compétences et de leur personnalité</a:t>
            </a:r>
          </a:p>
          <a:p>
            <a:r>
              <a:rPr lang="fr-MA" dirty="0"/>
              <a:t>« Deuxième usage : l’évaluation intelligente.</a:t>
            </a:r>
          </a:p>
          <a:p>
            <a:r>
              <a:rPr lang="fr-MA" dirty="0"/>
              <a:t>L’IA peut analyser les </a:t>
            </a:r>
            <a:r>
              <a:rPr lang="fr-MA" b="1" dirty="0"/>
              <a:t>CV, les entretiens vidéo et même les tests psychométriques</a:t>
            </a:r>
            <a:r>
              <a:rPr lang="fr-MA" dirty="0"/>
              <a:t> pour évaluer les compétences et la personnalité des candidats.</a:t>
            </a:r>
          </a:p>
          <a:p>
            <a:r>
              <a:rPr lang="fr-MA" dirty="0"/>
              <a:t>➤ Les algorithmes détectent :</a:t>
            </a:r>
          </a:p>
          <a:p>
            <a:r>
              <a:rPr lang="fr-MA" dirty="0"/>
              <a:t>la </a:t>
            </a:r>
            <a:r>
              <a:rPr lang="fr-MA" b="1" dirty="0"/>
              <a:t>cohérence du parcours professionnel</a:t>
            </a:r>
            <a:r>
              <a:rPr lang="fr-MA" dirty="0"/>
              <a:t>,</a:t>
            </a:r>
          </a:p>
          <a:p>
            <a:r>
              <a:rPr lang="fr-MA" dirty="0"/>
              <a:t>le </a:t>
            </a:r>
            <a:r>
              <a:rPr lang="fr-MA" b="1" dirty="0"/>
              <a:t>niveau de motivation</a:t>
            </a:r>
            <a:r>
              <a:rPr lang="fr-MA" dirty="0"/>
              <a:t>,</a:t>
            </a:r>
          </a:p>
          <a:p>
            <a:r>
              <a:rPr lang="fr-MA" dirty="0"/>
              <a:t>et parfois même les </a:t>
            </a:r>
            <a:r>
              <a:rPr lang="fr-MA" b="1" dirty="0"/>
              <a:t>indices de communication non verbale</a:t>
            </a:r>
            <a:r>
              <a:rPr lang="fr-MA" dirty="0"/>
              <a:t> comme le ton de la voix ou les expressions faciales.</a:t>
            </a:r>
          </a:p>
          <a:p>
            <a:r>
              <a:rPr lang="fr-MA" dirty="0"/>
              <a:t>Cela permet aux recruteurs de </a:t>
            </a:r>
            <a:r>
              <a:rPr lang="fr-MA" b="1" dirty="0"/>
              <a:t>mieux comprendre chaque candidat</a:t>
            </a:r>
            <a:r>
              <a:rPr lang="fr-MA" dirty="0"/>
              <a:t> et de prendre des décisions plus éclairées. »</a:t>
            </a:r>
          </a:p>
          <a:p>
            <a:endParaRPr lang="fr-MA" dirty="0"/>
          </a:p>
          <a:p>
            <a:r>
              <a:rPr lang="fr-MA" dirty="0"/>
              <a:t>📊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 err="1"/>
              <a:t>HireVue</a:t>
            </a:r>
            <a:r>
              <a:rPr lang="fr-MA" dirty="0"/>
              <a:t> utilise l’analyse vidéo et vocale pour évaluer les entretiens.</a:t>
            </a:r>
          </a:p>
          <a:p>
            <a:r>
              <a:rPr lang="fr-MA" b="1" dirty="0" err="1"/>
              <a:t>Pymetrics</a:t>
            </a:r>
            <a:r>
              <a:rPr lang="fr-MA" dirty="0"/>
              <a:t> propose des jeux cognitifs basés sur l’IA pour mesurer la logique, la créativité et la gestion du stress.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Sélectionner les candidats selon leur adéquation au poste</a:t>
            </a:r>
          </a:p>
          <a:p>
            <a:endParaRPr lang="fr-MA" dirty="0"/>
          </a:p>
          <a:p>
            <a:r>
              <a:rPr lang="fr-MA" dirty="0"/>
              <a:t>➤ Concrètement, elle compare le profil du candidat à la description du poste en tenant compte :</a:t>
            </a:r>
          </a:p>
          <a:p>
            <a:r>
              <a:rPr lang="fr-MA" dirty="0"/>
              <a:t>des </a:t>
            </a:r>
            <a:r>
              <a:rPr lang="fr-MA" b="1" dirty="0"/>
              <a:t>compétences techniques (hard </a:t>
            </a:r>
            <a:r>
              <a:rPr lang="fr-MA" b="1" dirty="0" err="1"/>
              <a:t>skills</a:t>
            </a:r>
            <a:r>
              <a:rPr lang="fr-MA" b="1" dirty="0"/>
              <a:t>)</a:t>
            </a:r>
            <a:r>
              <a:rPr lang="fr-MA" dirty="0"/>
              <a:t>,</a:t>
            </a:r>
          </a:p>
          <a:p>
            <a:r>
              <a:rPr lang="fr-MA" dirty="0"/>
              <a:t>des </a:t>
            </a:r>
            <a:r>
              <a:rPr lang="fr-MA" b="1" dirty="0"/>
              <a:t>qualités humaines (soft </a:t>
            </a:r>
            <a:r>
              <a:rPr lang="fr-MA" b="1" dirty="0" err="1"/>
              <a:t>skills</a:t>
            </a:r>
            <a:r>
              <a:rPr lang="fr-MA" b="1" dirty="0"/>
              <a:t>)</a:t>
            </a:r>
            <a:r>
              <a:rPr lang="fr-MA" dirty="0"/>
              <a:t>,</a:t>
            </a:r>
          </a:p>
          <a:p>
            <a:r>
              <a:rPr lang="fr-MA" dirty="0"/>
              <a:t>et de la </a:t>
            </a:r>
            <a:r>
              <a:rPr lang="fr-MA" b="1" dirty="0"/>
              <a:t>culture d’entreprise</a:t>
            </a:r>
            <a:r>
              <a:rPr lang="fr-MA" dirty="0"/>
              <a:t>.</a:t>
            </a:r>
          </a:p>
          <a:p>
            <a:r>
              <a:rPr lang="fr-MA" dirty="0"/>
              <a:t>Le but est de </a:t>
            </a:r>
            <a:r>
              <a:rPr lang="fr-MA" b="1" dirty="0"/>
              <a:t>réduire le nombre d’entretiens</a:t>
            </a:r>
            <a:r>
              <a:rPr lang="fr-MA" dirty="0"/>
              <a:t> nécessaires et de concentrer le temps humain sur les profils les plus prometteurs. »</a:t>
            </a:r>
          </a:p>
          <a:p>
            <a:endParaRPr lang="fr-MA" dirty="0"/>
          </a:p>
          <a:p>
            <a:r>
              <a:rPr lang="fr-MA" dirty="0"/>
              <a:t>💬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SAP </a:t>
            </a:r>
            <a:r>
              <a:rPr lang="fr-MA" b="1" dirty="0" err="1"/>
              <a:t>SuccessFactors</a:t>
            </a:r>
            <a:r>
              <a:rPr lang="fr-MA" dirty="0"/>
              <a:t> et </a:t>
            </a:r>
            <a:r>
              <a:rPr lang="fr-MA" b="1" dirty="0" err="1"/>
              <a:t>Workday</a:t>
            </a:r>
            <a:r>
              <a:rPr lang="fr-MA" b="1" dirty="0"/>
              <a:t> AI</a:t>
            </a:r>
            <a:r>
              <a:rPr lang="fr-MA" dirty="0"/>
              <a:t> classent automatiquement les candidatures par taux de compatibilité.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5435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🔹 1. Créer des personnages intelligents et réalistes</a:t>
            </a:r>
          </a:p>
          <a:p>
            <a:r>
              <a:rPr lang="fr-MA" dirty="0"/>
              <a:t>« L’IA permet de donner vie à des </a:t>
            </a:r>
            <a:r>
              <a:rPr lang="fr-MA" b="1" dirty="0"/>
              <a:t>personnages non-joueurs</a:t>
            </a:r>
            <a:r>
              <a:rPr lang="fr-MA" dirty="0"/>
              <a:t>, qu’on appelle les </a:t>
            </a:r>
            <a:r>
              <a:rPr lang="fr-MA" i="1" dirty="0"/>
              <a:t>PNJ</a:t>
            </a:r>
            <a:r>
              <a:rPr lang="fr-MA" dirty="0"/>
              <a:t> (Personnages Non Joueurs).</a:t>
            </a:r>
          </a:p>
          <a:p>
            <a:r>
              <a:rPr lang="fr-MA" dirty="0"/>
              <a:t>➤ Grâce à des algorithmes d’apprentissage, ces personnages peuvent :</a:t>
            </a:r>
          </a:p>
          <a:p>
            <a:r>
              <a:rPr lang="fr-MA" dirty="0"/>
              <a:t>réagir de manière </a:t>
            </a:r>
            <a:r>
              <a:rPr lang="fr-MA" b="1" dirty="0"/>
              <a:t>cohérente et crédible</a:t>
            </a:r>
            <a:r>
              <a:rPr lang="fr-MA" dirty="0"/>
              <a:t>,</a:t>
            </a:r>
          </a:p>
          <a:p>
            <a:r>
              <a:rPr lang="fr-MA" b="1" dirty="0"/>
              <a:t>s’adapter au comportement du joueur</a:t>
            </a:r>
            <a:r>
              <a:rPr lang="fr-MA" dirty="0"/>
              <a:t>,</a:t>
            </a:r>
          </a:p>
          <a:p>
            <a:r>
              <a:rPr lang="fr-MA" dirty="0"/>
              <a:t>et même </a:t>
            </a:r>
            <a:r>
              <a:rPr lang="fr-MA" b="1" dirty="0"/>
              <a:t>prendre des décisions autonomes</a:t>
            </a:r>
            <a:r>
              <a:rPr lang="fr-MA" dirty="0"/>
              <a:t> pendant la partie.</a:t>
            </a:r>
          </a:p>
          <a:p>
            <a:r>
              <a:rPr lang="fr-MA" dirty="0"/>
              <a:t>Cela rend le jeu beaucoup plus immersif et imprévisible. »</a:t>
            </a:r>
          </a:p>
          <a:p>
            <a:endParaRPr lang="fr-MA" dirty="0"/>
          </a:p>
          <a:p>
            <a:r>
              <a:rPr lang="fr-MA" dirty="0"/>
              <a:t>🕹️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dirty="0"/>
              <a:t>Dans </a:t>
            </a:r>
            <a:r>
              <a:rPr lang="fr-MA" b="1" dirty="0"/>
              <a:t>The Last of Us II</a:t>
            </a:r>
            <a:r>
              <a:rPr lang="fr-MA" dirty="0"/>
              <a:t>, les ennemis communiquent entre eux, se déplacent en groupe et réagissent différemment selon la stratégie du joueur.</a:t>
            </a:r>
          </a:p>
          <a:p>
            <a:r>
              <a:rPr lang="fr-MA" dirty="0"/>
              <a:t>Dans </a:t>
            </a:r>
            <a:r>
              <a:rPr lang="fr-MA" b="1" dirty="0"/>
              <a:t>Assassin’s Creed</a:t>
            </a:r>
            <a:r>
              <a:rPr lang="fr-MA" dirty="0"/>
              <a:t>, les foules se comportent comme de vraies personnes : elles fuient, parlent entre elles, ou réagissent aux actions du joueur.</a:t>
            </a:r>
          </a:p>
          <a:p>
            <a:r>
              <a:rPr lang="fr-MA" dirty="0"/>
              <a:t>Dans </a:t>
            </a:r>
            <a:r>
              <a:rPr lang="fr-MA" b="1" dirty="0"/>
              <a:t>FIFA</a:t>
            </a:r>
            <a:r>
              <a:rPr lang="fr-MA" dirty="0"/>
              <a:t>, les adversaires virtuels adaptent leur tactique selon votre style de jeu.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2. Générer des environnements dynamiques et adaptatifs</a:t>
            </a:r>
          </a:p>
          <a:p>
            <a:r>
              <a:rPr lang="fr-MA" dirty="0"/>
              <a:t>« Deuxième application : la </a:t>
            </a:r>
            <a:r>
              <a:rPr lang="fr-MA" b="1" dirty="0"/>
              <a:t>création d’environnements dynamiques</a:t>
            </a:r>
            <a:r>
              <a:rPr lang="fr-MA" dirty="0"/>
              <a:t>.</a:t>
            </a:r>
          </a:p>
          <a:p>
            <a:r>
              <a:rPr lang="fr-MA" dirty="0"/>
              <a:t>➤ L’IA peut générer automatiquement :</a:t>
            </a:r>
          </a:p>
          <a:p>
            <a:r>
              <a:rPr lang="fr-MA" dirty="0"/>
              <a:t>des paysages,</a:t>
            </a:r>
          </a:p>
          <a:p>
            <a:r>
              <a:rPr lang="fr-MA" dirty="0"/>
              <a:t>des cartes de jeu,</a:t>
            </a:r>
          </a:p>
          <a:p>
            <a:r>
              <a:rPr lang="fr-MA" dirty="0"/>
              <a:t>des bâtiments,</a:t>
            </a:r>
          </a:p>
          <a:p>
            <a:r>
              <a:rPr lang="fr-MA" dirty="0"/>
              <a:t>ou des missions différentes à chaque partie.</a:t>
            </a:r>
          </a:p>
          <a:p>
            <a:r>
              <a:rPr lang="fr-MA" dirty="0"/>
              <a:t>On parle de </a:t>
            </a:r>
            <a:r>
              <a:rPr lang="fr-MA" b="1" dirty="0"/>
              <a:t>“</a:t>
            </a:r>
            <a:r>
              <a:rPr lang="fr-MA" b="1" dirty="0" err="1"/>
              <a:t>procedural</a:t>
            </a:r>
            <a:r>
              <a:rPr lang="fr-MA" b="1" dirty="0"/>
              <a:t> </a:t>
            </a:r>
            <a:r>
              <a:rPr lang="fr-MA" b="1" dirty="0" err="1"/>
              <a:t>generation</a:t>
            </a:r>
            <a:r>
              <a:rPr lang="fr-MA" b="1" dirty="0"/>
              <a:t>”</a:t>
            </a:r>
            <a:r>
              <a:rPr lang="fr-MA" dirty="0"/>
              <a:t>, c’est-à-dire la création automatique de contenu à partir de règles définies.</a:t>
            </a:r>
          </a:p>
          <a:p>
            <a:r>
              <a:rPr lang="fr-MA" dirty="0"/>
              <a:t>L’intérêt, c’est que le joueur vit </a:t>
            </a:r>
            <a:r>
              <a:rPr lang="fr-MA" b="1" dirty="0"/>
              <a:t>une expérience unique à chaque fois</a:t>
            </a:r>
            <a:r>
              <a:rPr lang="fr-MA" dirty="0"/>
              <a:t>, sans jamais se lasser. »</a:t>
            </a:r>
          </a:p>
          <a:p>
            <a:endParaRPr lang="fr-MA" dirty="0"/>
          </a:p>
          <a:p>
            <a:r>
              <a:rPr lang="fr-MA" dirty="0"/>
              <a:t>🌍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Minecraft</a:t>
            </a:r>
            <a:r>
              <a:rPr lang="fr-MA" dirty="0"/>
              <a:t> utilisent des algorithmes d’IA pour créer des mondes entiers, planètes, créatures et ressources aléatoires.</a:t>
            </a:r>
          </a:p>
          <a:p>
            <a:r>
              <a:rPr lang="fr-MA" b="1" dirty="0" err="1"/>
              <a:t>Fortnite</a:t>
            </a:r>
            <a:r>
              <a:rPr lang="fr-MA" dirty="0"/>
              <a:t> ajuste en temps réel la difficulté selon le niveau des joueurs présents.</a:t>
            </a:r>
          </a:p>
          <a:p>
            <a:endParaRPr lang="fr-MA" dirty="0"/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3. Optimiser le graphisme, la physique et le son</a:t>
            </a:r>
          </a:p>
          <a:p>
            <a:r>
              <a:rPr lang="fr-MA" dirty="0"/>
              <a:t>« Enfin, l’IA est aussi utilisée pour </a:t>
            </a:r>
            <a:r>
              <a:rPr lang="fr-MA" b="1" dirty="0"/>
              <a:t>améliorer la qualité visuelle et sonore des jeux</a:t>
            </a:r>
            <a:r>
              <a:rPr lang="fr-MA" dirty="0"/>
              <a:t>.</a:t>
            </a:r>
          </a:p>
          <a:p>
            <a:r>
              <a:rPr lang="fr-MA" dirty="0"/>
              <a:t>➤ Elle intervient dans :</a:t>
            </a:r>
          </a:p>
          <a:p>
            <a:r>
              <a:rPr lang="fr-MA" dirty="0"/>
              <a:t>la </a:t>
            </a:r>
            <a:r>
              <a:rPr lang="fr-MA" b="1" dirty="0"/>
              <a:t>reconstruction d’images haute résolution</a:t>
            </a:r>
            <a:r>
              <a:rPr lang="fr-MA" dirty="0"/>
              <a:t> en temps réel (</a:t>
            </a:r>
            <a:r>
              <a:rPr lang="fr-MA" i="1" dirty="0" err="1"/>
              <a:t>upscaling</a:t>
            </a:r>
            <a:r>
              <a:rPr lang="fr-MA" dirty="0"/>
              <a:t>),</a:t>
            </a:r>
          </a:p>
          <a:p>
            <a:r>
              <a:rPr lang="fr-MA" dirty="0"/>
              <a:t>la </a:t>
            </a:r>
            <a:r>
              <a:rPr lang="fr-MA" b="1" dirty="0"/>
              <a:t>simulation réaliste de la lumière, des ombres et des textures</a:t>
            </a:r>
            <a:r>
              <a:rPr lang="fr-MA" dirty="0"/>
              <a:t>,</a:t>
            </a:r>
          </a:p>
          <a:p>
            <a:r>
              <a:rPr lang="fr-MA" dirty="0"/>
              <a:t>et même la </a:t>
            </a:r>
            <a:r>
              <a:rPr lang="fr-MA" b="1" dirty="0"/>
              <a:t>création d’effets sonores ou de musiques adaptatives</a:t>
            </a:r>
            <a:r>
              <a:rPr lang="fr-MA" dirty="0"/>
              <a:t>.</a:t>
            </a:r>
          </a:p>
          <a:p>
            <a:r>
              <a:rPr lang="fr-MA" dirty="0"/>
              <a:t>Par exemple, si le joueur est en danger, l’IA peut rendre la musique plus rapide ou plus intense. »</a:t>
            </a:r>
          </a:p>
          <a:p>
            <a:r>
              <a:rPr lang="fr-MA" dirty="0"/>
              <a:t>🎨 </a:t>
            </a:r>
            <a:r>
              <a:rPr lang="fr-MA" i="1" dirty="0"/>
              <a:t>Exemples concrets :</a:t>
            </a:r>
            <a:endParaRPr lang="fr-MA" dirty="0"/>
          </a:p>
          <a:p>
            <a:r>
              <a:rPr lang="fr-MA" b="1" dirty="0"/>
              <a:t>NVIDIA DLSS</a:t>
            </a:r>
            <a:r>
              <a:rPr lang="fr-MA" dirty="0"/>
              <a:t> utilise l’IA pour augmenter la résolution des images sans perdre en performance.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2997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b="1" dirty="0" err="1"/>
              <a:t>hatGPT</a:t>
            </a:r>
            <a:r>
              <a:rPr lang="fr-MA" dirty="0"/>
              <a:t> est un générateur de texte basé sur l’intelligence artificielle capable de </a:t>
            </a:r>
            <a:r>
              <a:rPr lang="fr-MA" b="1" dirty="0"/>
              <a:t>rédiger, expliquer, traduire et dialoguer</a:t>
            </a:r>
            <a:r>
              <a:rPr lang="fr-MA" dirty="0"/>
              <a:t> en langage naturel.</a:t>
            </a:r>
            <a:br>
              <a:rPr lang="fr-MA" dirty="0"/>
            </a:br>
            <a:r>
              <a:rPr lang="fr-MA" dirty="0"/>
              <a:t>Il repose sur un </a:t>
            </a:r>
            <a:r>
              <a:rPr lang="fr-MA" b="1" dirty="0"/>
              <a:t>modèle de langage neuronal</a:t>
            </a:r>
            <a:r>
              <a:rPr lang="fr-MA" dirty="0"/>
              <a:t> (appelé </a:t>
            </a:r>
            <a:r>
              <a:rPr lang="fr-MA" i="1" dirty="0"/>
              <a:t>GPT</a:t>
            </a:r>
            <a:r>
              <a:rPr lang="fr-MA" dirty="0"/>
              <a:t>, pour </a:t>
            </a:r>
            <a:r>
              <a:rPr lang="fr-MA" i="1" dirty="0" err="1"/>
              <a:t>Generative</a:t>
            </a:r>
            <a:r>
              <a:rPr lang="fr-MA" i="1" dirty="0"/>
              <a:t> Pre-</a:t>
            </a:r>
            <a:r>
              <a:rPr lang="fr-MA" i="1" dirty="0" err="1"/>
              <a:t>trained</a:t>
            </a:r>
            <a:r>
              <a:rPr lang="fr-MA" i="1" dirty="0"/>
              <a:t> Transformer</a:t>
            </a:r>
            <a:r>
              <a:rPr lang="fr-MA" dirty="0"/>
              <a:t>) entraîné sur d’immenses volumes de textes.</a:t>
            </a:r>
            <a:br>
              <a:rPr lang="fr-MA" dirty="0"/>
            </a:br>
            <a:r>
              <a:rPr lang="fr-MA" dirty="0"/>
              <a:t>Grâce à cet apprentissage, il </a:t>
            </a:r>
            <a:r>
              <a:rPr lang="fr-MA" b="1" dirty="0"/>
              <a:t>comprend le contexte</a:t>
            </a:r>
            <a:r>
              <a:rPr lang="fr-MA" dirty="0"/>
              <a:t> et </a:t>
            </a:r>
            <a:r>
              <a:rPr lang="fr-MA" b="1" dirty="0"/>
              <a:t>produit des réponses cohérentes et pertinentes</a:t>
            </a:r>
            <a:r>
              <a:rPr lang="fr-MA" dirty="0"/>
              <a:t>, comme le ferait un humain.</a:t>
            </a:r>
          </a:p>
          <a:p>
            <a:endParaRPr lang="fr-FR" dirty="0"/>
          </a:p>
          <a:p>
            <a:endParaRPr lang="fr-FR" dirty="0"/>
          </a:p>
          <a:p>
            <a:r>
              <a:rPr lang="fr-MA" b="1" dirty="0"/>
              <a:t>GPT</a:t>
            </a:r>
            <a:r>
              <a:rPr lang="fr-MA" dirty="0"/>
              <a:t> signifie </a:t>
            </a:r>
            <a:r>
              <a:rPr lang="fr-MA" b="1" dirty="0" err="1"/>
              <a:t>Generative</a:t>
            </a:r>
            <a:r>
              <a:rPr lang="fr-MA" b="1" dirty="0"/>
              <a:t> Pre-</a:t>
            </a:r>
            <a:r>
              <a:rPr lang="fr-MA" b="1" dirty="0" err="1"/>
              <a:t>trained</a:t>
            </a:r>
            <a:r>
              <a:rPr lang="fr-MA" b="1" dirty="0"/>
              <a:t> Transformer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C’est un </a:t>
            </a:r>
            <a:r>
              <a:rPr lang="fr-MA" b="1" dirty="0"/>
              <a:t>modèle de langage</a:t>
            </a:r>
            <a:r>
              <a:rPr lang="fr-MA" dirty="0"/>
              <a:t> développé par </a:t>
            </a:r>
            <a:r>
              <a:rPr lang="fr-MA" b="1" dirty="0" err="1"/>
              <a:t>OpenAI</a:t>
            </a:r>
            <a:r>
              <a:rPr lang="fr-MA" dirty="0"/>
              <a:t> capable de </a:t>
            </a:r>
            <a:r>
              <a:rPr lang="fr-MA" b="1" dirty="0"/>
              <a:t>comprendre et de générer du texte</a:t>
            </a:r>
            <a:r>
              <a:rPr lang="fr-MA" dirty="0"/>
              <a:t> en langage naturel.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b="1" dirty="0"/>
              <a:t>🔹 Décomposition du terme :</a:t>
            </a:r>
          </a:p>
          <a:p>
            <a:r>
              <a:rPr lang="fr-MA" b="1" dirty="0" err="1"/>
              <a:t>Generative</a:t>
            </a:r>
            <a:r>
              <a:rPr lang="fr-MA" dirty="0"/>
              <a:t> → il </a:t>
            </a:r>
            <a:r>
              <a:rPr lang="fr-MA" i="1" dirty="0"/>
              <a:t>génère</a:t>
            </a:r>
            <a:r>
              <a:rPr lang="fr-MA" dirty="0"/>
              <a:t> du texte (réponses, résumés, histoires, codes…).</a:t>
            </a:r>
          </a:p>
          <a:p>
            <a:r>
              <a:rPr lang="fr-MA" b="1" dirty="0"/>
              <a:t>Pre-</a:t>
            </a:r>
            <a:r>
              <a:rPr lang="fr-MA" b="1" dirty="0" err="1"/>
              <a:t>trained</a:t>
            </a:r>
            <a:r>
              <a:rPr lang="fr-MA" dirty="0"/>
              <a:t> → il a été </a:t>
            </a:r>
            <a:r>
              <a:rPr lang="fr-MA" i="1" dirty="0"/>
              <a:t>pré-entraîné</a:t>
            </a:r>
            <a:r>
              <a:rPr lang="fr-MA" dirty="0"/>
              <a:t> sur des milliards de phrases issues d’Internet, de livres, d’articles, etc.</a:t>
            </a:r>
          </a:p>
          <a:p>
            <a:r>
              <a:rPr lang="fr-MA" b="1" dirty="0"/>
              <a:t>Transformer</a:t>
            </a:r>
            <a:r>
              <a:rPr lang="fr-MA" dirty="0"/>
              <a:t> → c’est le </a:t>
            </a:r>
            <a:r>
              <a:rPr lang="fr-MA" i="1" dirty="0"/>
              <a:t>type d’architecture neuronale</a:t>
            </a:r>
            <a:r>
              <a:rPr lang="fr-MA" dirty="0"/>
              <a:t> qu’il utilise, particulièrement efficace pour comprendre le sens et le contexte des mots dans une phrase.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854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🎨 </a:t>
            </a:r>
            <a:r>
              <a:rPr lang="fr-MA" b="1" dirty="0"/>
              <a:t>Les générateurs d’images</a:t>
            </a:r>
            <a:r>
              <a:rPr lang="fr-MA" dirty="0"/>
              <a:t> reposent sur des </a:t>
            </a:r>
            <a:r>
              <a:rPr lang="fr-MA" b="1" dirty="0"/>
              <a:t>réseaux de neurones profonds</a:t>
            </a:r>
            <a:r>
              <a:rPr lang="fr-MA" dirty="0"/>
              <a:t> capables d’apprendre à reconnaître et reproduire des formes, des textures et des styles visuels.</a:t>
            </a:r>
            <a:br>
              <a:rPr lang="fr-MA" dirty="0"/>
            </a:br>
            <a:r>
              <a:rPr lang="fr-MA" dirty="0"/>
              <a:t>Ils transforment des </a:t>
            </a:r>
            <a:r>
              <a:rPr lang="fr-MA" b="1" dirty="0"/>
              <a:t>descriptions textuelles (prompts)</a:t>
            </a:r>
            <a:r>
              <a:rPr lang="fr-MA" dirty="0"/>
              <a:t> en images réalistes ou artistiques grâce à l’apprentissage sur des millions d’images.</a:t>
            </a:r>
            <a:br>
              <a:rPr lang="fr-MA" dirty="0"/>
            </a:br>
            <a:r>
              <a:rPr lang="fr-MA" dirty="0"/>
              <a:t>Ces modèles, comme </a:t>
            </a:r>
            <a:r>
              <a:rPr lang="fr-MA" b="1" dirty="0" err="1"/>
              <a:t>Midjourney</a:t>
            </a:r>
            <a:r>
              <a:rPr lang="fr-MA" dirty="0"/>
              <a:t> ou </a:t>
            </a:r>
            <a:r>
              <a:rPr lang="fr-MA" b="1" dirty="0" err="1"/>
              <a:t>NightCafe</a:t>
            </a:r>
            <a:r>
              <a:rPr lang="fr-MA" dirty="0"/>
              <a:t>, combinent créativité humaine et puissance algorithmique pour produire des visuels inédits.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5703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🎥 </a:t>
            </a:r>
            <a:r>
              <a:rPr lang="fr-MA" b="1" dirty="0"/>
              <a:t>Les générateurs de vidéos</a:t>
            </a:r>
            <a:r>
              <a:rPr lang="fr-MA" dirty="0"/>
              <a:t> utilisent l’intelligence artificielle pour </a:t>
            </a:r>
            <a:r>
              <a:rPr lang="fr-MA" b="1" dirty="0"/>
              <a:t>créer automatiquement des séquences animées</a:t>
            </a:r>
            <a:r>
              <a:rPr lang="fr-MA" dirty="0"/>
              <a:t> à partir d’un texte, d’images ou de sons.</a:t>
            </a:r>
            <a:br>
              <a:rPr lang="fr-MA" dirty="0"/>
            </a:br>
            <a:r>
              <a:rPr lang="fr-MA" dirty="0"/>
              <a:t>Ces outils reposent sur des </a:t>
            </a:r>
            <a:r>
              <a:rPr lang="fr-MA" b="1" dirty="0"/>
              <a:t>modèles de réseaux neuronaux</a:t>
            </a:r>
            <a:r>
              <a:rPr lang="fr-MA" dirty="0"/>
              <a:t> capables de comprendre un scénario et de le transformer en vidéo cohérente.</a:t>
            </a:r>
            <a:br>
              <a:rPr lang="fr-MA" dirty="0"/>
            </a:br>
            <a:r>
              <a:rPr lang="fr-MA" dirty="0"/>
              <a:t>Ils sont utilisés pour la </a:t>
            </a:r>
            <a:r>
              <a:rPr lang="fr-MA" b="1" dirty="0"/>
              <a:t>création de contenu, la publicité, l’éducation</a:t>
            </a:r>
            <a:r>
              <a:rPr lang="fr-MA" dirty="0"/>
              <a:t> ou la présentation automatique d’informations.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4388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dirty="0"/>
              <a:t>🖥️ </a:t>
            </a:r>
            <a:r>
              <a:rPr lang="fr-MA" b="1" dirty="0"/>
              <a:t>Les générateurs de présentations</a:t>
            </a:r>
            <a:r>
              <a:rPr lang="fr-MA" dirty="0"/>
              <a:t> utilisent l’intelligence artificielle pour </a:t>
            </a:r>
            <a:r>
              <a:rPr lang="fr-MA" b="1" dirty="0"/>
              <a:t>concevoir automatiquement des diapositives</a:t>
            </a:r>
            <a:r>
              <a:rPr lang="fr-MA" dirty="0"/>
              <a:t> à partir d’un simple texte ou d’un ensemble de données.</a:t>
            </a:r>
            <a:br>
              <a:rPr lang="fr-MA" dirty="0"/>
            </a:br>
            <a:r>
              <a:rPr lang="fr-MA" dirty="0"/>
              <a:t>Ils combinent </a:t>
            </a:r>
            <a:r>
              <a:rPr lang="fr-MA" b="1" dirty="0"/>
              <a:t>analyse du contenu, mise en page automatique et design visuel</a:t>
            </a:r>
            <a:r>
              <a:rPr lang="fr-MA" dirty="0"/>
              <a:t> pour produire des présentations prêtes à l’emploi.</a:t>
            </a:r>
            <a:br>
              <a:rPr lang="fr-MA" dirty="0"/>
            </a:br>
            <a:r>
              <a:rPr lang="fr-MA" dirty="0"/>
              <a:t>Ces outils, comme </a:t>
            </a:r>
            <a:r>
              <a:rPr lang="fr-MA" b="1" dirty="0"/>
              <a:t>Beautiful.ai</a:t>
            </a:r>
            <a:r>
              <a:rPr lang="fr-MA" dirty="0"/>
              <a:t>, simplifient le travail des enseignants, étudiants et professionnels en </a:t>
            </a:r>
            <a:r>
              <a:rPr lang="fr-MA" b="1" dirty="0"/>
              <a:t>gain de temps et cohérence graphique</a:t>
            </a:r>
            <a:r>
              <a:rPr lang="fr-MA" dirty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7216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💻 </a:t>
            </a:r>
            <a:r>
              <a:rPr lang="fr-MA" b="1" dirty="0"/>
              <a:t>Les générateurs de code</a:t>
            </a:r>
            <a:r>
              <a:rPr lang="fr-MA" dirty="0"/>
              <a:t> reposent sur des modèles d’intelligence artificielle capables de </a:t>
            </a:r>
            <a:r>
              <a:rPr lang="fr-MA" b="1" dirty="0"/>
              <a:t>comprendre le langage naturel et de le traduire en code informatique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Ils apprennent à partir de millions de programmes existants pour </a:t>
            </a:r>
            <a:r>
              <a:rPr lang="fr-MA" b="1" dirty="0"/>
              <a:t>suggérer, corriger ou compléter</a:t>
            </a:r>
            <a:r>
              <a:rPr lang="fr-MA" dirty="0"/>
              <a:t> automatiquement du code.</a:t>
            </a:r>
            <a:br>
              <a:rPr lang="fr-MA" dirty="0"/>
            </a:br>
            <a:r>
              <a:rPr lang="fr-MA" dirty="0"/>
              <a:t>Des outils comme </a:t>
            </a:r>
            <a:r>
              <a:rPr lang="fr-MA" b="1" dirty="0"/>
              <a:t>GitHub </a:t>
            </a:r>
            <a:r>
              <a:rPr lang="fr-MA" b="1" dirty="0" err="1"/>
              <a:t>Copilot</a:t>
            </a:r>
            <a:r>
              <a:rPr lang="fr-MA" dirty="0"/>
              <a:t> assistent les développeurs en temps réel, améliorant la </a:t>
            </a:r>
            <a:r>
              <a:rPr lang="fr-MA" b="1" dirty="0"/>
              <a:t>rapidité et la fiabilité du développement logiciel</a:t>
            </a:r>
            <a:r>
              <a:rPr lang="fr-MA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726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🧠 </a:t>
            </a:r>
            <a:r>
              <a:rPr lang="fr-MA" b="1" dirty="0"/>
              <a:t>Les outils de l’IA</a:t>
            </a:r>
            <a:r>
              <a:rPr lang="fr-MA" dirty="0"/>
              <a:t> couvrent aujourd’hui tous les domaines de la création numérique et de la productivité.</a:t>
            </a:r>
            <a:br>
              <a:rPr lang="fr-MA" dirty="0"/>
            </a:br>
            <a:r>
              <a:rPr lang="fr-MA" dirty="0"/>
              <a:t>Ils reposent sur des modèles d’apprentissage automatique capables de </a:t>
            </a:r>
            <a:r>
              <a:rPr lang="fr-MA" b="1" dirty="0"/>
              <a:t>générer du texte, des images, des vidéos, du son ou même du code</a:t>
            </a:r>
            <a:r>
              <a:rPr lang="fr-MA" dirty="0"/>
              <a:t> à partir d’instructions simples.</a:t>
            </a:r>
            <a:br>
              <a:rPr lang="fr-MA" dirty="0"/>
            </a:br>
            <a:r>
              <a:rPr lang="fr-MA" dirty="0"/>
              <a:t>Ces outils, comme </a:t>
            </a:r>
            <a:r>
              <a:rPr lang="fr-MA" b="1" dirty="0" err="1"/>
              <a:t>ChatGPT</a:t>
            </a:r>
            <a:r>
              <a:rPr lang="fr-MA" b="1" dirty="0"/>
              <a:t>, </a:t>
            </a:r>
            <a:r>
              <a:rPr lang="fr-MA" b="1" dirty="0" err="1"/>
              <a:t>Midjourney</a:t>
            </a:r>
            <a:r>
              <a:rPr lang="fr-MA" b="1" dirty="0"/>
              <a:t>, </a:t>
            </a:r>
            <a:r>
              <a:rPr lang="fr-MA" b="1" dirty="0" err="1"/>
              <a:t>Runway</a:t>
            </a:r>
            <a:r>
              <a:rPr lang="fr-MA" b="1" dirty="0"/>
              <a:t>, </a:t>
            </a:r>
            <a:r>
              <a:rPr lang="fr-MA" b="1" dirty="0" err="1"/>
              <a:t>Murf</a:t>
            </a:r>
            <a:r>
              <a:rPr lang="fr-MA" b="1" dirty="0"/>
              <a:t> ou </a:t>
            </a:r>
            <a:r>
              <a:rPr lang="fr-MA" b="1" dirty="0" err="1"/>
              <a:t>Canva</a:t>
            </a:r>
            <a:r>
              <a:rPr lang="fr-MA" dirty="0"/>
              <a:t>, rendent l’intelligence artificielle accessible à tous les utilisateurs, même sans compétences techniques.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6934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dirty="0"/>
              <a:t>🧩 </a:t>
            </a:r>
            <a:r>
              <a:rPr lang="fr-MA" b="1" dirty="0"/>
              <a:t>Les outils d’amélioration de prompts</a:t>
            </a:r>
            <a:r>
              <a:rPr lang="fr-MA" dirty="0"/>
              <a:t> aident l’utilisateur à </a:t>
            </a:r>
            <a:r>
              <a:rPr lang="fr-MA" b="1" dirty="0"/>
              <a:t>formuler des instructions précises et efficaces</a:t>
            </a:r>
            <a:r>
              <a:rPr lang="fr-MA" dirty="0"/>
              <a:t> pour obtenir de meilleures réponses des modèles d’IA.</a:t>
            </a:r>
            <a:br>
              <a:rPr lang="fr-MA" dirty="0"/>
            </a:br>
            <a:r>
              <a:rPr lang="fr-MA" dirty="0"/>
              <a:t>Ils utilisent des techniques d’</a:t>
            </a:r>
            <a:r>
              <a:rPr lang="fr-MA" b="1" dirty="0"/>
              <a:t>optimisation linguistique et contextuelle</a:t>
            </a:r>
            <a:r>
              <a:rPr lang="fr-MA" dirty="0"/>
              <a:t> afin d’ajuster le ton, la structure et les mots-clés d’un prompt.</a:t>
            </a:r>
            <a:br>
              <a:rPr lang="fr-MA" dirty="0"/>
            </a:br>
            <a:r>
              <a:rPr lang="fr-MA" dirty="0"/>
              <a:t>Des plateformes comme </a:t>
            </a:r>
            <a:r>
              <a:rPr lang="fr-MA" b="1" dirty="0" err="1"/>
              <a:t>LearnPrompting</a:t>
            </a:r>
            <a:r>
              <a:rPr lang="fr-MA" dirty="0"/>
              <a:t> accompagnent les utilisateurs dans l’apprentissage de la création de prompts performants et reproductibles.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7709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b="1" dirty="0"/>
              <a:t>L’ingénierie des prompts</a:t>
            </a:r>
            <a:r>
              <a:rPr lang="fr-MA" dirty="0"/>
              <a:t> consiste à formuler des consignes précises et structurées pour guider efficacement une IA générative.</a:t>
            </a:r>
            <a:br>
              <a:rPr lang="fr-MA" dirty="0"/>
            </a:br>
            <a:r>
              <a:rPr lang="fr-MA" dirty="0"/>
              <a:t>De bonnes pratiques permettent d’obtenir des résultats plus fiables, cohérents et adaptés au besoin réel de l’utilisateur.</a:t>
            </a:r>
            <a:br>
              <a:rPr lang="fr-MA" dirty="0"/>
            </a:br>
            <a:r>
              <a:rPr lang="fr-MA" dirty="0"/>
              <a:t>Elles reposent sur la </a:t>
            </a:r>
            <a:r>
              <a:rPr lang="fr-MA" b="1" dirty="0"/>
              <a:t>clarté, la précision et la contextualisation</a:t>
            </a:r>
            <a:r>
              <a:rPr lang="fr-MA" dirty="0"/>
              <a:t> de la demande adressée à l’intelligence artificielle.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8529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MA" b="1" dirty="0"/>
              <a:t>🧩 Pourquoi le deuxième prompt est correct ?</a:t>
            </a:r>
          </a:p>
          <a:p>
            <a:r>
              <a:rPr lang="fr-MA" dirty="0"/>
              <a:t>✅ </a:t>
            </a:r>
            <a:r>
              <a:rPr lang="fr-MA" b="1" dirty="0"/>
              <a:t>1. Il est plus ciblé et précis :</a:t>
            </a:r>
            <a:br>
              <a:rPr lang="fr-MA" dirty="0"/>
            </a:br>
            <a:r>
              <a:rPr lang="fr-MA" dirty="0"/>
              <a:t>demande une </a:t>
            </a:r>
            <a:r>
              <a:rPr lang="fr-MA" i="1" dirty="0"/>
              <a:t>description des comportements typiques des chats domestiques</a:t>
            </a:r>
            <a:r>
              <a:rPr lang="fr-MA" dirty="0"/>
              <a:t>, ce qui définit un </a:t>
            </a:r>
            <a:r>
              <a:rPr lang="fr-MA" b="1" dirty="0"/>
              <a:t>sujet unique</a:t>
            </a:r>
            <a:r>
              <a:rPr lang="fr-MA" dirty="0"/>
              <a:t> et une </a:t>
            </a:r>
            <a:r>
              <a:rPr lang="fr-MA" b="1" dirty="0"/>
              <a:t>intention claire</a:t>
            </a:r>
            <a:r>
              <a:rPr lang="fr-MA" dirty="0"/>
              <a:t>.</a:t>
            </a:r>
            <a:br>
              <a:rPr lang="fr-MA" dirty="0"/>
            </a:br>
            <a:r>
              <a:rPr lang="fr-MA" dirty="0"/>
              <a:t>👉 L’IA sait exactement sur quoi concentrer sa réponse.</a:t>
            </a:r>
          </a:p>
          <a:p>
            <a:r>
              <a:rPr lang="fr-MA" dirty="0"/>
              <a:t>❌ Dans le premier prompt, la consigne mélange plusieurs sujets : origine, variétés, alimentation, relation avec l’humain…</a:t>
            </a:r>
            <a:br>
              <a:rPr lang="fr-MA" dirty="0"/>
            </a:br>
            <a:r>
              <a:rPr lang="fr-MA" dirty="0"/>
              <a:t>➡️ Résultat : la réponse risque d’être trop longue, confuse et superficielle.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dirty="0"/>
              <a:t>✅ </a:t>
            </a:r>
            <a:r>
              <a:rPr lang="fr-MA" b="1" dirty="0"/>
              <a:t>2. Il utilise un verbe d’action clair : “Rédige”</a:t>
            </a:r>
            <a:br>
              <a:rPr lang="fr-MA" dirty="0"/>
            </a:br>
            <a:r>
              <a:rPr lang="fr-MA" dirty="0"/>
              <a:t>Cela indique à l’IA le </a:t>
            </a:r>
            <a:r>
              <a:rPr lang="fr-MA" b="1" dirty="0"/>
              <a:t>format attendu</a:t>
            </a:r>
            <a:r>
              <a:rPr lang="fr-MA" dirty="0"/>
              <a:t> (un texte rédigé) et non une simple liste ou explication.</a:t>
            </a:r>
          </a:p>
          <a:p>
            <a:br>
              <a:rPr lang="fr-MA" dirty="0"/>
            </a:br>
            <a:endParaRPr lang="fr-MA" dirty="0"/>
          </a:p>
          <a:p>
            <a:r>
              <a:rPr lang="fr-MA" dirty="0"/>
              <a:t>✅ </a:t>
            </a:r>
            <a:r>
              <a:rPr lang="fr-MA" b="1" dirty="0"/>
              <a:t>3. Il adopte un vocabulaire simple et direct :</a:t>
            </a:r>
            <a:br>
              <a:rPr lang="fr-MA" dirty="0"/>
            </a:br>
            <a:r>
              <a:rPr lang="fr-MA" dirty="0"/>
              <a:t>Le prompt est court, sans éléments ambigus ni phrases secondaires — cela améliore la </a:t>
            </a:r>
            <a:r>
              <a:rPr lang="fr-MA" b="1" dirty="0"/>
              <a:t>compréhension contextuelle du modèle</a:t>
            </a:r>
            <a:r>
              <a:rPr lang="fr-MA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D22F0-1866-4590-9C03-A48A7C5F502D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933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6577" y="1331214"/>
            <a:ext cx="119259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B3B3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B3B3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620"/>
            <a:ext cx="6510655" cy="10286365"/>
          </a:xfrm>
          <a:custGeom>
            <a:avLst/>
            <a:gdLst/>
            <a:ahLst/>
            <a:cxnLst/>
            <a:rect l="l" t="t" r="r" b="b"/>
            <a:pathLst>
              <a:path w="6510655" h="10286365">
                <a:moveTo>
                  <a:pt x="6510655" y="0"/>
                </a:moveTo>
                <a:lnTo>
                  <a:pt x="0" y="0"/>
                </a:lnTo>
                <a:lnTo>
                  <a:pt x="0" y="10286238"/>
                </a:lnTo>
                <a:lnTo>
                  <a:pt x="6510655" y="10286238"/>
                </a:lnTo>
                <a:lnTo>
                  <a:pt x="6510655" y="0"/>
                </a:lnTo>
                <a:close/>
              </a:path>
            </a:pathLst>
          </a:custGeom>
          <a:solidFill>
            <a:srgbClr val="01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73975" y="1365465"/>
            <a:ext cx="1052830" cy="1052830"/>
          </a:xfrm>
          <a:custGeom>
            <a:avLst/>
            <a:gdLst/>
            <a:ahLst/>
            <a:cxnLst/>
            <a:rect l="l" t="t" r="r" b="b"/>
            <a:pathLst>
              <a:path w="1052829" h="1052830">
                <a:moveTo>
                  <a:pt x="1052487" y="0"/>
                </a:moveTo>
                <a:lnTo>
                  <a:pt x="0" y="0"/>
                </a:lnTo>
                <a:lnTo>
                  <a:pt x="0" y="1052487"/>
                </a:lnTo>
                <a:lnTo>
                  <a:pt x="1052487" y="1052487"/>
                </a:lnTo>
                <a:lnTo>
                  <a:pt x="1052487" y="0"/>
                </a:lnTo>
                <a:close/>
              </a:path>
            </a:pathLst>
          </a:custGeom>
          <a:solidFill>
            <a:srgbClr val="EBF0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673975" y="4079201"/>
            <a:ext cx="1052830" cy="1052830"/>
          </a:xfrm>
          <a:custGeom>
            <a:avLst/>
            <a:gdLst/>
            <a:ahLst/>
            <a:cxnLst/>
            <a:rect l="l" t="t" r="r" b="b"/>
            <a:pathLst>
              <a:path w="1052829" h="1052829">
                <a:moveTo>
                  <a:pt x="1052487" y="0"/>
                </a:moveTo>
                <a:lnTo>
                  <a:pt x="0" y="0"/>
                </a:lnTo>
                <a:lnTo>
                  <a:pt x="0" y="1052487"/>
                </a:lnTo>
                <a:lnTo>
                  <a:pt x="1052487" y="1052487"/>
                </a:lnTo>
                <a:lnTo>
                  <a:pt x="1052487" y="0"/>
                </a:lnTo>
                <a:close/>
              </a:path>
            </a:pathLst>
          </a:custGeom>
          <a:solidFill>
            <a:srgbClr val="EBF0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73975" y="6827735"/>
            <a:ext cx="1052830" cy="1052830"/>
          </a:xfrm>
          <a:custGeom>
            <a:avLst/>
            <a:gdLst/>
            <a:ahLst/>
            <a:cxnLst/>
            <a:rect l="l" t="t" r="r" b="b"/>
            <a:pathLst>
              <a:path w="1052829" h="1052829">
                <a:moveTo>
                  <a:pt x="1052487" y="0"/>
                </a:moveTo>
                <a:lnTo>
                  <a:pt x="0" y="0"/>
                </a:lnTo>
                <a:lnTo>
                  <a:pt x="0" y="1052487"/>
                </a:lnTo>
                <a:lnTo>
                  <a:pt x="1052487" y="1052487"/>
                </a:lnTo>
                <a:lnTo>
                  <a:pt x="1052487" y="0"/>
                </a:lnTo>
                <a:close/>
              </a:path>
            </a:pathLst>
          </a:custGeom>
          <a:solidFill>
            <a:srgbClr val="EBF0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129" y="2670810"/>
            <a:ext cx="221742" cy="22161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3129" y="5041138"/>
            <a:ext cx="221742" cy="2216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129" y="7404481"/>
            <a:ext cx="221742" cy="22161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144000" y="2892425"/>
            <a:ext cx="0" cy="2148840"/>
          </a:xfrm>
          <a:custGeom>
            <a:avLst/>
            <a:gdLst/>
            <a:ahLst/>
            <a:cxnLst/>
            <a:rect l="l" t="t" r="r" b="b"/>
            <a:pathLst>
              <a:path h="2148840">
                <a:moveTo>
                  <a:pt x="0" y="0"/>
                </a:moveTo>
                <a:lnTo>
                  <a:pt x="0" y="2148713"/>
                </a:lnTo>
              </a:path>
            </a:pathLst>
          </a:custGeom>
          <a:ln w="12700">
            <a:solidFill>
              <a:srgbClr val="D0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44000" y="5262753"/>
            <a:ext cx="0" cy="2141855"/>
          </a:xfrm>
          <a:custGeom>
            <a:avLst/>
            <a:gdLst/>
            <a:ahLst/>
            <a:cxnLst/>
            <a:rect l="l" t="t" r="r" b="b"/>
            <a:pathLst>
              <a:path h="2141854">
                <a:moveTo>
                  <a:pt x="0" y="2141728"/>
                </a:moveTo>
                <a:lnTo>
                  <a:pt x="0" y="0"/>
                </a:lnTo>
              </a:path>
            </a:pathLst>
          </a:custGeom>
          <a:ln w="12700">
            <a:solidFill>
              <a:srgbClr val="D0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8707" y="378714"/>
            <a:ext cx="12931140" cy="18267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3552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64448" y="2001774"/>
            <a:ext cx="8982710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B3B3B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905096" y="8819169"/>
            <a:ext cx="1031240" cy="1092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D7D7D7"/>
                </a:solidFill>
                <a:latin typeface="Arial Black"/>
                <a:cs typeface="Arial Black"/>
              </a:defRPr>
            </a:lvl1pPr>
          </a:lstStyle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.mdarbi@emsi.ma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web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2"/>
            <a:ext cx="18288000" cy="10285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2679" y="2926841"/>
            <a:ext cx="12503785" cy="211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210"/>
              </a:lnSpc>
              <a:spcBef>
                <a:spcPts val="100"/>
              </a:spcBef>
            </a:pPr>
            <a:r>
              <a:rPr sz="7200" b="0" spc="-32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lang="fr-FR" sz="7200" b="0" spc="-32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7200" b="0" spc="-320" dirty="0" err="1">
                <a:solidFill>
                  <a:srgbClr val="FFFFFF"/>
                </a:solidFill>
                <a:latin typeface="Arial Black"/>
                <a:cs typeface="Arial Black"/>
              </a:rPr>
              <a:t>troductio</a:t>
            </a:r>
            <a:r>
              <a:rPr lang="fr-FR" sz="7200" b="0" spc="-32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7200" b="0" spc="-6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400" dirty="0">
                <a:solidFill>
                  <a:srgbClr val="FFFFFF"/>
                </a:solidFill>
                <a:latin typeface="Arial Black"/>
                <a:cs typeface="Arial Black"/>
              </a:rPr>
              <a:t>et</a:t>
            </a:r>
            <a:r>
              <a:rPr sz="7200" b="0" spc="-6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390" dirty="0">
                <a:solidFill>
                  <a:srgbClr val="FFFFFF"/>
                </a:solidFill>
                <a:latin typeface="Arial Black"/>
                <a:cs typeface="Arial Black"/>
              </a:rPr>
              <a:t>Ethiques</a:t>
            </a:r>
            <a:r>
              <a:rPr sz="7200" b="0" spc="-6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2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endParaRPr sz="7200" dirty="0">
              <a:latin typeface="Arial Black"/>
              <a:cs typeface="Arial Black"/>
            </a:endParaRPr>
          </a:p>
          <a:p>
            <a:pPr algn="ctr">
              <a:lnSpc>
                <a:spcPts val="8210"/>
              </a:lnSpc>
            </a:pPr>
            <a:r>
              <a:rPr sz="7200" b="0" spc="-345" dirty="0" err="1">
                <a:solidFill>
                  <a:srgbClr val="FFFFFF"/>
                </a:solidFill>
                <a:latin typeface="Arial Black"/>
                <a:cs typeface="Arial Black"/>
              </a:rPr>
              <a:t>l’I</a:t>
            </a:r>
            <a:r>
              <a:rPr lang="fr-FR" sz="7200" b="0" spc="-345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7200" b="0" spc="-345" dirty="0" err="1">
                <a:solidFill>
                  <a:srgbClr val="FFFFFF"/>
                </a:solidFill>
                <a:latin typeface="Arial Black"/>
                <a:cs typeface="Arial Black"/>
              </a:rPr>
              <a:t>tellig</a:t>
            </a:r>
            <a:r>
              <a:rPr lang="fr-FR" sz="7200" b="0" spc="-345" dirty="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sz="7200" b="0" spc="-345" dirty="0" err="1">
                <a:solidFill>
                  <a:srgbClr val="FFFFFF"/>
                </a:solidFill>
                <a:latin typeface="Arial Black"/>
                <a:cs typeface="Arial Black"/>
              </a:rPr>
              <a:t>ce</a:t>
            </a:r>
            <a:r>
              <a:rPr sz="7200" b="0" spc="-7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7200" b="0" spc="-425" dirty="0">
                <a:solidFill>
                  <a:srgbClr val="FFFFFF"/>
                </a:solidFill>
                <a:latin typeface="Arial Black"/>
                <a:cs typeface="Arial Black"/>
              </a:rPr>
              <a:t>Artificielle</a:t>
            </a:r>
            <a:endParaRPr sz="7200" dirty="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40588" y="9192970"/>
            <a:ext cx="463169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50" marR="5080" indent="-603885">
              <a:lnSpc>
                <a:spcPct val="100000"/>
              </a:lnSpc>
              <a:spcBef>
                <a:spcPts val="95"/>
              </a:spcBef>
            </a:pPr>
            <a:r>
              <a:rPr lang="fr-FR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Réalisé par: </a:t>
            </a:r>
            <a:r>
              <a:rPr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Pr.</a:t>
            </a:r>
            <a:r>
              <a:rPr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Fatima</a:t>
            </a:r>
            <a:r>
              <a:rPr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Ezzahra</a:t>
            </a:r>
            <a:r>
              <a:rPr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MDARBI </a:t>
            </a:r>
            <a:r>
              <a:rPr spc="6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f.mdarbi@emsi.ma</a:t>
            </a:r>
            <a:endParaRPr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56433" y="8893250"/>
            <a:ext cx="99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20" dirty="0">
                <a:solidFill>
                  <a:srgbClr val="3B3B3B"/>
                </a:solidFill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7346086-1CAF-60D2-100E-8977D23C3EDA}"/>
              </a:ext>
            </a:extLst>
          </p:cNvPr>
          <p:cNvSpPr txBox="1"/>
          <p:nvPr/>
        </p:nvSpPr>
        <p:spPr>
          <a:xfrm>
            <a:off x="4953000" y="6549094"/>
            <a:ext cx="6172200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50" marR="5080" indent="-603885">
              <a:lnSpc>
                <a:spcPct val="100000"/>
              </a:lnSpc>
              <a:spcBef>
                <a:spcPts val="95"/>
              </a:spcBef>
            </a:pPr>
            <a:r>
              <a:rPr lang="fr-FR" sz="28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Enseigné par: </a:t>
            </a:r>
            <a:r>
              <a:rPr sz="28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Pr.</a:t>
            </a:r>
            <a:r>
              <a:rPr sz="28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fr-FR" sz="2800" spc="10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Berhich</a:t>
            </a:r>
            <a:r>
              <a:rPr lang="fr-FR" sz="28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fr-FR" sz="2800" spc="105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Asmae</a:t>
            </a:r>
            <a:endParaRPr lang="fr-FR" sz="2800" spc="105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615950" marR="5080" indent="-603885">
              <a:lnSpc>
                <a:spcPct val="100000"/>
              </a:lnSpc>
              <a:spcBef>
                <a:spcPts val="95"/>
              </a:spcBef>
            </a:pPr>
            <a:r>
              <a:rPr lang="fr-FR" sz="2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berhasmae@gmail.com</a:t>
            </a:r>
            <a:endParaRPr sz="28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2550" y="4256608"/>
            <a:ext cx="4206240" cy="15900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624840" marR="5080" indent="-612775">
              <a:lnSpc>
                <a:spcPts val="5840"/>
              </a:lnSpc>
              <a:spcBef>
                <a:spcPts val="830"/>
              </a:spcBef>
            </a:pPr>
            <a:r>
              <a:rPr sz="5400" spc="-270" dirty="0">
                <a:solidFill>
                  <a:srgbClr val="FFFFFF"/>
                </a:solidFill>
                <a:latin typeface="Arial Black"/>
                <a:cs typeface="Arial Black"/>
              </a:rPr>
              <a:t>Objectifs</a:t>
            </a:r>
            <a:r>
              <a:rPr sz="5400" spc="-4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400" spc="-25" dirty="0">
                <a:solidFill>
                  <a:srgbClr val="FFFFFF"/>
                </a:solidFill>
                <a:latin typeface="Arial Black"/>
                <a:cs typeface="Arial Black"/>
              </a:rPr>
              <a:t>du </a:t>
            </a:r>
            <a:r>
              <a:rPr sz="5400" spc="-55" dirty="0" err="1">
                <a:solidFill>
                  <a:srgbClr val="FFFFFF"/>
                </a:solidFill>
                <a:latin typeface="Arial Black"/>
                <a:cs typeface="Arial Black"/>
              </a:rPr>
              <a:t>ch</a:t>
            </a:r>
            <a:r>
              <a:rPr lang="fr-FR" sz="5400" spc="-55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5400" spc="-55" dirty="0" err="1">
                <a:solidFill>
                  <a:srgbClr val="FFFFFF"/>
                </a:solidFill>
                <a:latin typeface="Arial Black"/>
                <a:cs typeface="Arial Black"/>
              </a:rPr>
              <a:t>pitre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6534" y="1528140"/>
            <a:ext cx="727710" cy="7277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25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2800" spc="-910" dirty="0">
                <a:solidFill>
                  <a:srgbClr val="3B3B3B"/>
                </a:solidFill>
                <a:latin typeface="Arial Black"/>
                <a:cs typeface="Arial Black"/>
              </a:rPr>
              <a:t>1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98966" y="1400048"/>
            <a:ext cx="655828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b="0" spc="-145" dirty="0">
                <a:solidFill>
                  <a:srgbClr val="3B3B3B"/>
                </a:solidFill>
                <a:latin typeface="Arial Black"/>
                <a:cs typeface="Arial Black"/>
              </a:rPr>
              <a:t>Définitions,</a:t>
            </a:r>
            <a:r>
              <a:rPr sz="2800" b="0" spc="-22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b="0" spc="-130" dirty="0">
                <a:solidFill>
                  <a:srgbClr val="3B3B3B"/>
                </a:solidFill>
                <a:latin typeface="Arial Black"/>
                <a:cs typeface="Arial Black"/>
              </a:rPr>
              <a:t>types,</a:t>
            </a:r>
            <a:r>
              <a:rPr sz="2800" b="0" spc="-21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b="0" spc="-155" dirty="0">
                <a:solidFill>
                  <a:srgbClr val="3B3B3B"/>
                </a:solidFill>
                <a:latin typeface="Arial Black"/>
                <a:cs typeface="Arial Black"/>
              </a:rPr>
              <a:t>et</a:t>
            </a:r>
            <a:r>
              <a:rPr sz="2800" b="0" spc="-22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b="0" spc="-114" dirty="0">
                <a:solidFill>
                  <a:srgbClr val="3B3B3B"/>
                </a:solidFill>
                <a:latin typeface="Arial Black"/>
                <a:cs typeface="Arial Black"/>
              </a:rPr>
              <a:t>historique</a:t>
            </a:r>
            <a:r>
              <a:rPr sz="2800" b="0" spc="-21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b="0" spc="-65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800" b="0" spc="-22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b="0" spc="-105" dirty="0">
                <a:solidFill>
                  <a:srgbClr val="3B3B3B"/>
                </a:solidFill>
                <a:latin typeface="Arial Black"/>
                <a:cs typeface="Arial Black"/>
              </a:rPr>
              <a:t>l’IA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6534" y="4241749"/>
            <a:ext cx="727710" cy="7277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31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sz="2800" spc="-315" dirty="0">
                <a:solidFill>
                  <a:srgbClr val="3B3B3B"/>
                </a:solidFill>
                <a:latin typeface="Arial Black"/>
                <a:cs typeface="Arial Black"/>
              </a:rPr>
              <a:t>2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8966" y="4122801"/>
            <a:ext cx="554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-90" dirty="0">
                <a:solidFill>
                  <a:srgbClr val="3B3B3B"/>
                </a:solidFill>
                <a:latin typeface="Arial Black"/>
                <a:cs typeface="Arial Black"/>
              </a:rPr>
              <a:t>Domaines d’application </a:t>
            </a:r>
            <a:r>
              <a:rPr sz="2800" spc="-65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800" spc="-204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3B3B3B"/>
                </a:solidFill>
                <a:latin typeface="Arial Black"/>
                <a:cs typeface="Arial Black"/>
              </a:rPr>
              <a:t>l’IA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6534" y="6990283"/>
            <a:ext cx="727710" cy="7277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31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sz="2800" spc="-50" dirty="0">
                <a:solidFill>
                  <a:srgbClr val="3B3B3B"/>
                </a:solidFill>
                <a:latin typeface="Arial Black"/>
                <a:cs typeface="Arial Black"/>
              </a:rPr>
              <a:t>3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8966" y="6845554"/>
            <a:ext cx="2246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60" dirty="0">
                <a:solidFill>
                  <a:srgbClr val="3B3B3B"/>
                </a:solidFill>
                <a:latin typeface="Arial Black"/>
                <a:cs typeface="Arial Black"/>
              </a:rPr>
              <a:t>Outils</a:t>
            </a:r>
            <a:r>
              <a:rPr sz="2800" spc="-235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70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800" spc="-235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3B3B3B"/>
                </a:solidFill>
                <a:latin typeface="Arial Black"/>
                <a:cs typeface="Arial Black"/>
              </a:rPr>
              <a:t>l’IA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707" y="378714"/>
            <a:ext cx="12931140" cy="1437444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590415">
              <a:lnSpc>
                <a:spcPct val="100000"/>
              </a:lnSpc>
              <a:spcBef>
                <a:spcPts val="100"/>
              </a:spcBef>
            </a:pPr>
            <a:r>
              <a:rPr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I</a:t>
            </a:r>
            <a:r>
              <a:rPr lang="fr-FR" sz="5400" b="0" spc="-220" dirty="0" err="1">
                <a:solidFill>
                  <a:srgbClr val="006066"/>
                </a:solidFill>
                <a:latin typeface="Arial Black"/>
                <a:cs typeface="Arial Black"/>
              </a:rPr>
              <a:t>ntroduction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9498" y="2808478"/>
            <a:ext cx="14658975" cy="624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L’intelligence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artificielle</a:t>
            </a:r>
            <a:r>
              <a:rPr sz="24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change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fondamentalement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notre</a:t>
            </a:r>
            <a:r>
              <a:rPr sz="24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environnement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travail.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3B3B3B"/>
              </a:buClr>
              <a:buFont typeface="Wingdings"/>
              <a:buChar char=""/>
            </a:pPr>
            <a:endParaRPr sz="2400">
              <a:latin typeface="Lucida Sans Unicode"/>
              <a:cs typeface="Lucida Sans Unicode"/>
            </a:endParaRPr>
          </a:p>
          <a:p>
            <a:pPr marL="355600" marR="5080" indent="-342900" algn="just">
              <a:lnSpc>
                <a:spcPct val="16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Elle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devient</a:t>
            </a:r>
            <a:r>
              <a:rPr sz="2400" spc="-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plus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plus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utilisée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dans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différents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domaines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savoir:</a:t>
            </a:r>
            <a:r>
              <a:rPr sz="2400" spc="-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santé, </a:t>
            </a:r>
            <a:r>
              <a:rPr sz="24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l’industrie,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la banque,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construction,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l’éducation,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commerce,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60" dirty="0">
                <a:solidFill>
                  <a:srgbClr val="3B3B3B"/>
                </a:solidFill>
                <a:latin typeface="Lucida Sans Unicode"/>
                <a:cs typeface="Lucida Sans Unicode"/>
              </a:rPr>
              <a:t>…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3B3B3B"/>
              </a:buClr>
              <a:buFont typeface="Wingdings"/>
              <a:buChar char=""/>
            </a:pPr>
            <a:endParaRPr sz="2400">
              <a:latin typeface="Lucida Sans Unicode"/>
              <a:cs typeface="Lucida Sans Unicode"/>
            </a:endParaRPr>
          </a:p>
          <a:p>
            <a:pPr marL="355600" marR="6350" indent="-342900" algn="just">
              <a:lnSpc>
                <a:spcPct val="16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L’IA</a:t>
            </a:r>
            <a:r>
              <a:rPr sz="2400" spc="2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devient</a:t>
            </a:r>
            <a:r>
              <a:rPr sz="2400" spc="2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400" spc="2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technologie</a:t>
            </a:r>
            <a:r>
              <a:rPr sz="2400" spc="2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très</a:t>
            </a:r>
            <a:r>
              <a:rPr sz="2400" spc="2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abordable</a:t>
            </a:r>
            <a:r>
              <a:rPr sz="2400" spc="2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grâce</a:t>
            </a:r>
            <a:r>
              <a:rPr sz="2400" spc="2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2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2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simplicité</a:t>
            </a:r>
            <a:r>
              <a:rPr sz="2400" spc="2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25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outils</a:t>
            </a:r>
            <a:r>
              <a:rPr sz="2400" spc="2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2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plateformes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utilisées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sans</a:t>
            </a:r>
            <a:r>
              <a:rPr sz="2400" spc="185" dirty="0">
                <a:solidFill>
                  <a:srgbClr val="3B3B3B"/>
                </a:solidFill>
                <a:latin typeface="Lucida Sans Unicode"/>
                <a:cs typeface="Lucida Sans Unicode"/>
              </a:rPr>
              <a:t> 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avoir</a:t>
            </a:r>
            <a:r>
              <a:rPr sz="24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connaissances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fortes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dans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mathématique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et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informatique.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Clr>
                <a:srgbClr val="3B3B3B"/>
              </a:buClr>
              <a:buFont typeface="Wingdings"/>
              <a:buChar char=""/>
            </a:pPr>
            <a:endParaRPr sz="2400">
              <a:latin typeface="Lucida Sans Unicode"/>
              <a:cs typeface="Lucida Sans Unicode"/>
            </a:endParaRPr>
          </a:p>
          <a:p>
            <a:pPr marL="355600" marR="6985" indent="-342900" algn="just">
              <a:lnSpc>
                <a:spcPct val="16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Plusieurs</a:t>
            </a:r>
            <a:r>
              <a:rPr sz="2400" spc="3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autres</a:t>
            </a:r>
            <a:r>
              <a:rPr sz="2400" spc="3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technologies</a:t>
            </a:r>
            <a:r>
              <a:rPr sz="2400" spc="3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aussi</a:t>
            </a:r>
            <a:r>
              <a:rPr sz="2400" spc="3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interviennent</a:t>
            </a:r>
            <a:r>
              <a:rPr sz="2400" spc="33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mutuellement</a:t>
            </a:r>
            <a:r>
              <a:rPr sz="2400" spc="3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90" dirty="0">
                <a:solidFill>
                  <a:srgbClr val="3B3B3B"/>
                </a:solidFill>
                <a:latin typeface="Lucida Sans Unicode"/>
                <a:cs typeface="Lucida Sans Unicode"/>
              </a:rPr>
              <a:t>avec</a:t>
            </a:r>
            <a:r>
              <a:rPr sz="2400" spc="3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l’IA</a:t>
            </a:r>
            <a:r>
              <a:rPr sz="2400" spc="3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3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réaliser</a:t>
            </a:r>
            <a:r>
              <a:rPr sz="2400" spc="3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son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objectif</a:t>
            </a:r>
            <a:r>
              <a:rPr sz="24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70" dirty="0">
                <a:solidFill>
                  <a:srgbClr val="3B3B3B"/>
                </a:solidFill>
                <a:latin typeface="Lucida Sans Unicode"/>
                <a:cs typeface="Lucida Sans Unicode"/>
              </a:rPr>
              <a:t>comme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Big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Data,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65" dirty="0">
                <a:solidFill>
                  <a:srgbClr val="3B3B3B"/>
                </a:solidFill>
                <a:latin typeface="Lucida Sans Unicode"/>
                <a:cs typeface="Lucida Sans Unicode"/>
              </a:rPr>
              <a:t>l’IOT,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cloud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Computing,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60" dirty="0">
                <a:solidFill>
                  <a:srgbClr val="3B3B3B"/>
                </a:solidFill>
                <a:latin typeface="Lucida Sans Unicode"/>
                <a:cs typeface="Lucida Sans Unicode"/>
              </a:rPr>
              <a:t>…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4572" y="4010405"/>
            <a:ext cx="117468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Qu‘est</a:t>
            </a:r>
            <a:r>
              <a:rPr sz="4800" b="0" spc="-21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4800" b="0" spc="355" dirty="0">
                <a:solidFill>
                  <a:srgbClr val="006066"/>
                </a:solidFill>
                <a:latin typeface="Lucida Sans Unicode"/>
                <a:cs typeface="Lucida Sans Unicode"/>
              </a:rPr>
              <a:t>ce</a:t>
            </a:r>
            <a:r>
              <a:rPr sz="4800" b="0" spc="-22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4800" b="0" spc="200" dirty="0">
                <a:solidFill>
                  <a:srgbClr val="006066"/>
                </a:solidFill>
                <a:latin typeface="Lucida Sans Unicode"/>
                <a:cs typeface="Lucida Sans Unicode"/>
              </a:rPr>
              <a:t>que</a:t>
            </a:r>
            <a:r>
              <a:rPr sz="4800" b="0" spc="-21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4800" b="0" dirty="0">
                <a:solidFill>
                  <a:srgbClr val="006066"/>
                </a:solidFill>
                <a:latin typeface="Lucida Sans Unicode"/>
                <a:cs typeface="Lucida Sans Unicode"/>
              </a:rPr>
              <a:t>l’intelligence</a:t>
            </a:r>
            <a:r>
              <a:rPr sz="4800" b="0" spc="-22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4800" b="0" dirty="0">
                <a:solidFill>
                  <a:srgbClr val="006066"/>
                </a:solidFill>
                <a:latin typeface="Lucida Sans Unicode"/>
                <a:cs typeface="Lucida Sans Unicode"/>
              </a:rPr>
              <a:t>artificielle</a:t>
            </a:r>
            <a:r>
              <a:rPr sz="4800" b="0" spc="-229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4800" b="0" spc="434" dirty="0">
                <a:solidFill>
                  <a:srgbClr val="006066"/>
                </a:solidFill>
                <a:latin typeface="Lucida Sans Unicode"/>
                <a:cs typeface="Lucida Sans Unicode"/>
              </a:rPr>
              <a:t>?</a:t>
            </a:r>
            <a:endParaRPr sz="4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60844" y="2199513"/>
            <a:ext cx="33591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5400" b="0" spc="-240" dirty="0">
                <a:solidFill>
                  <a:srgbClr val="006066"/>
                </a:solidFill>
                <a:latin typeface="Arial Black"/>
                <a:cs typeface="Arial Black"/>
              </a:rPr>
              <a:t>Définition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100" y="4429760"/>
            <a:ext cx="15215235" cy="390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3B3B3B"/>
                </a:solidFill>
                <a:latin typeface="Arial Black"/>
                <a:cs typeface="Arial Black"/>
              </a:rPr>
              <a:t>L'intelligence</a:t>
            </a:r>
            <a:r>
              <a:rPr sz="2400" spc="44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65" dirty="0">
                <a:solidFill>
                  <a:srgbClr val="3B3B3B"/>
                </a:solidFill>
                <a:latin typeface="Arial Black"/>
                <a:cs typeface="Arial Black"/>
              </a:rPr>
              <a:t>artificielle</a:t>
            </a:r>
            <a:r>
              <a:rPr sz="2400" spc="45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3B3B3B"/>
                </a:solidFill>
                <a:latin typeface="Arial Black"/>
                <a:cs typeface="Arial Black"/>
              </a:rPr>
              <a:t>(IA)</a:t>
            </a:r>
            <a:r>
              <a:rPr sz="2400" spc="44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est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un</a:t>
            </a:r>
            <a:r>
              <a:rPr sz="2400" spc="5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</a:t>
            </a:r>
            <a:r>
              <a:rPr sz="2400" spc="50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l'informatique</a:t>
            </a:r>
            <a:r>
              <a:rPr sz="2400" spc="5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qui</a:t>
            </a:r>
            <a:r>
              <a:rPr sz="2400" spc="4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vise</a:t>
            </a:r>
            <a:r>
              <a:rPr sz="2400" spc="4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4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créer</a:t>
            </a:r>
            <a:r>
              <a:rPr sz="2400" spc="5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machines</a:t>
            </a:r>
            <a:endParaRPr sz="2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60000"/>
              </a:lnSpc>
            </a:pPr>
            <a:r>
              <a:rPr sz="24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capables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réaliser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14" dirty="0">
                <a:solidFill>
                  <a:srgbClr val="3B3B3B"/>
                </a:solidFill>
                <a:latin typeface="Lucida Sans Unicode"/>
                <a:cs typeface="Lucida Sans Unicode"/>
              </a:rPr>
              <a:t>tâches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nécessitant</a:t>
            </a:r>
            <a:r>
              <a:rPr sz="24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l'intelligence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humaine.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Cela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inclut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14" dirty="0">
                <a:solidFill>
                  <a:srgbClr val="3B3B3B"/>
                </a:solidFill>
                <a:latin typeface="Lucida Sans Unicode"/>
                <a:cs typeface="Lucida Sans Unicode"/>
              </a:rPr>
              <a:t>capacités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comme</a:t>
            </a:r>
            <a:r>
              <a:rPr sz="2400" spc="3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l'apprentissage,</a:t>
            </a:r>
            <a:r>
              <a:rPr sz="2400" spc="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le</a:t>
            </a:r>
            <a:r>
              <a:rPr sz="2400" spc="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raisonnement,</a:t>
            </a:r>
            <a:r>
              <a:rPr sz="2400" spc="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2400" spc="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résolution</a:t>
            </a:r>
            <a:r>
              <a:rPr sz="2400" spc="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problèmes,</a:t>
            </a:r>
            <a:r>
              <a:rPr sz="2400" spc="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2400" spc="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perception</a:t>
            </a:r>
            <a:r>
              <a:rPr sz="2400" spc="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4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la </a:t>
            </a: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compréhension</a:t>
            </a:r>
            <a:r>
              <a:rPr sz="2400" spc="-25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du</a:t>
            </a:r>
            <a:r>
              <a:rPr sz="2400" spc="-22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langage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4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Autrement,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30" dirty="0">
                <a:solidFill>
                  <a:srgbClr val="3B3B3B"/>
                </a:solidFill>
                <a:latin typeface="Lucida Sans Unicode"/>
                <a:cs typeface="Lucida Sans Unicode"/>
              </a:rPr>
              <a:t>l’IA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est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un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ensemble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théories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techniques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mises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œuvre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vue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réaliser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endParaRPr sz="240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1735"/>
              </a:spcBef>
            </a:pP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machines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capables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55" dirty="0">
                <a:solidFill>
                  <a:srgbClr val="006066"/>
                </a:solidFill>
                <a:latin typeface="Arial Black"/>
                <a:cs typeface="Arial Black"/>
              </a:rPr>
              <a:t>simuler</a:t>
            </a:r>
            <a:r>
              <a:rPr sz="2400" spc="-2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l'intelligence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humaine</a:t>
            </a:r>
            <a:r>
              <a:rPr sz="2400" spc="-2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310" dirty="0">
                <a:solidFill>
                  <a:srgbClr val="3B3B3B"/>
                </a:solidFill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15100" y="-1650"/>
            <a:ext cx="10369550" cy="10287635"/>
            <a:chOff x="6515100" y="-1650"/>
            <a:chExt cx="10369550" cy="10287635"/>
          </a:xfrm>
        </p:grpSpPr>
        <p:sp>
          <p:nvSpPr>
            <p:cNvPr id="3" name="object 3"/>
            <p:cNvSpPr/>
            <p:nvPr/>
          </p:nvSpPr>
          <p:spPr>
            <a:xfrm>
              <a:off x="6515100" y="-1651"/>
              <a:ext cx="10369550" cy="10287635"/>
            </a:xfrm>
            <a:custGeom>
              <a:avLst/>
              <a:gdLst/>
              <a:ahLst/>
              <a:cxnLst/>
              <a:rect l="l" t="t" r="r" b="b"/>
              <a:pathLst>
                <a:path w="10369550" h="10287635">
                  <a:moveTo>
                    <a:pt x="5185537" y="5143576"/>
                  </a:moveTo>
                  <a:lnTo>
                    <a:pt x="0" y="5143576"/>
                  </a:lnTo>
                  <a:lnTo>
                    <a:pt x="0" y="10287076"/>
                  </a:lnTo>
                  <a:lnTo>
                    <a:pt x="5185537" y="10287076"/>
                  </a:lnTo>
                  <a:lnTo>
                    <a:pt x="5185537" y="5143576"/>
                  </a:lnTo>
                  <a:close/>
                </a:path>
                <a:path w="10369550" h="10287635">
                  <a:moveTo>
                    <a:pt x="10369550" y="0"/>
                  </a:moveTo>
                  <a:lnTo>
                    <a:pt x="5184013" y="0"/>
                  </a:lnTo>
                  <a:lnTo>
                    <a:pt x="5184013" y="5143500"/>
                  </a:lnTo>
                  <a:lnTo>
                    <a:pt x="10369550" y="5143500"/>
                  </a:lnTo>
                  <a:lnTo>
                    <a:pt x="10369550" y="0"/>
                  </a:lnTo>
                  <a:close/>
                </a:path>
              </a:pathLst>
            </a:custGeom>
            <a:solidFill>
              <a:srgbClr val="01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00636" y="5141451"/>
              <a:ext cx="5184013" cy="514197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482344" y="3886580"/>
            <a:ext cx="3824604" cy="23392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45"/>
              </a:spcBef>
            </a:pPr>
            <a:r>
              <a:rPr sz="5400" spc="-190" dirty="0" err="1">
                <a:solidFill>
                  <a:srgbClr val="006066"/>
                </a:solidFill>
                <a:latin typeface="Arial Black"/>
                <a:cs typeface="Arial Black"/>
              </a:rPr>
              <a:t>Approches</a:t>
            </a:r>
            <a:r>
              <a:rPr sz="5400" spc="-1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spc="-100" dirty="0">
                <a:solidFill>
                  <a:srgbClr val="006066"/>
                </a:solidFill>
                <a:latin typeface="Arial Black"/>
                <a:cs typeface="Arial Black"/>
              </a:rPr>
              <a:t>générales</a:t>
            </a:r>
            <a:r>
              <a:rPr sz="5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spc="-50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38964" y="1614043"/>
            <a:ext cx="3733800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24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machine</a:t>
            </a:r>
            <a:r>
              <a:rPr sz="2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doit</a:t>
            </a: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60000"/>
              </a:lnSpc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raisonner</a:t>
            </a:r>
            <a:r>
              <a:rPr sz="2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2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manière </a:t>
            </a:r>
            <a:r>
              <a:rPr sz="24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l’homme</a:t>
            </a:r>
            <a:r>
              <a:rPr sz="2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(utiliser</a:t>
            </a:r>
            <a:r>
              <a:rPr sz="2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les </a:t>
            </a:r>
            <a:r>
              <a:rPr sz="2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mêmes</a:t>
            </a:r>
            <a:r>
              <a:rPr sz="2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mécanismes</a:t>
            </a:r>
            <a:r>
              <a:rPr sz="24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fonctionnement)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38964" y="571881"/>
            <a:ext cx="3430904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4" dirty="0">
                <a:solidFill>
                  <a:srgbClr val="FFFFFF"/>
                </a:solidFill>
                <a:latin typeface="Arial Black"/>
                <a:cs typeface="Arial Black"/>
              </a:rPr>
              <a:t>L’IA</a:t>
            </a:r>
            <a:r>
              <a:rPr sz="2600" spc="-2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14" dirty="0">
                <a:solidFill>
                  <a:srgbClr val="FFFFFF"/>
                </a:solidFill>
                <a:latin typeface="Arial Black"/>
                <a:cs typeface="Arial Black"/>
              </a:rPr>
              <a:t>cog</a:t>
            </a:r>
            <a:r>
              <a:rPr lang="fr-FR" sz="2600" spc="-114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2600" spc="-114" dirty="0" err="1">
                <a:solidFill>
                  <a:srgbClr val="FFFFFF"/>
                </a:solidFill>
                <a:latin typeface="Arial Black"/>
                <a:cs typeface="Arial Black"/>
              </a:rPr>
              <a:t>itive</a:t>
            </a:r>
            <a:r>
              <a:rPr sz="2600" spc="-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Black"/>
                <a:cs typeface="Arial Black"/>
              </a:rPr>
              <a:t>(forte)</a:t>
            </a:r>
            <a:endParaRPr sz="2600" dirty="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7531" y="6972427"/>
            <a:ext cx="38862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2400" spc="4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machine</a:t>
            </a:r>
            <a:r>
              <a:rPr sz="24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doit</a:t>
            </a:r>
            <a:r>
              <a:rPr sz="2400" spc="5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aboutir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aux</a:t>
            </a:r>
            <a:r>
              <a:rPr sz="2400" spc="275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2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mêmes</a:t>
            </a:r>
            <a:r>
              <a:rPr sz="2400" spc="275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2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solutions </a:t>
            </a:r>
            <a:r>
              <a:rPr sz="2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2400" spc="450" dirty="0">
                <a:solidFill>
                  <a:srgbClr val="FFFFFF"/>
                </a:solidFill>
                <a:latin typeface="Lucida Sans Unicode"/>
                <a:cs typeface="Lucida Sans Unicode"/>
              </a:rPr>
              <a:t>   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l’homme</a:t>
            </a:r>
            <a:r>
              <a:rPr sz="2400" spc="455" dirty="0">
                <a:solidFill>
                  <a:srgbClr val="FFFFFF"/>
                </a:solidFill>
                <a:latin typeface="Lucida Sans Unicode"/>
                <a:cs typeface="Lucida Sans Unicode"/>
              </a:rPr>
              <a:t>    </a:t>
            </a:r>
            <a:r>
              <a:rPr sz="2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(peu </a:t>
            </a:r>
            <a:r>
              <a:rPr sz="2400" dirty="0">
                <a:solidFill>
                  <a:srgbClr val="FFFFFF"/>
                </a:solidFill>
                <a:latin typeface="Lucida Sans Unicode"/>
                <a:cs typeface="Lucida Sans Unicode"/>
              </a:rPr>
              <a:t>importe</a:t>
            </a:r>
            <a:r>
              <a:rPr sz="2400" spc="570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2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2400" spc="575" dirty="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méthode </a:t>
            </a:r>
            <a:r>
              <a:rPr sz="2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employée)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179" y="5586222"/>
            <a:ext cx="31337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285" dirty="0">
                <a:solidFill>
                  <a:srgbClr val="FFFFFF"/>
                </a:solidFill>
                <a:latin typeface="Arial Black"/>
                <a:cs typeface="Arial Black"/>
              </a:rPr>
              <a:t>L’IA</a:t>
            </a:r>
            <a:r>
              <a:rPr sz="2800" spc="-25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lang="fr-FR" sz="2800" spc="-10" dirty="0">
                <a:solidFill>
                  <a:srgbClr val="FFFFFF"/>
                </a:solidFill>
                <a:latin typeface="Arial Black"/>
                <a:cs typeface="Arial Black"/>
              </a:rPr>
              <a:t>pragmatique</a:t>
            </a:r>
            <a:endParaRPr sz="2800" dirty="0">
              <a:latin typeface="Arial Black"/>
              <a:cs typeface="Arial Black"/>
            </a:endParaRPr>
          </a:p>
          <a:p>
            <a:pPr marL="635" algn="ctr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Arial Black"/>
                <a:cs typeface="Arial Black"/>
              </a:rPr>
              <a:t>(f</a:t>
            </a:r>
            <a:r>
              <a:rPr lang="fr-FR" sz="2800" spc="-1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2800" spc="-10" dirty="0" err="1">
                <a:solidFill>
                  <a:srgbClr val="FFFFFF"/>
                </a:solidFill>
                <a:latin typeface="Arial Black"/>
                <a:cs typeface="Arial Black"/>
              </a:rPr>
              <a:t>ible</a:t>
            </a:r>
            <a:r>
              <a:rPr sz="2800" spc="-10" dirty="0">
                <a:solidFill>
                  <a:srgbClr val="FFFFFF"/>
                </a:solidFill>
                <a:latin typeface="Arial Black"/>
                <a:cs typeface="Arial Black"/>
              </a:rPr>
              <a:t>)</a:t>
            </a:r>
            <a:endParaRPr sz="2800" dirty="0">
              <a:latin typeface="Arial Black"/>
              <a:cs typeface="Arial Black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000BC33-979F-0940-266A-C12BC3963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20" y="3572"/>
            <a:ext cx="5216015" cy="5141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0" y="7626095"/>
            <a:ext cx="0" cy="2659380"/>
          </a:xfrm>
          <a:custGeom>
            <a:avLst/>
            <a:gdLst/>
            <a:ahLst/>
            <a:cxnLst/>
            <a:rect l="l" t="t" r="r" b="b"/>
            <a:pathLst>
              <a:path h="2659379">
                <a:moveTo>
                  <a:pt x="0" y="2659316"/>
                </a:moveTo>
                <a:lnTo>
                  <a:pt x="0" y="0"/>
                </a:lnTo>
              </a:path>
            </a:pathLst>
          </a:custGeom>
          <a:ln w="12700">
            <a:solidFill>
              <a:srgbClr val="D0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454753" y="8857284"/>
            <a:ext cx="4432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770" dirty="0">
                <a:solidFill>
                  <a:srgbClr val="D7D7D7"/>
                </a:solidFill>
                <a:latin typeface="Arial Black"/>
                <a:cs typeface="Arial Black"/>
              </a:rPr>
              <a:t>7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1530" y="2506472"/>
            <a:ext cx="6536055" cy="2036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75" dirty="0">
                <a:solidFill>
                  <a:srgbClr val="3B3B3B"/>
                </a:solidFill>
                <a:latin typeface="Arial Black"/>
                <a:cs typeface="Arial Black"/>
              </a:rPr>
              <a:t>Le</a:t>
            </a:r>
            <a:r>
              <a:rPr sz="2800" spc="-254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409" dirty="0">
                <a:solidFill>
                  <a:srgbClr val="3B3B3B"/>
                </a:solidFill>
                <a:latin typeface="Arial Black"/>
                <a:cs typeface="Arial Black"/>
              </a:rPr>
              <a:t>«</a:t>
            </a:r>
            <a:r>
              <a:rPr sz="2800" spc="-25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245" dirty="0">
                <a:solidFill>
                  <a:srgbClr val="3B3B3B"/>
                </a:solidFill>
                <a:latin typeface="Arial Black"/>
                <a:cs typeface="Arial Black"/>
              </a:rPr>
              <a:t>Test</a:t>
            </a:r>
            <a:r>
              <a:rPr sz="2800" spc="-25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800" spc="-245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135" dirty="0">
                <a:solidFill>
                  <a:srgbClr val="3B3B3B"/>
                </a:solidFill>
                <a:latin typeface="Arial Black"/>
                <a:cs typeface="Arial Black"/>
              </a:rPr>
              <a:t>Turi</a:t>
            </a:r>
            <a:r>
              <a:rPr lang="fr-FR" sz="2800" spc="-135" dirty="0">
                <a:solidFill>
                  <a:srgbClr val="3B3B3B"/>
                </a:solidFill>
                <a:latin typeface="Arial Black"/>
                <a:cs typeface="Arial Black"/>
              </a:rPr>
              <a:t>n</a:t>
            </a:r>
            <a:r>
              <a:rPr sz="2800" spc="-135" dirty="0">
                <a:solidFill>
                  <a:srgbClr val="3B3B3B"/>
                </a:solidFill>
                <a:latin typeface="Arial Black"/>
                <a:cs typeface="Arial Black"/>
              </a:rPr>
              <a:t>g</a:t>
            </a:r>
            <a:r>
              <a:rPr sz="2800" spc="-254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459" dirty="0">
                <a:solidFill>
                  <a:srgbClr val="3B3B3B"/>
                </a:solidFill>
                <a:latin typeface="Arial Black"/>
                <a:cs typeface="Arial Black"/>
              </a:rPr>
              <a:t>»</a:t>
            </a:r>
            <a:endParaRPr sz="280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955"/>
              </a:spcBef>
            </a:pP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Alan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Turing</a:t>
            </a:r>
            <a:r>
              <a:rPr sz="20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propose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célèbre</a:t>
            </a:r>
            <a:r>
              <a:rPr sz="20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"Test</a:t>
            </a:r>
            <a:r>
              <a:rPr sz="20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0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Turing"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pour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déterminer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si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machine</a:t>
            </a:r>
            <a:r>
              <a:rPr sz="20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peut</a:t>
            </a:r>
            <a:r>
              <a:rPr sz="20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se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 montrer</a:t>
            </a:r>
            <a:r>
              <a:rPr sz="20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aussi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intelligente</a:t>
            </a:r>
            <a:r>
              <a:rPr sz="20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qu'un</a:t>
            </a:r>
            <a:r>
              <a:rPr sz="20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humain.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1530" y="4880229"/>
            <a:ext cx="6513195" cy="3915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-280" dirty="0">
                <a:solidFill>
                  <a:srgbClr val="3B3B3B"/>
                </a:solidFill>
                <a:latin typeface="Arial Black"/>
                <a:cs typeface="Arial Black"/>
              </a:rPr>
              <a:t>La naissance </a:t>
            </a:r>
            <a:r>
              <a:rPr sz="2800" spc="-65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800" spc="-22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20" dirty="0">
                <a:solidFill>
                  <a:srgbClr val="3B3B3B"/>
                </a:solidFill>
                <a:latin typeface="Arial Black"/>
                <a:cs typeface="Arial Black"/>
              </a:rPr>
              <a:t>l’IA</a:t>
            </a:r>
            <a:endParaRPr sz="280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955"/>
              </a:spcBef>
            </a:pPr>
            <a:r>
              <a:rPr sz="2000" spc="140" dirty="0">
                <a:solidFill>
                  <a:srgbClr val="3B3B3B"/>
                </a:solidFill>
                <a:latin typeface="Lucida Sans Unicode"/>
                <a:cs typeface="Lucida Sans Unicode"/>
              </a:rPr>
              <a:t>John</a:t>
            </a:r>
            <a:r>
              <a:rPr sz="20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McCarthy,</a:t>
            </a:r>
            <a:r>
              <a:rPr sz="20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Marvin</a:t>
            </a:r>
            <a:r>
              <a:rPr sz="20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Minsky,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Nathaniel</a:t>
            </a:r>
            <a:r>
              <a:rPr sz="20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Rochester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0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Claude</a:t>
            </a:r>
            <a:r>
              <a:rPr sz="20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Shannon</a:t>
            </a:r>
            <a:r>
              <a:rPr sz="20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introduisent</a:t>
            </a:r>
            <a:r>
              <a:rPr sz="20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0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terme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"intelligence</a:t>
            </a:r>
            <a:r>
              <a:rPr sz="2000" spc="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artificielle".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2800" spc="-140" dirty="0">
                <a:solidFill>
                  <a:srgbClr val="3B3B3B"/>
                </a:solidFill>
                <a:latin typeface="Arial Black"/>
                <a:cs typeface="Arial Black"/>
              </a:rPr>
              <a:t>Premiers</a:t>
            </a:r>
            <a:r>
              <a:rPr sz="2800" spc="-24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135" dirty="0">
                <a:solidFill>
                  <a:srgbClr val="3B3B3B"/>
                </a:solidFill>
                <a:latin typeface="Arial Black"/>
                <a:cs typeface="Arial Black"/>
              </a:rPr>
              <a:t>systèmes</a:t>
            </a:r>
            <a:r>
              <a:rPr sz="2800" spc="-20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Arial Black"/>
                <a:cs typeface="Arial Black"/>
              </a:rPr>
              <a:t>experts</a:t>
            </a:r>
            <a:endParaRPr sz="2800" dirty="0">
              <a:latin typeface="Arial Black"/>
              <a:cs typeface="Arial Black"/>
            </a:endParaRPr>
          </a:p>
          <a:p>
            <a:pPr marL="12700" marR="133985">
              <a:lnSpc>
                <a:spcPct val="160000"/>
              </a:lnSpc>
              <a:spcBef>
                <a:spcPts val="955"/>
              </a:spcBef>
            </a:pPr>
            <a:r>
              <a:rPr sz="20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Développement</a:t>
            </a:r>
            <a:r>
              <a:rPr sz="20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0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premiers</a:t>
            </a:r>
            <a:r>
              <a:rPr sz="20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systèmes</a:t>
            </a:r>
            <a:r>
              <a:rPr sz="20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experts</a:t>
            </a:r>
            <a:r>
              <a:rPr sz="20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et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réseaux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0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neurones.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2344" y="3459607"/>
            <a:ext cx="3729990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spc="-325" dirty="0">
                <a:solidFill>
                  <a:srgbClr val="006066"/>
                </a:solidFill>
                <a:latin typeface="Arial Black"/>
                <a:cs typeface="Arial Black"/>
              </a:rPr>
              <a:t>Histoire</a:t>
            </a:r>
            <a:r>
              <a:rPr sz="540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6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endParaRPr sz="5400">
              <a:latin typeface="Arial Black"/>
              <a:cs typeface="Arial Black"/>
            </a:endParaRPr>
          </a:p>
          <a:p>
            <a:pPr marL="12700">
              <a:lnSpc>
                <a:spcPts val="6155"/>
              </a:lnSpc>
            </a:pPr>
            <a:r>
              <a:rPr sz="540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85000" y="2479916"/>
            <a:ext cx="1538605" cy="586740"/>
          </a:xfrm>
          <a:prstGeom prst="rect">
            <a:avLst/>
          </a:prstGeom>
          <a:solidFill>
            <a:srgbClr val="009AA1"/>
          </a:solidFill>
        </p:spPr>
        <p:txBody>
          <a:bodyPr vert="horz" wrap="square" lIns="0" tIns="86360" rIns="0" bIns="0" rtlCol="0">
            <a:spAutoFit/>
          </a:bodyPr>
          <a:lstStyle/>
          <a:p>
            <a:pPr marL="422909">
              <a:lnSpc>
                <a:spcPct val="100000"/>
              </a:lnSpc>
              <a:spcBef>
                <a:spcPts val="680"/>
              </a:spcBef>
            </a:pPr>
            <a:r>
              <a:rPr sz="2400" spc="-20" dirty="0">
                <a:solidFill>
                  <a:srgbClr val="FFFFFF"/>
                </a:solidFill>
                <a:latin typeface="Arial Black"/>
                <a:cs typeface="Arial Black"/>
              </a:rPr>
              <a:t>1950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5000" y="4853546"/>
            <a:ext cx="1538605" cy="586740"/>
          </a:xfrm>
          <a:prstGeom prst="rect">
            <a:avLst/>
          </a:prstGeom>
          <a:solidFill>
            <a:srgbClr val="009AA1"/>
          </a:solidFill>
        </p:spPr>
        <p:txBody>
          <a:bodyPr vert="horz" wrap="square" lIns="0" tIns="86360" rIns="0" bIns="0" rtlCol="0">
            <a:spAutoFit/>
          </a:bodyPr>
          <a:lstStyle/>
          <a:p>
            <a:pPr marL="422909">
              <a:lnSpc>
                <a:spcPct val="100000"/>
              </a:lnSpc>
              <a:spcBef>
                <a:spcPts val="680"/>
              </a:spcBef>
            </a:pPr>
            <a:r>
              <a:rPr sz="2400" spc="-20" dirty="0">
                <a:solidFill>
                  <a:srgbClr val="FFFFFF"/>
                </a:solidFill>
                <a:latin typeface="Arial Black"/>
                <a:cs typeface="Arial Black"/>
              </a:rPr>
              <a:t>1956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5000" y="7229208"/>
            <a:ext cx="1538605" cy="586740"/>
          </a:xfrm>
          <a:prstGeom prst="rect">
            <a:avLst/>
          </a:prstGeom>
          <a:solidFill>
            <a:srgbClr val="009AA1"/>
          </a:solidFill>
        </p:spPr>
        <p:txBody>
          <a:bodyPr vert="horz" wrap="square" lIns="0" tIns="86995" rIns="0" bIns="0" rtlCol="0">
            <a:spAutoFit/>
          </a:bodyPr>
          <a:lstStyle/>
          <a:p>
            <a:pPr marL="340995">
              <a:lnSpc>
                <a:spcPct val="100000"/>
              </a:lnSpc>
              <a:spcBef>
                <a:spcPts val="685"/>
              </a:spcBef>
            </a:pPr>
            <a:r>
              <a:rPr sz="2400" spc="-40" dirty="0">
                <a:solidFill>
                  <a:srgbClr val="FFFFFF"/>
                </a:solidFill>
                <a:latin typeface="Arial Black"/>
                <a:cs typeface="Arial Black"/>
              </a:rPr>
              <a:t>1960s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0" y="0"/>
            <a:ext cx="0" cy="2670810"/>
          </a:xfrm>
          <a:custGeom>
            <a:avLst/>
            <a:gdLst/>
            <a:ahLst/>
            <a:cxnLst/>
            <a:rect l="l" t="t" r="r" b="b"/>
            <a:pathLst>
              <a:path h="2670810">
                <a:moveTo>
                  <a:pt x="0" y="0"/>
                </a:moveTo>
                <a:lnTo>
                  <a:pt x="0" y="2670809"/>
                </a:lnTo>
              </a:path>
            </a:pathLst>
          </a:custGeom>
          <a:ln w="12700">
            <a:solidFill>
              <a:srgbClr val="D0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381601" y="8857284"/>
            <a:ext cx="5156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90" dirty="0">
                <a:solidFill>
                  <a:srgbClr val="D7D7D7"/>
                </a:solidFill>
                <a:latin typeface="Arial Black"/>
                <a:cs typeface="Arial Black"/>
              </a:rPr>
              <a:t>8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1530" y="2506472"/>
            <a:ext cx="6501765" cy="154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-110" dirty="0">
                <a:solidFill>
                  <a:srgbClr val="3B3B3B"/>
                </a:solidFill>
                <a:latin typeface="Arial Black"/>
                <a:cs typeface="Arial Black"/>
              </a:rPr>
              <a:t>Avènement</a:t>
            </a:r>
            <a:r>
              <a:rPr sz="2800" spc="-22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dirty="0">
                <a:solidFill>
                  <a:srgbClr val="3B3B3B"/>
                </a:solidFill>
                <a:latin typeface="Arial Black"/>
                <a:cs typeface="Arial Black"/>
              </a:rPr>
              <a:t>du</a:t>
            </a:r>
            <a:r>
              <a:rPr sz="2800" spc="-22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395" dirty="0">
                <a:solidFill>
                  <a:srgbClr val="3B3B3B"/>
                </a:solidFill>
                <a:latin typeface="Arial Black"/>
                <a:cs typeface="Arial Black"/>
              </a:rPr>
              <a:t>ML</a:t>
            </a:r>
            <a:endParaRPr sz="28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sz="20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Avènement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000" spc="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" dirty="0">
                <a:solidFill>
                  <a:srgbClr val="3B3B3B"/>
                </a:solidFill>
                <a:latin typeface="Lucida Sans Unicode"/>
                <a:cs typeface="Lucida Sans Unicode"/>
              </a:rPr>
              <a:t>l’apprentissage</a:t>
            </a:r>
            <a:r>
              <a:rPr sz="20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automatique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algorithmes</a:t>
            </a:r>
            <a:r>
              <a:rPr sz="2000" spc="3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génétiques.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1530" y="4453509"/>
            <a:ext cx="6522720" cy="19409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-310" dirty="0">
                <a:solidFill>
                  <a:srgbClr val="3B3B3B"/>
                </a:solidFill>
                <a:latin typeface="Arial Black"/>
                <a:cs typeface="Arial Black"/>
              </a:rPr>
              <a:t>Les données massives et l’apprentissage profond</a:t>
            </a:r>
            <a:endParaRPr sz="280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955"/>
              </a:spcBef>
            </a:pP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Explosion</a:t>
            </a:r>
            <a:r>
              <a:rPr sz="2000" spc="-11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0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données</a:t>
            </a:r>
            <a:r>
              <a:rPr sz="20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(Big</a:t>
            </a:r>
            <a:r>
              <a:rPr sz="20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Data)</a:t>
            </a:r>
            <a:r>
              <a:rPr sz="20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0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émergence</a:t>
            </a:r>
            <a:r>
              <a:rPr sz="2000" spc="-11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de </a:t>
            </a:r>
            <a:r>
              <a:rPr sz="2000" spc="20" dirty="0">
                <a:solidFill>
                  <a:srgbClr val="3B3B3B"/>
                </a:solidFill>
                <a:latin typeface="Lucida Sans Unicode"/>
                <a:cs typeface="Lucida Sans Unicode"/>
              </a:rPr>
              <a:t>l'apprentissage</a:t>
            </a:r>
            <a:r>
              <a:rPr sz="20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20" dirty="0">
                <a:solidFill>
                  <a:srgbClr val="3B3B3B"/>
                </a:solidFill>
                <a:latin typeface="Lucida Sans Unicode"/>
                <a:cs typeface="Lucida Sans Unicode"/>
              </a:rPr>
              <a:t>profond</a:t>
            </a:r>
            <a:r>
              <a:rPr sz="2000" spc="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(Deep</a:t>
            </a:r>
            <a:r>
              <a:rPr sz="2000" spc="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Learning).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01530" y="7246746"/>
            <a:ext cx="6400165" cy="2036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-120" dirty="0">
                <a:solidFill>
                  <a:srgbClr val="3B3B3B"/>
                </a:solidFill>
                <a:latin typeface="Arial Black"/>
                <a:cs typeface="Arial Black"/>
              </a:rPr>
              <a:t>Démocratisation </a:t>
            </a:r>
            <a:r>
              <a:rPr sz="2800" spc="-65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800" spc="-19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800" spc="-20" dirty="0">
                <a:solidFill>
                  <a:srgbClr val="3B3B3B"/>
                </a:solidFill>
                <a:latin typeface="Arial Black"/>
                <a:cs typeface="Arial Black"/>
              </a:rPr>
              <a:t>l’IA</a:t>
            </a:r>
            <a:endParaRPr sz="2800" dirty="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955"/>
              </a:spcBef>
            </a:pPr>
            <a:r>
              <a:rPr sz="2000" spc="-120" dirty="0">
                <a:solidFill>
                  <a:srgbClr val="3B3B3B"/>
                </a:solidFill>
                <a:latin typeface="Lucida Sans Unicode"/>
                <a:cs typeface="Lucida Sans Unicode"/>
              </a:rPr>
              <a:t>L'IA</a:t>
            </a:r>
            <a:r>
              <a:rPr sz="20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trouve</a:t>
            </a:r>
            <a:r>
              <a:rPr sz="20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0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applications</a:t>
            </a:r>
            <a:r>
              <a:rPr sz="20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dans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divers</a:t>
            </a:r>
            <a:r>
              <a:rPr sz="20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domaines, </a:t>
            </a:r>
            <a:r>
              <a:rPr sz="20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allant</a:t>
            </a:r>
            <a:r>
              <a:rPr sz="2000" spc="-11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0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0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santé</a:t>
            </a:r>
            <a:r>
              <a:rPr sz="20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25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0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0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finance</a:t>
            </a:r>
            <a:r>
              <a:rPr sz="2000" spc="-11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0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passant</a:t>
            </a:r>
            <a:r>
              <a:rPr sz="20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par</a:t>
            </a:r>
            <a:r>
              <a:rPr sz="20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le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transport</a:t>
            </a:r>
            <a:r>
              <a:rPr sz="20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0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l'industrie.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85000" y="2479916"/>
            <a:ext cx="1538605" cy="586740"/>
          </a:xfrm>
          <a:prstGeom prst="rect">
            <a:avLst/>
          </a:prstGeom>
          <a:solidFill>
            <a:srgbClr val="009AA1"/>
          </a:solidFill>
        </p:spPr>
        <p:txBody>
          <a:bodyPr vert="horz" wrap="square" lIns="0" tIns="8636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680"/>
              </a:spcBef>
            </a:pPr>
            <a:r>
              <a:rPr sz="2400" spc="-35" dirty="0">
                <a:solidFill>
                  <a:srgbClr val="FFFFFF"/>
                </a:solidFill>
                <a:latin typeface="Arial Black"/>
                <a:cs typeface="Arial Black"/>
              </a:rPr>
              <a:t>1980s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5000" y="4853546"/>
            <a:ext cx="1538605" cy="586740"/>
          </a:xfrm>
          <a:prstGeom prst="rect">
            <a:avLst/>
          </a:prstGeom>
          <a:solidFill>
            <a:srgbClr val="009AA1"/>
          </a:solidFill>
        </p:spPr>
        <p:txBody>
          <a:bodyPr vert="horz" wrap="square" lIns="0" tIns="86360" rIns="0" bIns="0" rtlCol="0">
            <a:spAutoFit/>
          </a:bodyPr>
          <a:lstStyle/>
          <a:p>
            <a:pPr marL="386715">
              <a:lnSpc>
                <a:spcPct val="100000"/>
              </a:lnSpc>
              <a:spcBef>
                <a:spcPts val="680"/>
              </a:spcBef>
            </a:pPr>
            <a:r>
              <a:rPr sz="2400" spc="-20" dirty="0">
                <a:solidFill>
                  <a:srgbClr val="FFFFFF"/>
                </a:solidFill>
                <a:latin typeface="Arial Black"/>
                <a:cs typeface="Arial Black"/>
              </a:rPr>
              <a:t>2000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5000" y="7229208"/>
            <a:ext cx="1538605" cy="586740"/>
          </a:xfrm>
          <a:prstGeom prst="rect">
            <a:avLst/>
          </a:prstGeom>
          <a:solidFill>
            <a:srgbClr val="009AA1"/>
          </a:solidFill>
        </p:spPr>
        <p:txBody>
          <a:bodyPr vert="horz" wrap="square" lIns="0" tIns="86995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685"/>
              </a:spcBef>
            </a:pP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NOW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2344" y="4256608"/>
            <a:ext cx="3729354" cy="159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60"/>
              </a:lnSpc>
              <a:spcBef>
                <a:spcPts val="100"/>
              </a:spcBef>
            </a:pPr>
            <a:r>
              <a:rPr sz="5400" spc="-325" dirty="0">
                <a:solidFill>
                  <a:srgbClr val="006066"/>
                </a:solidFill>
                <a:latin typeface="Arial Black"/>
                <a:cs typeface="Arial Black"/>
              </a:rPr>
              <a:t>Histoire</a:t>
            </a:r>
            <a:r>
              <a:rPr sz="5400" spc="-4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5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endParaRPr sz="5400">
              <a:latin typeface="Arial Black"/>
              <a:cs typeface="Arial Black"/>
            </a:endParaRPr>
          </a:p>
          <a:p>
            <a:pPr marL="12700">
              <a:lnSpc>
                <a:spcPts val="6160"/>
              </a:lnSpc>
            </a:pPr>
            <a:r>
              <a:rPr sz="540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18288000" cy="10285730"/>
          </a:xfrm>
          <a:custGeom>
            <a:avLst/>
            <a:gdLst/>
            <a:ahLst/>
            <a:cxnLst/>
            <a:rect l="l" t="t" r="r" b="b"/>
            <a:pathLst>
              <a:path w="18288000" h="10285730">
                <a:moveTo>
                  <a:pt x="18288000" y="0"/>
                </a:moveTo>
                <a:lnTo>
                  <a:pt x="0" y="0"/>
                </a:lnTo>
                <a:lnTo>
                  <a:pt x="0" y="10285476"/>
                </a:lnTo>
                <a:lnTo>
                  <a:pt x="18288000" y="10285476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17650" y="4232337"/>
            <a:ext cx="11442700" cy="6053455"/>
            <a:chOff x="1517650" y="4232337"/>
            <a:chExt cx="11442700" cy="6053455"/>
          </a:xfrm>
        </p:grpSpPr>
        <p:sp>
          <p:nvSpPr>
            <p:cNvPr id="4" name="object 4"/>
            <p:cNvSpPr/>
            <p:nvPr/>
          </p:nvSpPr>
          <p:spPr>
            <a:xfrm>
              <a:off x="1517650" y="5141976"/>
              <a:ext cx="7626350" cy="0"/>
            </a:xfrm>
            <a:custGeom>
              <a:avLst/>
              <a:gdLst/>
              <a:ahLst/>
              <a:cxnLst/>
              <a:rect l="l" t="t" r="r" b="b"/>
              <a:pathLst>
                <a:path w="7626350">
                  <a:moveTo>
                    <a:pt x="0" y="0"/>
                  </a:moveTo>
                  <a:lnTo>
                    <a:pt x="7626350" y="0"/>
                  </a:lnTo>
                </a:path>
              </a:pathLst>
            </a:custGeom>
            <a:ln w="6350">
              <a:solidFill>
                <a:srgbClr val="B0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4232337"/>
              <a:ext cx="3815969" cy="605307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36854" y="9757054"/>
            <a:ext cx="15633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854" y="8857284"/>
            <a:ext cx="5029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30" dirty="0">
                <a:solidFill>
                  <a:srgbClr val="FFFFFF"/>
                </a:solidFill>
                <a:latin typeface="Arial Black"/>
                <a:cs typeface="Arial Black"/>
              </a:rPr>
              <a:t>9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82344" y="4112133"/>
            <a:ext cx="41370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285" dirty="0">
                <a:solidFill>
                  <a:srgbClr val="FFFFFF"/>
                </a:solidFill>
                <a:latin typeface="Arial Black"/>
                <a:cs typeface="Arial Black"/>
              </a:rPr>
              <a:t>Figures</a:t>
            </a:r>
            <a:r>
              <a:rPr sz="5400" b="0" spc="-5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400" b="0" spc="-360" dirty="0">
                <a:solidFill>
                  <a:srgbClr val="FFFFFF"/>
                </a:solidFill>
                <a:latin typeface="Arial Black"/>
                <a:cs typeface="Arial Black"/>
              </a:rPr>
              <a:t>clés</a:t>
            </a:r>
            <a:endParaRPr sz="5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1266" y="5505958"/>
            <a:ext cx="6200775" cy="3745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18515" algn="l"/>
                <a:tab pos="2342515" algn="l"/>
                <a:tab pos="3342640" algn="l"/>
                <a:tab pos="4087495" algn="l"/>
                <a:tab pos="4877435" algn="l"/>
                <a:tab pos="5967095" algn="l"/>
              </a:tabLst>
            </a:pPr>
            <a:r>
              <a:rPr sz="2000" spc="-20" dirty="0">
                <a:solidFill>
                  <a:srgbClr val="E7E6E6"/>
                </a:solidFill>
                <a:latin typeface="Arial Black"/>
                <a:cs typeface="Arial Black"/>
              </a:rPr>
              <a:t>John</a:t>
            </a:r>
            <a:r>
              <a:rPr sz="2000" dirty="0">
                <a:solidFill>
                  <a:srgbClr val="E7E6E6"/>
                </a:solidFill>
                <a:latin typeface="Arial Black"/>
                <a:cs typeface="Arial Black"/>
              </a:rPr>
              <a:t>	</a:t>
            </a:r>
            <a:r>
              <a:rPr sz="2000" spc="-10" dirty="0">
                <a:solidFill>
                  <a:srgbClr val="E7E6E6"/>
                </a:solidFill>
                <a:latin typeface="Arial Black"/>
                <a:cs typeface="Arial Black"/>
              </a:rPr>
              <a:t>McCarthy:</a:t>
            </a:r>
            <a:r>
              <a:rPr sz="2000" dirty="0">
                <a:solidFill>
                  <a:srgbClr val="E7E6E6"/>
                </a:solidFill>
                <a:latin typeface="Arial Black"/>
                <a:cs typeface="Arial Black"/>
              </a:rPr>
              <a:t>	</a:t>
            </a:r>
            <a:r>
              <a:rPr sz="2000" spc="45" dirty="0">
                <a:solidFill>
                  <a:srgbClr val="E7E6E6"/>
                </a:solidFill>
                <a:latin typeface="Lucida Sans Unicode"/>
                <a:cs typeface="Lucida Sans Unicode"/>
              </a:rPr>
              <a:t>Connu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-20" dirty="0">
                <a:solidFill>
                  <a:srgbClr val="E7E6E6"/>
                </a:solidFill>
                <a:latin typeface="Lucida Sans Unicode"/>
                <a:cs typeface="Lucida Sans Unicode"/>
              </a:rPr>
              <a:t>pour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avoir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inventé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-25" dirty="0">
                <a:solidFill>
                  <a:srgbClr val="E7E6E6"/>
                </a:solidFill>
                <a:latin typeface="Lucida Sans Unicode"/>
                <a:cs typeface="Lucida Sans Unicode"/>
              </a:rPr>
              <a:t>le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000" spc="70" dirty="0">
                <a:solidFill>
                  <a:srgbClr val="E7E6E6"/>
                </a:solidFill>
                <a:latin typeface="Lucida Sans Unicode"/>
                <a:cs typeface="Lucida Sans Unicode"/>
              </a:rPr>
              <a:t>terme</a:t>
            </a:r>
            <a:r>
              <a:rPr sz="2000" spc="-20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"intelligence</a:t>
            </a:r>
            <a:r>
              <a:rPr sz="2000" spc="-50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artificielle".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dirty="0">
                <a:solidFill>
                  <a:srgbClr val="E7E6E6"/>
                </a:solidFill>
                <a:latin typeface="Arial Black"/>
                <a:cs typeface="Arial Black"/>
              </a:rPr>
              <a:t>Alan</a:t>
            </a:r>
            <a:r>
              <a:rPr sz="2000" spc="50" dirty="0">
                <a:solidFill>
                  <a:srgbClr val="E7E6E6"/>
                </a:solidFill>
                <a:latin typeface="Arial Black"/>
                <a:cs typeface="Arial Black"/>
              </a:rPr>
              <a:t> </a:t>
            </a:r>
            <a:r>
              <a:rPr sz="2000" spc="-45" dirty="0">
                <a:solidFill>
                  <a:srgbClr val="E7E6E6"/>
                </a:solidFill>
                <a:latin typeface="Arial Black"/>
                <a:cs typeface="Arial Black"/>
              </a:rPr>
              <a:t>Turing:</a:t>
            </a:r>
            <a:r>
              <a:rPr sz="2000" spc="45" dirty="0">
                <a:solidFill>
                  <a:srgbClr val="E7E6E6"/>
                </a:solidFill>
                <a:latin typeface="Arial Black"/>
                <a:cs typeface="Arial Black"/>
              </a:rPr>
              <a:t> </a:t>
            </a:r>
            <a:r>
              <a:rPr sz="2000" spc="55" dirty="0">
                <a:solidFill>
                  <a:srgbClr val="E7E6E6"/>
                </a:solidFill>
                <a:latin typeface="Lucida Sans Unicode"/>
                <a:cs typeface="Lucida Sans Unicode"/>
              </a:rPr>
              <a:t>Père</a:t>
            </a:r>
            <a:r>
              <a:rPr sz="2000" spc="8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E7E6E6"/>
                </a:solidFill>
                <a:latin typeface="Lucida Sans Unicode"/>
                <a:cs typeface="Lucida Sans Unicode"/>
              </a:rPr>
              <a:t>de</a:t>
            </a:r>
            <a:r>
              <a:rPr sz="2000" spc="90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l'informatique</a:t>
            </a:r>
            <a:r>
              <a:rPr sz="2000" spc="8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théorique</a:t>
            </a:r>
            <a:r>
              <a:rPr sz="2000" spc="90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E7E6E6"/>
                </a:solidFill>
                <a:latin typeface="Lucida Sans Unicode"/>
                <a:cs typeface="Lucida Sans Unicode"/>
              </a:rPr>
              <a:t>et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000" spc="105" dirty="0">
                <a:solidFill>
                  <a:srgbClr val="E7E6E6"/>
                </a:solidFill>
                <a:latin typeface="Lucida Sans Unicode"/>
                <a:cs typeface="Lucida Sans Unicode"/>
              </a:rPr>
              <a:t>de</a:t>
            </a:r>
            <a:r>
              <a:rPr sz="2000" spc="-114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l'IA.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ct val="160000"/>
              </a:lnSpc>
            </a:pPr>
            <a:r>
              <a:rPr sz="2000" dirty="0">
                <a:solidFill>
                  <a:srgbClr val="E7E6E6"/>
                </a:solidFill>
                <a:latin typeface="Arial Black"/>
                <a:cs typeface="Arial Black"/>
              </a:rPr>
              <a:t>Marvin</a:t>
            </a:r>
            <a:r>
              <a:rPr sz="2000" spc="75" dirty="0">
                <a:solidFill>
                  <a:srgbClr val="E7E6E6"/>
                </a:solidFill>
                <a:latin typeface="Arial Black"/>
                <a:cs typeface="Arial Black"/>
              </a:rPr>
              <a:t> </a:t>
            </a:r>
            <a:r>
              <a:rPr sz="2000" spc="-40" dirty="0">
                <a:solidFill>
                  <a:srgbClr val="E7E6E6"/>
                </a:solidFill>
                <a:latin typeface="Arial Black"/>
                <a:cs typeface="Arial Black"/>
              </a:rPr>
              <a:t>Minsky:</a:t>
            </a:r>
            <a:r>
              <a:rPr sz="2000" spc="70" dirty="0">
                <a:solidFill>
                  <a:srgbClr val="E7E6E6"/>
                </a:solidFill>
                <a:latin typeface="Arial Black"/>
                <a:cs typeface="Arial Black"/>
              </a:rPr>
              <a:t> </a:t>
            </a:r>
            <a:r>
              <a:rPr sz="2000" spc="50" dirty="0">
                <a:solidFill>
                  <a:srgbClr val="E7E6E6"/>
                </a:solidFill>
                <a:latin typeface="Lucida Sans Unicode"/>
                <a:cs typeface="Lucida Sans Unicode"/>
              </a:rPr>
              <a:t>Cofondateur</a:t>
            </a:r>
            <a:r>
              <a:rPr sz="2000" spc="110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E7E6E6"/>
                </a:solidFill>
                <a:latin typeface="Lucida Sans Unicode"/>
                <a:cs typeface="Lucida Sans Unicode"/>
              </a:rPr>
              <a:t>du</a:t>
            </a:r>
            <a:r>
              <a:rPr sz="2000" spc="114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laboratoire</a:t>
            </a:r>
            <a:r>
              <a:rPr sz="2000" spc="10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E7E6E6"/>
                </a:solidFill>
                <a:latin typeface="Lucida Sans Unicode"/>
                <a:cs typeface="Lucida Sans Unicode"/>
              </a:rPr>
              <a:t>d'IA </a:t>
            </a:r>
            <a:r>
              <a:rPr sz="2000" spc="60" dirty="0">
                <a:solidFill>
                  <a:srgbClr val="E7E6E6"/>
                </a:solidFill>
                <a:latin typeface="Lucida Sans Unicode"/>
                <a:cs typeface="Lucida Sans Unicode"/>
              </a:rPr>
              <a:t>du</a:t>
            </a:r>
            <a:r>
              <a:rPr sz="2000" spc="-110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E7E6E6"/>
                </a:solidFill>
                <a:latin typeface="Lucida Sans Unicode"/>
                <a:cs typeface="Lucida Sans Unicode"/>
              </a:rPr>
              <a:t>MIT.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ts val="3840"/>
              </a:lnSpc>
              <a:spcBef>
                <a:spcPts val="170"/>
              </a:spcBef>
              <a:tabLst>
                <a:tab pos="1397635" algn="l"/>
                <a:tab pos="2601595" algn="l"/>
                <a:tab pos="3871595" algn="l"/>
                <a:tab pos="4595495" algn="l"/>
                <a:tab pos="5857240" algn="l"/>
              </a:tabLst>
            </a:pPr>
            <a:r>
              <a:rPr sz="2000" spc="-10" dirty="0">
                <a:solidFill>
                  <a:srgbClr val="E7E6E6"/>
                </a:solidFill>
                <a:latin typeface="Arial Black"/>
                <a:cs typeface="Arial Black"/>
              </a:rPr>
              <a:t>Geoffrey</a:t>
            </a:r>
            <a:r>
              <a:rPr sz="2000" dirty="0">
                <a:solidFill>
                  <a:srgbClr val="E7E6E6"/>
                </a:solidFill>
                <a:latin typeface="Arial Black"/>
                <a:cs typeface="Arial Black"/>
              </a:rPr>
              <a:t>	</a:t>
            </a:r>
            <a:r>
              <a:rPr sz="2000" spc="-10" dirty="0">
                <a:solidFill>
                  <a:srgbClr val="E7E6E6"/>
                </a:solidFill>
                <a:latin typeface="Arial Black"/>
                <a:cs typeface="Arial Black"/>
              </a:rPr>
              <a:t>Hinton:</a:t>
            </a:r>
            <a:r>
              <a:rPr sz="2000" dirty="0">
                <a:solidFill>
                  <a:srgbClr val="E7E6E6"/>
                </a:solidFill>
                <a:latin typeface="Arial Black"/>
                <a:cs typeface="Arial Black"/>
              </a:rPr>
              <a:t>	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Pionnier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50" dirty="0">
                <a:solidFill>
                  <a:srgbClr val="E7E6E6"/>
                </a:solidFill>
                <a:latin typeface="Lucida Sans Unicode"/>
                <a:cs typeface="Lucida Sans Unicode"/>
              </a:rPr>
              <a:t>des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réseaux</a:t>
            </a:r>
            <a:r>
              <a:rPr sz="2000" dirty="0">
                <a:solidFill>
                  <a:srgbClr val="E7E6E6"/>
                </a:solidFill>
                <a:latin typeface="Lucida Sans Unicode"/>
                <a:cs typeface="Lucida Sans Unicode"/>
              </a:rPr>
              <a:t>	</a:t>
            </a:r>
            <a:r>
              <a:rPr sz="2000" spc="80" dirty="0">
                <a:solidFill>
                  <a:srgbClr val="E7E6E6"/>
                </a:solidFill>
                <a:latin typeface="Lucida Sans Unicode"/>
                <a:cs typeface="Lucida Sans Unicode"/>
              </a:rPr>
              <a:t>de </a:t>
            </a:r>
            <a:r>
              <a:rPr sz="2000" spc="20" dirty="0">
                <a:solidFill>
                  <a:srgbClr val="E7E6E6"/>
                </a:solidFill>
                <a:latin typeface="Lucida Sans Unicode"/>
                <a:cs typeface="Lucida Sans Unicode"/>
              </a:rPr>
              <a:t>neurones</a:t>
            </a:r>
            <a:r>
              <a:rPr sz="2000" spc="1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20" dirty="0">
                <a:solidFill>
                  <a:srgbClr val="E7E6E6"/>
                </a:solidFill>
                <a:latin typeface="Lucida Sans Unicode"/>
                <a:cs typeface="Lucida Sans Unicode"/>
              </a:rPr>
              <a:t>et</a:t>
            </a:r>
            <a:r>
              <a:rPr sz="2000" spc="4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E7E6E6"/>
                </a:solidFill>
                <a:latin typeface="Lucida Sans Unicode"/>
                <a:cs typeface="Lucida Sans Unicode"/>
              </a:rPr>
              <a:t>de</a:t>
            </a:r>
            <a:r>
              <a:rPr sz="2000" spc="6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20" dirty="0">
                <a:solidFill>
                  <a:srgbClr val="E7E6E6"/>
                </a:solidFill>
                <a:latin typeface="Lucida Sans Unicode"/>
                <a:cs typeface="Lucida Sans Unicode"/>
              </a:rPr>
              <a:t>l'apprentissage</a:t>
            </a:r>
            <a:r>
              <a:rPr sz="2000" spc="15" dirty="0">
                <a:solidFill>
                  <a:srgbClr val="E7E6E6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Lucida Sans Unicode"/>
                <a:cs typeface="Lucida Sans Unicode"/>
              </a:rPr>
              <a:t>profond.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0" y="0"/>
            <a:ext cx="3815969" cy="41338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68681" y="0"/>
            <a:ext cx="3815969" cy="6053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68681" y="6151561"/>
            <a:ext cx="3815969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7190" y="1104645"/>
            <a:ext cx="46456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4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r>
              <a:rPr sz="5400" b="0" spc="-52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e</a:t>
            </a:r>
            <a:r>
              <a:rPr lang="fr-FR"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n</a:t>
            </a:r>
            <a:r>
              <a:rPr sz="5400" b="0" spc="-48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04" dirty="0">
                <a:solidFill>
                  <a:srgbClr val="006066"/>
                </a:solidFill>
                <a:latin typeface="Arial Black"/>
                <a:cs typeface="Arial Black"/>
              </a:rPr>
              <a:t>chiffre</a:t>
            </a:r>
            <a:endParaRPr sz="5400" dirty="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5729" y="2564155"/>
            <a:ext cx="11515217" cy="65135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104233" y="8819169"/>
            <a:ext cx="793750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1030" dirty="0">
                <a:solidFill>
                  <a:srgbClr val="D7D7D7"/>
                </a:solidFill>
                <a:latin typeface="Arial Black"/>
                <a:cs typeface="Arial Black"/>
              </a:rPr>
              <a:t>10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464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0422" rIns="0" bIns="0" rtlCol="0">
            <a:spAutoFit/>
          </a:bodyPr>
          <a:lstStyle/>
          <a:p>
            <a:pPr marL="4021454">
              <a:lnSpc>
                <a:spcPct val="100000"/>
              </a:lnSpc>
              <a:spcBef>
                <a:spcPts val="100"/>
              </a:spcBef>
            </a:pPr>
            <a:r>
              <a:rPr sz="5400" b="0" spc="-54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r>
              <a:rPr sz="5400" b="0" spc="-51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e</a:t>
            </a:r>
            <a:r>
              <a:rPr lang="fr-FR"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n</a:t>
            </a:r>
            <a:r>
              <a:rPr sz="5400" b="0" spc="-4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15" dirty="0">
                <a:solidFill>
                  <a:srgbClr val="006066"/>
                </a:solidFill>
                <a:latin typeface="Arial Black"/>
                <a:cs typeface="Arial Black"/>
              </a:rPr>
              <a:t>chiffre</a:t>
            </a:r>
            <a:endParaRPr sz="5400" dirty="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0526" y="3031083"/>
            <a:ext cx="10793603" cy="68591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320640" y="8819169"/>
            <a:ext cx="577215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1870" dirty="0">
                <a:solidFill>
                  <a:srgbClr val="D7D7D7"/>
                </a:solidFill>
                <a:latin typeface="Arial Black"/>
                <a:cs typeface="Arial Black"/>
              </a:rPr>
              <a:t>11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464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716" y="2199513"/>
            <a:ext cx="714108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4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r>
              <a:rPr sz="5400" spc="-50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220" dirty="0">
                <a:solidFill>
                  <a:srgbClr val="006066"/>
                </a:solidFill>
                <a:latin typeface="Arial Black"/>
                <a:cs typeface="Arial Black"/>
              </a:rPr>
              <a:t>e</a:t>
            </a:r>
            <a:r>
              <a:rPr lang="fr-FR" sz="5400" spc="-220" dirty="0">
                <a:solidFill>
                  <a:srgbClr val="006066"/>
                </a:solidFill>
                <a:latin typeface="Arial Black"/>
                <a:cs typeface="Arial Black"/>
              </a:rPr>
              <a:t>n </a:t>
            </a:r>
            <a:r>
              <a:rPr sz="5400" spc="-215" dirty="0">
                <a:solidFill>
                  <a:srgbClr val="006066"/>
                </a:solidFill>
                <a:latin typeface="Arial Black"/>
                <a:cs typeface="Arial Black"/>
              </a:rPr>
              <a:t>chiffre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100" y="4473955"/>
            <a:ext cx="55638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Que</a:t>
            </a:r>
            <a:r>
              <a:rPr sz="3200" spc="-1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pense</a:t>
            </a:r>
            <a:r>
              <a:rPr sz="3200" spc="-1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3200" spc="-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public</a:t>
            </a:r>
            <a:r>
              <a:rPr sz="3200" spc="-1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16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3200" spc="-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l’IA?</a:t>
            </a:r>
            <a:endParaRPr sz="32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0216" y="5218963"/>
            <a:ext cx="9227692" cy="39366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985" dirty="0"/>
              <a:t>12</a:t>
            </a:fld>
            <a:endParaRPr spc="-98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716" y="521969"/>
            <a:ext cx="464566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4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r>
              <a:rPr sz="5400" spc="-50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220" dirty="0">
                <a:solidFill>
                  <a:srgbClr val="006066"/>
                </a:solidFill>
                <a:latin typeface="Arial Black"/>
                <a:cs typeface="Arial Black"/>
              </a:rPr>
              <a:t>e</a:t>
            </a:r>
            <a:r>
              <a:rPr lang="fr-FR" sz="5400" spc="-220" dirty="0">
                <a:solidFill>
                  <a:srgbClr val="006066"/>
                </a:solidFill>
                <a:latin typeface="Arial Black"/>
                <a:cs typeface="Arial Black"/>
              </a:rPr>
              <a:t>n</a:t>
            </a:r>
            <a:r>
              <a:rPr sz="5400" spc="-4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spc="-215" dirty="0">
                <a:solidFill>
                  <a:srgbClr val="006066"/>
                </a:solidFill>
                <a:latin typeface="Arial Black"/>
                <a:cs typeface="Arial Black"/>
              </a:rPr>
              <a:t>chiffre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8382" y="2118486"/>
            <a:ext cx="59334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70" dirty="0">
                <a:solidFill>
                  <a:srgbClr val="3B3B3B"/>
                </a:solidFill>
                <a:latin typeface="Lucida Sans Unicode"/>
                <a:cs typeface="Lucida Sans Unicode"/>
              </a:rPr>
              <a:t>l’IA</a:t>
            </a:r>
            <a:r>
              <a:rPr sz="3200" spc="-1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3200" spc="-1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3200" spc="-1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milieu</a:t>
            </a:r>
            <a:r>
              <a:rPr sz="3200" spc="-1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32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professionnel</a:t>
            </a:r>
            <a:endParaRPr sz="3200" dirty="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1080" y="2919539"/>
            <a:ext cx="10892536" cy="71414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985" dirty="0"/>
              <a:t>13</a:t>
            </a:fld>
            <a:endParaRPr spc="-98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3585">
              <a:lnSpc>
                <a:spcPct val="100000"/>
              </a:lnSpc>
              <a:spcBef>
                <a:spcPts val="100"/>
              </a:spcBef>
            </a:pPr>
            <a:r>
              <a:rPr sz="5400" b="0" spc="-54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r>
              <a:rPr sz="5400" b="0" spc="-50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e</a:t>
            </a:r>
            <a:r>
              <a:rPr lang="fr-FR" sz="5400" b="0" spc="-220" dirty="0">
                <a:solidFill>
                  <a:srgbClr val="006066"/>
                </a:solidFill>
                <a:latin typeface="Arial Black"/>
                <a:cs typeface="Arial Black"/>
              </a:rPr>
              <a:t>n</a:t>
            </a:r>
            <a:r>
              <a:rPr sz="5400" b="0" spc="-4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15" dirty="0">
                <a:solidFill>
                  <a:srgbClr val="006066"/>
                </a:solidFill>
                <a:latin typeface="Arial Black"/>
                <a:cs typeface="Arial Black"/>
              </a:rPr>
              <a:t>chiffre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0605" y="3172460"/>
            <a:ext cx="17957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ChatGPT</a:t>
            </a:r>
            <a:endParaRPr sz="32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8595" y="3834003"/>
            <a:ext cx="8423275" cy="59218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985" dirty="0"/>
              <a:t>14</a:t>
            </a:fld>
            <a:endParaRPr spc="-98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"/>
            <a:ext cx="18288000" cy="10285730"/>
            <a:chOff x="0" y="62"/>
            <a:chExt cx="18288000" cy="1028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"/>
              <a:ext cx="18288000" cy="10285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14152" y="1216533"/>
              <a:ext cx="7673975" cy="7851140"/>
            </a:xfrm>
            <a:custGeom>
              <a:avLst/>
              <a:gdLst/>
              <a:ahLst/>
              <a:cxnLst/>
              <a:rect l="l" t="t" r="r" b="b"/>
              <a:pathLst>
                <a:path w="7673975" h="7851140">
                  <a:moveTo>
                    <a:pt x="3857498" y="0"/>
                  </a:moveTo>
                  <a:lnTo>
                    <a:pt x="0" y="3857371"/>
                  </a:lnTo>
                  <a:lnTo>
                    <a:pt x="3993388" y="7850759"/>
                  </a:lnTo>
                  <a:lnTo>
                    <a:pt x="7673848" y="4170299"/>
                  </a:lnTo>
                  <a:lnTo>
                    <a:pt x="7673848" y="3816471"/>
                  </a:lnTo>
                  <a:lnTo>
                    <a:pt x="3857498" y="0"/>
                  </a:lnTo>
                  <a:close/>
                </a:path>
              </a:pathLst>
            </a:custGeom>
            <a:solidFill>
              <a:srgbClr val="3B3B3B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78667" y="1781302"/>
              <a:ext cx="6722109" cy="6722109"/>
            </a:xfrm>
            <a:custGeom>
              <a:avLst/>
              <a:gdLst/>
              <a:ahLst/>
              <a:cxnLst/>
              <a:rect l="l" t="t" r="r" b="b"/>
              <a:pathLst>
                <a:path w="6722109" h="6722109">
                  <a:moveTo>
                    <a:pt x="3360546" y="0"/>
                  </a:moveTo>
                  <a:lnTo>
                    <a:pt x="0" y="3360547"/>
                  </a:lnTo>
                  <a:lnTo>
                    <a:pt x="3361309" y="6721983"/>
                  </a:lnTo>
                  <a:lnTo>
                    <a:pt x="6721856" y="3361436"/>
                  </a:lnTo>
                  <a:lnTo>
                    <a:pt x="336054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34164" y="4115180"/>
            <a:ext cx="3825875" cy="193706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-2540" algn="ctr">
              <a:lnSpc>
                <a:spcPts val="4750"/>
              </a:lnSpc>
              <a:spcBef>
                <a:spcPts val="705"/>
              </a:spcBef>
            </a:pPr>
            <a:r>
              <a:rPr lang="fr-FR" sz="4400" b="0" spc="-30" dirty="0">
                <a:solidFill>
                  <a:srgbClr val="FFFFFF"/>
                </a:solidFill>
                <a:latin typeface="Arial Black"/>
                <a:cs typeface="Arial Black"/>
              </a:rPr>
              <a:t>Domaines d’application </a:t>
            </a:r>
            <a:r>
              <a:rPr sz="4400" b="0" spc="-9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4400" b="0" spc="-4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400" b="0" spc="-275" dirty="0">
                <a:solidFill>
                  <a:srgbClr val="FFFFFF"/>
                </a:solidFill>
                <a:latin typeface="Arial Black"/>
                <a:cs typeface="Arial Black"/>
              </a:rPr>
              <a:t>l’IA</a:t>
            </a:r>
            <a:endParaRPr sz="44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108805" y="8819169"/>
            <a:ext cx="789305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1030" dirty="0">
                <a:solidFill>
                  <a:srgbClr val="D7D7D7"/>
                </a:solidFill>
                <a:latin typeface="Arial Black"/>
                <a:cs typeface="Arial Black"/>
              </a:rPr>
              <a:t>16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707" y="378714"/>
            <a:ext cx="12931140" cy="1805621"/>
          </a:xfrm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848736"/>
            <a:ext cx="14206855" cy="550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3B3B3B"/>
                </a:solidFill>
                <a:latin typeface="Lucida Sans Unicode"/>
                <a:cs typeface="Lucida Sans Unicode"/>
              </a:rPr>
              <a:t>L'IA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a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un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large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éventail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domaines</a:t>
            </a:r>
            <a:r>
              <a:rPr sz="2400" spc="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d'application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qui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touchent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presque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tous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aspects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vie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moderne.</a:t>
            </a: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spc="-95" dirty="0">
                <a:solidFill>
                  <a:srgbClr val="3B3B3B"/>
                </a:solidFill>
                <a:latin typeface="Arial Black"/>
                <a:cs typeface="Arial Black"/>
              </a:rPr>
              <a:t>Quels</a:t>
            </a:r>
            <a:r>
              <a:rPr sz="2400" spc="-254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80" dirty="0">
                <a:solidFill>
                  <a:srgbClr val="3B3B3B"/>
                </a:solidFill>
                <a:latin typeface="Arial Black"/>
                <a:cs typeface="Arial Black"/>
              </a:rPr>
              <a:t>sont</a:t>
            </a:r>
            <a:r>
              <a:rPr sz="2400" spc="-25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3B3B3B"/>
                </a:solidFill>
                <a:latin typeface="Arial Black"/>
                <a:cs typeface="Arial Black"/>
              </a:rPr>
              <a:t>Les</a:t>
            </a:r>
            <a:r>
              <a:rPr sz="2400" spc="-24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60" dirty="0">
                <a:solidFill>
                  <a:srgbClr val="3B3B3B"/>
                </a:solidFill>
                <a:latin typeface="Arial Black"/>
                <a:cs typeface="Arial Black"/>
              </a:rPr>
              <a:t>principaux</a:t>
            </a:r>
            <a:r>
              <a:rPr sz="2400" spc="-27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40" dirty="0">
                <a:solidFill>
                  <a:srgbClr val="3B3B3B"/>
                </a:solidFill>
                <a:latin typeface="Arial Black"/>
                <a:cs typeface="Arial Black"/>
              </a:rPr>
              <a:t>domaines</a:t>
            </a:r>
            <a:r>
              <a:rPr sz="2400" spc="-26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60" dirty="0">
                <a:solidFill>
                  <a:srgbClr val="3B3B3B"/>
                </a:solidFill>
                <a:latin typeface="Arial Black"/>
                <a:cs typeface="Arial Black"/>
              </a:rPr>
              <a:t>d'application</a:t>
            </a:r>
            <a:r>
              <a:rPr sz="2400" spc="-27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3B3B3B"/>
                </a:solidFill>
                <a:latin typeface="Arial Black"/>
                <a:cs typeface="Arial Black"/>
              </a:rPr>
              <a:t>de</a:t>
            </a:r>
            <a:r>
              <a:rPr sz="2400" spc="-254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Arial Black"/>
                <a:cs typeface="Arial Black"/>
              </a:rPr>
              <a:t>l’IA?</a:t>
            </a:r>
            <a:endParaRPr sz="2400" dirty="0">
              <a:latin typeface="Arial Black"/>
              <a:cs typeface="Arial Black"/>
            </a:endParaRPr>
          </a:p>
          <a:p>
            <a:pPr marL="1155065" indent="-456565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1155065" algn="l"/>
              </a:tabLst>
            </a:pP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La</a:t>
            </a:r>
            <a:r>
              <a:rPr sz="2400" spc="-7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006066"/>
                </a:solidFill>
                <a:latin typeface="Lucida Sans Unicode"/>
                <a:cs typeface="Lucida Sans Unicode"/>
              </a:rPr>
              <a:t>santé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155065" algn="l"/>
              </a:tabLst>
            </a:pPr>
            <a:r>
              <a:rPr sz="2400" spc="85" dirty="0">
                <a:solidFill>
                  <a:srgbClr val="006066"/>
                </a:solidFill>
                <a:latin typeface="Lucida Sans Unicode"/>
                <a:cs typeface="Lucida Sans Unicode"/>
              </a:rPr>
              <a:t>la</a:t>
            </a:r>
            <a:r>
              <a:rPr sz="2400" spc="-12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006066"/>
                </a:solidFill>
                <a:latin typeface="Lucida Sans Unicode"/>
                <a:cs typeface="Lucida Sans Unicode"/>
              </a:rPr>
              <a:t>finance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1155065" algn="l"/>
              </a:tabLst>
            </a:pP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La</a:t>
            </a:r>
            <a:r>
              <a:rPr sz="2400" spc="-5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logistique</a:t>
            </a:r>
            <a:r>
              <a:rPr sz="2400" spc="-5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006066"/>
                </a:solidFill>
                <a:latin typeface="Lucida Sans Unicode"/>
                <a:cs typeface="Lucida Sans Unicode"/>
              </a:rPr>
              <a:t>et</a:t>
            </a:r>
            <a:r>
              <a:rPr sz="2400" spc="-6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les</a:t>
            </a:r>
            <a:r>
              <a:rPr sz="2400" spc="-7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transports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1155065" algn="l"/>
              </a:tabLst>
            </a:pP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L’éducation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1155065" algn="l"/>
              </a:tabLst>
            </a:pP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L’énergie</a:t>
            </a:r>
            <a:r>
              <a:rPr sz="2400" spc="-114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006066"/>
                </a:solidFill>
                <a:latin typeface="Lucida Sans Unicode"/>
                <a:cs typeface="Lucida Sans Unicode"/>
              </a:rPr>
              <a:t>et</a:t>
            </a:r>
            <a:r>
              <a:rPr sz="2400" spc="-12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l’environnement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1155065" algn="l"/>
              </a:tabLst>
            </a:pPr>
            <a:r>
              <a:rPr sz="2400" spc="-35" dirty="0">
                <a:solidFill>
                  <a:srgbClr val="006066"/>
                </a:solidFill>
                <a:latin typeface="Lucida Sans Unicode"/>
                <a:cs typeface="Lucida Sans Unicode"/>
              </a:rPr>
              <a:t>Le</a:t>
            </a:r>
            <a:r>
              <a:rPr sz="2400" spc="-114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135" dirty="0">
                <a:solidFill>
                  <a:srgbClr val="006066"/>
                </a:solidFill>
                <a:latin typeface="Lucida Sans Unicode"/>
                <a:cs typeface="Lucida Sans Unicode"/>
              </a:rPr>
              <a:t>commerce</a:t>
            </a:r>
            <a:r>
              <a:rPr sz="2400" spc="-10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006066"/>
                </a:solidFill>
                <a:latin typeface="Lucida Sans Unicode"/>
                <a:cs typeface="Lucida Sans Unicode"/>
              </a:rPr>
              <a:t>et</a:t>
            </a:r>
            <a:r>
              <a:rPr sz="2400" spc="-12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le</a:t>
            </a:r>
            <a:r>
              <a:rPr sz="2400" spc="-12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marketing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1155065" algn="l"/>
              </a:tabLst>
            </a:pP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La</a:t>
            </a:r>
            <a:r>
              <a:rPr sz="2400" spc="-7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fabrication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1155065" algn="l"/>
              </a:tabLst>
            </a:pP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La</a:t>
            </a:r>
            <a:r>
              <a:rPr sz="2400" spc="-2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gestion</a:t>
            </a:r>
            <a:r>
              <a:rPr sz="2400" spc="-2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006066"/>
                </a:solidFill>
                <a:latin typeface="Lucida Sans Unicode"/>
                <a:cs typeface="Lucida Sans Unicode"/>
              </a:rPr>
              <a:t>de</a:t>
            </a:r>
            <a:r>
              <a:rPr sz="2400" spc="-3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projet</a:t>
            </a:r>
            <a:endParaRPr sz="2400" dirty="0">
              <a:latin typeface="Lucida Sans Unicode"/>
              <a:cs typeface="Lucida Sans Unicode"/>
            </a:endParaRPr>
          </a:p>
          <a:p>
            <a:pPr marL="1155065" indent="-45656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1155065" algn="l"/>
              </a:tabLst>
            </a:pPr>
            <a:r>
              <a:rPr sz="2400" spc="-35" dirty="0">
                <a:solidFill>
                  <a:srgbClr val="006066"/>
                </a:solidFill>
                <a:latin typeface="Lucida Sans Unicode"/>
                <a:cs typeface="Lucida Sans Unicode"/>
              </a:rPr>
              <a:t>Le</a:t>
            </a:r>
            <a:r>
              <a:rPr sz="2400" spc="-8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006066"/>
                </a:solidFill>
                <a:latin typeface="Lucida Sans Unicode"/>
                <a:cs typeface="Lucida Sans Unicode"/>
              </a:rPr>
              <a:t>recrutement</a:t>
            </a:r>
            <a:r>
              <a:rPr sz="2400" spc="-7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006066"/>
                </a:solidFill>
                <a:latin typeface="Lucida Sans Unicode"/>
                <a:cs typeface="Lucida Sans Unicode"/>
              </a:rPr>
              <a:t>et</a:t>
            </a:r>
            <a:r>
              <a:rPr sz="2400" spc="-9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006066"/>
                </a:solidFill>
                <a:latin typeface="Lucida Sans Unicode"/>
                <a:cs typeface="Lucida Sans Unicode"/>
              </a:rPr>
              <a:t>la</a:t>
            </a:r>
            <a:r>
              <a:rPr sz="2400" spc="-10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gestion</a:t>
            </a:r>
            <a:r>
              <a:rPr sz="2400" spc="-8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006066"/>
                </a:solidFill>
                <a:latin typeface="Lucida Sans Unicode"/>
                <a:cs typeface="Lucida Sans Unicode"/>
              </a:rPr>
              <a:t>des</a:t>
            </a:r>
            <a:r>
              <a:rPr sz="2400" spc="-8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6066"/>
                </a:solidFill>
                <a:latin typeface="Lucida Sans Unicode"/>
                <a:cs typeface="Lucida Sans Unicode"/>
              </a:rPr>
              <a:t>RH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178909" y="8819169"/>
            <a:ext cx="719455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1310" dirty="0">
                <a:solidFill>
                  <a:srgbClr val="D7D7D7"/>
                </a:solidFill>
                <a:latin typeface="Arial Black"/>
                <a:cs typeface="Arial Black"/>
              </a:rPr>
              <a:t>17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1198" y="9240723"/>
            <a:ext cx="8562340" cy="4521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cardiaque,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d'accident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vasculaire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cérébral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35" dirty="0">
                <a:solidFill>
                  <a:srgbClr val="3B3B3B"/>
                </a:solidFill>
                <a:latin typeface="Lucida Sans Unicode"/>
                <a:cs typeface="Lucida Sans Unicode"/>
              </a:rPr>
              <a:t>diabète.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9969" y="388111"/>
            <a:ext cx="119259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35" dirty="0" err="1">
                <a:solidFill>
                  <a:srgbClr val="006066"/>
                </a:solidFill>
                <a:latin typeface="Arial Black"/>
                <a:cs typeface="Arial Black"/>
              </a:rPr>
              <a:t>dom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aines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45" dirty="0">
                <a:solidFill>
                  <a:srgbClr val="006066"/>
                </a:solidFill>
                <a:latin typeface="Arial Black"/>
                <a:cs typeface="Arial Black"/>
              </a:rPr>
              <a:t>d’</a:t>
            </a:r>
            <a:r>
              <a:rPr lang="fr-FR" sz="5400" b="0" spc="-145" dirty="0">
                <a:solidFill>
                  <a:srgbClr val="006066"/>
                </a:solidFill>
                <a:latin typeface="Arial Black"/>
                <a:cs typeface="Arial Black"/>
              </a:rPr>
              <a:t>application</a:t>
            </a:r>
            <a:r>
              <a:rPr sz="5400" b="0" spc="-43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198" y="2081530"/>
            <a:ext cx="14986635" cy="698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61950" algn="just">
              <a:lnSpc>
                <a:spcPct val="100000"/>
              </a:lnSpc>
              <a:spcBef>
                <a:spcPts val="100"/>
              </a:spcBef>
              <a:buSzPct val="85937"/>
              <a:buAutoNum type="arabicPeriod"/>
              <a:tabLst>
                <a:tab pos="363855" algn="l"/>
              </a:tabLst>
            </a:pPr>
            <a:r>
              <a:rPr sz="3200" spc="-305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8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santé</a:t>
            </a:r>
            <a:endParaRPr sz="32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1351915" algn="l"/>
              </a:tabLst>
            </a:pP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L’IA</a:t>
            </a:r>
            <a:r>
              <a:rPr sz="24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est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	utilisée</a:t>
            </a:r>
            <a:r>
              <a:rPr sz="2400" spc="3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dans</a:t>
            </a:r>
            <a:r>
              <a:rPr sz="2400" spc="2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3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</a:t>
            </a:r>
            <a:r>
              <a:rPr sz="2400" spc="3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3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2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santé</a:t>
            </a:r>
            <a:r>
              <a:rPr sz="2400" spc="3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3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3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3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>
                <a:solidFill>
                  <a:srgbClr val="006066"/>
                </a:solidFill>
                <a:latin typeface="Arial Black"/>
                <a:cs typeface="Arial Black"/>
              </a:rPr>
              <a:t>diagnostic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,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3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traitement</a:t>
            </a:r>
            <a:r>
              <a:rPr sz="2400" spc="2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3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2400" spc="-60" dirty="0">
                <a:solidFill>
                  <a:srgbClr val="006066"/>
                </a:solidFill>
                <a:latin typeface="Arial Black"/>
                <a:cs typeface="Arial Black"/>
              </a:rPr>
              <a:t>prévention</a:t>
            </a:r>
            <a:r>
              <a:rPr sz="2400" spc="-2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maladies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5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251460" lvl="1" indent="-243204" algn="just">
              <a:lnSpc>
                <a:spcPct val="100000"/>
              </a:lnSpc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Meilleurs</a:t>
            </a:r>
            <a:r>
              <a:rPr sz="2400" spc="-2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diagnostics</a:t>
            </a:r>
            <a:r>
              <a:rPr sz="2400" spc="-2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analyser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images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médicales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afin</a:t>
            </a:r>
            <a:r>
              <a:rPr sz="24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détecter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anomalies.</a:t>
            </a:r>
            <a:endParaRPr sz="2400" dirty="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 dirty="0">
              <a:latin typeface="Lucida Sans Unicode"/>
              <a:cs typeface="Lucida Sans Unicode"/>
            </a:endParaRPr>
          </a:p>
          <a:p>
            <a:pPr marL="12700" marR="5080" lvl="1" indent="-4445" algn="just">
              <a:lnSpc>
                <a:spcPct val="160000"/>
              </a:lnSpc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	Traitements</a:t>
            </a:r>
            <a:r>
              <a:rPr sz="2400" spc="44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personnalisés</a:t>
            </a:r>
            <a:r>
              <a:rPr sz="2400" spc="44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400" spc="4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4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analyser</a:t>
            </a:r>
            <a:r>
              <a:rPr sz="24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données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médicales</a:t>
            </a:r>
            <a:r>
              <a:rPr sz="24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patients,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y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compris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antécédents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médicaux,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symptômes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résultats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tests.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Cela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 permet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développer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des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traitements</a:t>
            </a:r>
            <a:r>
              <a:rPr sz="2400" spc="-11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personnalisés.</a:t>
            </a:r>
            <a:endParaRPr sz="2400" dirty="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 dirty="0">
              <a:latin typeface="Lucida Sans Unicode"/>
              <a:cs typeface="Lucida Sans Unicode"/>
            </a:endParaRPr>
          </a:p>
          <a:p>
            <a:pPr marL="12700" marR="6350" lvl="1" indent="-4445" algn="just">
              <a:lnSpc>
                <a:spcPct val="160000"/>
              </a:lnSpc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	Prévention</a:t>
            </a:r>
            <a:r>
              <a:rPr sz="2400" spc="4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3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maladies</a:t>
            </a:r>
            <a:r>
              <a:rPr sz="2400" spc="4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400" spc="4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4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analyser</a:t>
            </a:r>
            <a:r>
              <a:rPr sz="2400" spc="4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43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données</a:t>
            </a:r>
            <a:r>
              <a:rPr sz="2400" spc="4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démographiques,</a:t>
            </a:r>
            <a:r>
              <a:rPr sz="2400" spc="43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habitudes</a:t>
            </a:r>
            <a:r>
              <a:rPr sz="2400" spc="4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4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vie</a:t>
            </a:r>
            <a:r>
              <a:rPr sz="2400" spc="4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et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données</a:t>
            </a:r>
            <a:r>
              <a:rPr sz="2400" spc="5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médicales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4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patients.</a:t>
            </a:r>
            <a:r>
              <a:rPr sz="2400" spc="5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Cela</a:t>
            </a:r>
            <a:r>
              <a:rPr sz="2400" spc="4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permet</a:t>
            </a:r>
            <a:r>
              <a:rPr sz="2400" spc="5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d'identifier</a:t>
            </a:r>
            <a:r>
              <a:rPr sz="2400" spc="5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48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personnes</a:t>
            </a:r>
            <a:r>
              <a:rPr sz="2400" spc="5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5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risque</a:t>
            </a:r>
            <a:r>
              <a:rPr sz="2400" spc="50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4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maladie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1025" dirty="0"/>
              <a:t>18</a:t>
            </a:fld>
            <a:endParaRPr spc="-1025" dirty="0"/>
          </a:p>
        </p:txBody>
      </p:sp>
      <p:sp>
        <p:nvSpPr>
          <p:cNvPr id="7" name="object 7"/>
          <p:cNvSpPr txBox="1"/>
          <p:nvPr/>
        </p:nvSpPr>
        <p:spPr>
          <a:xfrm>
            <a:off x="16307815" y="8819169"/>
            <a:ext cx="161480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707" y="378714"/>
            <a:ext cx="129311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2589" y="2355342"/>
            <a:ext cx="11701145" cy="229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2595" indent="-42989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42595" algn="l"/>
              </a:tabLst>
            </a:pPr>
            <a:r>
              <a:rPr sz="3200" spc="-305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finance</a:t>
            </a:r>
            <a:endParaRPr sz="3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L’utilisation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30" dirty="0">
                <a:solidFill>
                  <a:srgbClr val="1D1E1F"/>
                </a:solidFill>
                <a:latin typeface="Lucida Sans Unicode"/>
                <a:cs typeface="Lucida Sans Unicode"/>
              </a:rPr>
              <a:t>l’IA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dans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domaine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finance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s’étend</a:t>
            </a:r>
            <a:r>
              <a:rPr sz="24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notamment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  <a:p>
            <a:pPr marL="355600" marR="5080" lvl="1" indent="-342900">
              <a:lnSpc>
                <a:spcPct val="160000"/>
              </a:lnSpc>
              <a:buFont typeface="Wingdings"/>
              <a:buChar char=""/>
              <a:tabLst>
                <a:tab pos="355600" algn="l"/>
                <a:tab pos="3142615" algn="l"/>
                <a:tab pos="4759960" algn="l"/>
                <a:tab pos="5613400" algn="l"/>
                <a:tab pos="7242809" algn="l"/>
                <a:tab pos="9227185" algn="l"/>
                <a:tab pos="10103485" algn="l"/>
              </a:tabLst>
            </a:pP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Investissement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analyser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financières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afin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d'identifier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d'investissement.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49325" y="3676904"/>
            <a:ext cx="2698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4695" algn="l"/>
              </a:tabLst>
            </a:pP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opportunités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589" y="4847335"/>
            <a:ext cx="14676119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Gestion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risques</a:t>
            </a:r>
            <a:r>
              <a:rPr sz="2400" spc="-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analyser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risque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(crédit,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40" dirty="0">
                <a:solidFill>
                  <a:srgbClr val="1D1E1F"/>
                </a:solidFill>
                <a:latin typeface="Lucida Sans Unicode"/>
                <a:cs typeface="Lucida Sans Unicode"/>
              </a:rPr>
              <a:t>marché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fraude),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afin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d’aider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endParaRPr sz="240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725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entreprises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protéger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leurs actifs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pertes.</a:t>
            </a:r>
            <a:endParaRPr sz="2400">
              <a:latin typeface="Lucida Sans Unicode"/>
              <a:cs typeface="Lucida Sans Unicode"/>
            </a:endParaRPr>
          </a:p>
          <a:p>
            <a:pPr marL="355600" marR="5080" indent="-342900">
              <a:lnSpc>
                <a:spcPct val="16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  <a:tab pos="2501265" algn="l"/>
                <a:tab pos="3964304" algn="l"/>
                <a:tab pos="4533265" algn="l"/>
                <a:tab pos="6008370" algn="l"/>
                <a:tab pos="8543290" algn="l"/>
                <a:tab pos="9265285" algn="l"/>
                <a:tab pos="10473690" algn="l"/>
                <a:tab pos="11043920" algn="l"/>
                <a:tab pos="12891135" algn="l"/>
                <a:tab pos="13243560" algn="l"/>
                <a:tab pos="14241780" algn="l"/>
              </a:tabLst>
            </a:pP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Conformité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analyser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réglementaires,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afin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d’aider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entreprises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24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éviter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sanctions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protéger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leur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réputation.</a:t>
            </a:r>
            <a:endParaRPr sz="2400">
              <a:latin typeface="Lucida Sans Unicode"/>
              <a:cs typeface="Lucida Sans Unicode"/>
            </a:endParaRPr>
          </a:p>
          <a:p>
            <a:pPr marL="355600" marR="7620" indent="-342900">
              <a:lnSpc>
                <a:spcPct val="160000"/>
              </a:lnSpc>
              <a:buFont typeface="Wingdings"/>
              <a:buChar char=""/>
              <a:tabLst>
                <a:tab pos="355600" algn="l"/>
                <a:tab pos="1675130" algn="l"/>
                <a:tab pos="2717800" algn="l"/>
                <a:tab pos="2946400" algn="l"/>
                <a:tab pos="4100195" algn="l"/>
                <a:tab pos="4653280" algn="l"/>
                <a:tab pos="5898515" algn="l"/>
                <a:tab pos="6892290" algn="l"/>
                <a:tab pos="9071610" algn="l"/>
                <a:tab pos="10309225" algn="l"/>
                <a:tab pos="10770870" algn="l"/>
                <a:tab pos="11551285" algn="l"/>
                <a:tab pos="12418695" algn="l"/>
                <a:tab pos="13282930" algn="l"/>
                <a:tab pos="14236700" algn="l"/>
              </a:tabLst>
            </a:pP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Service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client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fournir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un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service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personnalisé,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24h/24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7j/7.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peut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aider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entreprises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satisfaction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clients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coûts.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1025" dirty="0"/>
              <a:t>19</a:t>
            </a:fld>
            <a:endParaRPr spc="-102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480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577" y="556006"/>
            <a:ext cx="119259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1669293"/>
            <a:ext cx="14675485" cy="6584315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2070"/>
              </a:spcBef>
              <a:buAutoNum type="arabicPeriod" startAt="3"/>
              <a:tabLst>
                <a:tab pos="457834" algn="l"/>
              </a:tabLst>
            </a:pPr>
            <a:r>
              <a:rPr sz="3200" spc="-305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90" dirty="0">
                <a:solidFill>
                  <a:srgbClr val="006066"/>
                </a:solidFill>
                <a:latin typeface="Arial Black"/>
                <a:cs typeface="Arial Black"/>
              </a:rPr>
              <a:t>logistique</a:t>
            </a:r>
            <a:r>
              <a:rPr sz="3200" spc="-35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7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3200" spc="-3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6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3200" spc="-3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transports</a:t>
            </a:r>
            <a:endParaRPr sz="3200">
              <a:latin typeface="Arial Black"/>
              <a:cs typeface="Arial Black"/>
            </a:endParaRPr>
          </a:p>
          <a:p>
            <a:pPr marL="9334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principales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innovations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dans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75" dirty="0">
                <a:solidFill>
                  <a:srgbClr val="1D1E1F"/>
                </a:solidFill>
                <a:latin typeface="Lucida Sans Unicode"/>
                <a:cs typeface="Lucida Sans Unicode"/>
              </a:rPr>
              <a:t>ce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domaine: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355600" marR="6985" lvl="1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Gestion</a:t>
            </a:r>
            <a:r>
              <a:rPr sz="2400" spc="-1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1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0" dirty="0">
                <a:solidFill>
                  <a:srgbClr val="006066"/>
                </a:solidFill>
                <a:latin typeface="Arial Black"/>
                <a:cs typeface="Arial Black"/>
              </a:rPr>
              <a:t>stocks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il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est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facile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d’analyser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vente,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stock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prévisions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43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prédire</a:t>
            </a:r>
            <a:r>
              <a:rPr sz="2400" spc="4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43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55" dirty="0">
                <a:solidFill>
                  <a:srgbClr val="1D1E1F"/>
                </a:solidFill>
                <a:latin typeface="Lucida Sans Unicode"/>
                <a:cs typeface="Lucida Sans Unicode"/>
              </a:rPr>
              <a:t>demande</a:t>
            </a:r>
            <a:r>
              <a:rPr sz="2400" spc="43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future.</a:t>
            </a:r>
            <a:r>
              <a:rPr sz="2400" spc="4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spc="4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permet</a:t>
            </a:r>
            <a:r>
              <a:rPr sz="2400" spc="4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43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maintenir</a:t>
            </a:r>
            <a:r>
              <a:rPr sz="2400" spc="4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4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bons</a:t>
            </a:r>
            <a:r>
              <a:rPr sz="2400" spc="4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niveaux</a:t>
            </a:r>
            <a:r>
              <a:rPr sz="2400" spc="4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43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stock,</a:t>
            </a:r>
            <a:r>
              <a:rPr sz="2400" spc="4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d'éviter</a:t>
            </a:r>
            <a:r>
              <a:rPr sz="24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1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ruptures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ou</a:t>
            </a:r>
            <a:r>
              <a:rPr sz="24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surstocks.</a:t>
            </a:r>
            <a:endParaRPr sz="24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>
              <a:latin typeface="Lucida Sans Unicode"/>
              <a:cs typeface="Lucida Sans Unicode"/>
            </a:endParaRPr>
          </a:p>
          <a:p>
            <a:pPr marL="355600" marR="5080" lvl="1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Planification</a:t>
            </a:r>
            <a:r>
              <a:rPr sz="2400" spc="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d'itinéraires</a:t>
            </a:r>
            <a:r>
              <a:rPr sz="2400" spc="-75" dirty="0">
                <a:solidFill>
                  <a:srgbClr val="006066"/>
                </a:solidFill>
                <a:latin typeface="Lucida Sans Unicode"/>
                <a:cs typeface="Lucida Sans Unicode"/>
              </a:rPr>
              <a:t>:</a:t>
            </a:r>
            <a:r>
              <a:rPr sz="2400" spc="8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analyser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 données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trafic,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météorologiques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conditions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route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planifier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itinéraires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efficaces.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effet,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algorithmes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planification</a:t>
            </a:r>
            <a:r>
              <a:rPr sz="2400" spc="4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d’itinéraires</a:t>
            </a:r>
            <a:r>
              <a:rPr sz="2400" spc="4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sont</a:t>
            </a:r>
            <a:r>
              <a:rPr sz="2400" spc="4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efficaces</a:t>
            </a:r>
            <a:r>
              <a:rPr sz="2400" spc="409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4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4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4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coûts</a:t>
            </a:r>
            <a:r>
              <a:rPr sz="2400" spc="4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4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transport</a:t>
            </a:r>
            <a:r>
              <a:rPr sz="2400" spc="4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409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4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la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ponctualité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livraisons.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942688" y="8819169"/>
            <a:ext cx="955675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390" dirty="0">
                <a:solidFill>
                  <a:srgbClr val="D7D7D7"/>
                </a:solidFill>
                <a:latin typeface="Arial Black"/>
                <a:cs typeface="Arial Black"/>
              </a:rPr>
              <a:t>20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577" y="400634"/>
            <a:ext cx="119265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8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4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8213" y="1630969"/>
            <a:ext cx="15466694" cy="7169150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2070"/>
              </a:spcBef>
              <a:buAutoNum type="arabicPeriod" startAt="3"/>
              <a:tabLst>
                <a:tab pos="457834" algn="l"/>
              </a:tabLst>
            </a:pPr>
            <a:r>
              <a:rPr sz="3200" spc="-305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95" dirty="0">
                <a:solidFill>
                  <a:srgbClr val="006066"/>
                </a:solidFill>
                <a:latin typeface="Arial Black"/>
                <a:cs typeface="Arial Black"/>
              </a:rPr>
              <a:t>logistique</a:t>
            </a:r>
            <a:r>
              <a:rPr sz="3200" spc="-3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7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3200" spc="-3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6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3200" spc="-3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90" dirty="0">
                <a:solidFill>
                  <a:srgbClr val="006066"/>
                </a:solidFill>
                <a:latin typeface="Arial Black"/>
                <a:cs typeface="Arial Black"/>
              </a:rPr>
              <a:t>transports</a:t>
            </a:r>
            <a:r>
              <a:rPr sz="3200" spc="-3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(suite)</a:t>
            </a:r>
            <a:endParaRPr sz="3200">
              <a:latin typeface="Arial Black"/>
              <a:cs typeface="Arial Black"/>
            </a:endParaRPr>
          </a:p>
          <a:p>
            <a:pPr marL="9334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principales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innovations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dans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75" dirty="0">
                <a:solidFill>
                  <a:srgbClr val="1D1E1F"/>
                </a:solidFill>
                <a:latin typeface="Lucida Sans Unicode"/>
                <a:cs typeface="Lucida Sans Unicode"/>
              </a:rPr>
              <a:t>ce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domaine: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355600" marR="5080" lvl="1" indent="-342900" algn="just">
              <a:lnSpc>
                <a:spcPct val="1601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Traçabilité</a:t>
            </a:r>
            <a:r>
              <a:rPr sz="2400" spc="-1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0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colis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il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est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aisé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suivre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colis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temps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réel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fournir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informations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459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vos</a:t>
            </a:r>
            <a:r>
              <a:rPr sz="2400" spc="4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clients</a:t>
            </a:r>
            <a:r>
              <a:rPr sz="2400" spc="4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sur</a:t>
            </a:r>
            <a:r>
              <a:rPr sz="2400" spc="4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l'état</a:t>
            </a:r>
            <a:r>
              <a:rPr sz="2400" spc="4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4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leurs</a:t>
            </a:r>
            <a:r>
              <a:rPr sz="2400" spc="4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livraisons.</a:t>
            </a:r>
            <a:r>
              <a:rPr sz="2400" spc="4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spc="4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vous</a:t>
            </a:r>
            <a:r>
              <a:rPr sz="2400" spc="459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permet</a:t>
            </a:r>
            <a:r>
              <a:rPr sz="2400" spc="4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d'améliorer</a:t>
            </a:r>
            <a:r>
              <a:rPr sz="2400" spc="4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459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transparence</a:t>
            </a:r>
            <a:r>
              <a:rPr sz="2400" spc="4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4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satisfaction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1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clients.</a:t>
            </a:r>
            <a:endParaRPr sz="2400">
              <a:latin typeface="Lucida Sans Unicode"/>
              <a:cs typeface="Lucida Sans Unicode"/>
            </a:endParaRPr>
          </a:p>
          <a:p>
            <a:pPr marL="355600" marR="5080" lvl="1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Prédiction</a:t>
            </a:r>
            <a:r>
              <a:rPr sz="2400" spc="55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400" spc="5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délais</a:t>
            </a:r>
            <a:r>
              <a:rPr sz="2400" spc="5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5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livraison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systèmes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gestion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colis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utilisant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l'IA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peuvent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apprendre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partir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historiques</a:t>
            </a:r>
            <a:r>
              <a:rPr sz="24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livraison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prédire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délais</a:t>
            </a:r>
            <a:r>
              <a:rPr sz="24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livraison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90" dirty="0">
                <a:solidFill>
                  <a:srgbClr val="3B3B3B"/>
                </a:solidFill>
                <a:latin typeface="Lucida Sans Unicode"/>
                <a:cs typeface="Lucida Sans Unicode"/>
              </a:rPr>
              <a:t>avec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grande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précision.</a:t>
            </a:r>
            <a:endParaRPr sz="2400">
              <a:latin typeface="Lucida Sans Unicode"/>
              <a:cs typeface="Lucida Sans Unicode"/>
            </a:endParaRPr>
          </a:p>
          <a:p>
            <a:pPr marL="355600" marR="6350" lvl="1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Sécurité</a:t>
            </a:r>
            <a:r>
              <a:rPr sz="2400" spc="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aide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détecter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fraudes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incidents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sécurité,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afin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que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l’entreprise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protège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ses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actifs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ses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données.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l’IA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peut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signaler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zones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partenaires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logistiques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présentant</a:t>
            </a:r>
            <a:r>
              <a:rPr sz="24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des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risques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élevés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suggérer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mesures</a:t>
            </a:r>
            <a:r>
              <a:rPr sz="24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correctives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159096" y="8819169"/>
            <a:ext cx="739140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1230" dirty="0">
                <a:solidFill>
                  <a:srgbClr val="D7D7D7"/>
                </a:solidFill>
                <a:latin typeface="Arial Black"/>
                <a:cs typeface="Arial Black"/>
              </a:rPr>
              <a:t>21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577" y="400634"/>
            <a:ext cx="119265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8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4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8213" y="1630969"/>
            <a:ext cx="14673580" cy="5998845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2070"/>
              </a:spcBef>
              <a:buAutoNum type="arabicPeriod" startAt="3"/>
              <a:tabLst>
                <a:tab pos="457834" algn="l"/>
              </a:tabLst>
            </a:pPr>
            <a:r>
              <a:rPr sz="3200" spc="-305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95" dirty="0">
                <a:solidFill>
                  <a:srgbClr val="006066"/>
                </a:solidFill>
                <a:latin typeface="Arial Black"/>
                <a:cs typeface="Arial Black"/>
              </a:rPr>
              <a:t>logistique</a:t>
            </a:r>
            <a:r>
              <a:rPr sz="3200" spc="-3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7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3200" spc="-3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6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3200" spc="-3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90" dirty="0">
                <a:solidFill>
                  <a:srgbClr val="006066"/>
                </a:solidFill>
                <a:latin typeface="Arial Black"/>
                <a:cs typeface="Arial Black"/>
              </a:rPr>
              <a:t>transports</a:t>
            </a:r>
            <a:r>
              <a:rPr sz="3200" spc="-3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(suite)</a:t>
            </a:r>
            <a:endParaRPr sz="3200">
              <a:latin typeface="Arial Black"/>
              <a:cs typeface="Arial Black"/>
            </a:endParaRPr>
          </a:p>
          <a:p>
            <a:pPr marL="9334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principales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innovations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dans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75" dirty="0">
                <a:solidFill>
                  <a:srgbClr val="1D1E1F"/>
                </a:solidFill>
                <a:latin typeface="Lucida Sans Unicode"/>
                <a:cs typeface="Lucida Sans Unicode"/>
              </a:rPr>
              <a:t>ce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domaine: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355600" marR="5080" lvl="1" indent="-342900" algn="just">
              <a:lnSpc>
                <a:spcPct val="1601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45" dirty="0">
                <a:solidFill>
                  <a:srgbClr val="006066"/>
                </a:solidFill>
                <a:latin typeface="Arial Black"/>
                <a:cs typeface="Arial Black"/>
              </a:rPr>
              <a:t>Systèmes</a:t>
            </a:r>
            <a:r>
              <a:rPr sz="2400" spc="1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1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conduite</a:t>
            </a:r>
            <a:r>
              <a:rPr sz="2400" spc="1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autonome</a:t>
            </a:r>
            <a:r>
              <a:rPr sz="2400" dirty="0">
                <a:solidFill>
                  <a:srgbClr val="1D1E1F"/>
                </a:solidFill>
                <a:latin typeface="Arial Black"/>
                <a:cs typeface="Arial Black"/>
              </a:rPr>
              <a:t>:</a:t>
            </a:r>
            <a:r>
              <a:rPr sz="2400" spc="175" dirty="0">
                <a:solidFill>
                  <a:srgbClr val="1D1E1F"/>
                </a:solidFill>
                <a:latin typeface="Arial Black"/>
                <a:cs typeface="Arial Black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capables</a:t>
            </a:r>
            <a:r>
              <a:rPr sz="2400" spc="1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2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prendre</a:t>
            </a:r>
            <a:r>
              <a:rPr sz="2400" spc="2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2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décisions</a:t>
            </a:r>
            <a:r>
              <a:rPr sz="2400" spc="2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2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temps</a:t>
            </a:r>
            <a:r>
              <a:rPr sz="2400" spc="2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réel</a:t>
            </a:r>
            <a:r>
              <a:rPr sz="2400" spc="2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sans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intervention</a:t>
            </a:r>
            <a:r>
              <a:rPr sz="2400" spc="25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humaine</a:t>
            </a:r>
            <a:r>
              <a:rPr sz="2400" spc="2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2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ils</a:t>
            </a:r>
            <a:r>
              <a:rPr sz="2400" spc="2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ont</a:t>
            </a:r>
            <a:r>
              <a:rPr sz="2400" spc="2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400" spc="2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potentiel</a:t>
            </a:r>
            <a:r>
              <a:rPr sz="2400" spc="2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25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25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2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accidents,</a:t>
            </a:r>
            <a:r>
              <a:rPr sz="2400" spc="2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d'améliorer</a:t>
            </a:r>
            <a:r>
              <a:rPr sz="2400" spc="2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2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fluidité</a:t>
            </a:r>
            <a:r>
              <a:rPr sz="2400" spc="2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du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trafic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faciliter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l’accès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aux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transports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personnes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handicapées.</a:t>
            </a:r>
            <a:endParaRPr sz="24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>
              <a:latin typeface="Lucida Sans Unicode"/>
              <a:cs typeface="Lucida Sans Unicode"/>
            </a:endParaRPr>
          </a:p>
          <a:p>
            <a:pPr marL="355600" marR="5080" lvl="1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Véhicules</a:t>
            </a:r>
            <a:r>
              <a:rPr sz="2400" spc="-40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connectés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:</a:t>
            </a:r>
            <a:r>
              <a:rPr sz="2400" spc="5" dirty="0">
                <a:solidFill>
                  <a:srgbClr val="006066"/>
                </a:solidFill>
                <a:latin typeface="Lucida Sans Unicode"/>
                <a:cs typeface="Lucida Sans Unicode"/>
              </a:rPr>
              <a:t> 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ces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derniers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utilisent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communiquer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entre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eux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175" dirty="0">
                <a:solidFill>
                  <a:srgbClr val="1D1E1F"/>
                </a:solidFill>
                <a:latin typeface="Lucida Sans Unicode"/>
                <a:cs typeface="Lucida Sans Unicode"/>
              </a:rPr>
              <a:t>avec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l'infrastructure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routière.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permet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collisions,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d'améliorer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gestion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du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trafic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et 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d'offrir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services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mobilité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personnalisés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aux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passagers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22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577" y="478663"/>
            <a:ext cx="119259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8213" y="1850903"/>
            <a:ext cx="15791815" cy="6640195"/>
          </a:xfrm>
          <a:prstGeom prst="rect">
            <a:avLst/>
          </a:prstGeom>
        </p:spPr>
        <p:txBody>
          <a:bodyPr vert="horz" wrap="square" lIns="0" tIns="294005" rIns="0" bIns="0" rtlCol="0">
            <a:spAutoFit/>
          </a:bodyPr>
          <a:lstStyle/>
          <a:p>
            <a:pPr marL="485140" indent="-472440">
              <a:lnSpc>
                <a:spcPct val="100000"/>
              </a:lnSpc>
              <a:spcBef>
                <a:spcPts val="2315"/>
              </a:spcBef>
              <a:buAutoNum type="arabicPeriod" startAt="4"/>
              <a:tabLst>
                <a:tab pos="485140" algn="l"/>
              </a:tabLst>
            </a:pPr>
            <a:r>
              <a:rPr sz="3200" spc="-20" dirty="0">
                <a:solidFill>
                  <a:srgbClr val="006066"/>
                </a:solidFill>
                <a:latin typeface="Arial Black"/>
                <a:cs typeface="Arial Black"/>
              </a:rPr>
              <a:t>L’éducation</a:t>
            </a:r>
            <a:endParaRPr sz="3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grandes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50" dirty="0">
                <a:solidFill>
                  <a:srgbClr val="1D1E1F"/>
                </a:solidFill>
                <a:latin typeface="Lucida Sans Unicode"/>
                <a:cs typeface="Lucida Sans Unicode"/>
              </a:rPr>
              <a:t>avancées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dans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l'éducation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  <a:p>
            <a:pPr marL="355600" marR="6350" lvl="1" indent="-342900" algn="just">
              <a:lnSpc>
                <a:spcPct val="16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35" dirty="0">
                <a:solidFill>
                  <a:srgbClr val="006066"/>
                </a:solidFill>
                <a:latin typeface="Arial Black"/>
                <a:cs typeface="Arial Black"/>
              </a:rPr>
              <a:t>Apprentissage</a:t>
            </a:r>
            <a:r>
              <a:rPr sz="2400" spc="24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45" dirty="0">
                <a:solidFill>
                  <a:srgbClr val="006066"/>
                </a:solidFill>
                <a:latin typeface="Arial Black"/>
                <a:cs typeface="Arial Black"/>
              </a:rPr>
              <a:t>personnalisé</a:t>
            </a:r>
            <a:r>
              <a:rPr sz="2400" spc="2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2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il</a:t>
            </a:r>
            <a:r>
              <a:rPr sz="2400" spc="2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est</a:t>
            </a:r>
            <a:r>
              <a:rPr sz="2400" spc="2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possible</a:t>
            </a:r>
            <a:r>
              <a:rPr sz="2400" spc="2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d’adapter</a:t>
            </a:r>
            <a:r>
              <a:rPr sz="2400" spc="2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l'enseignement</a:t>
            </a:r>
            <a:r>
              <a:rPr sz="2400" spc="2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aux</a:t>
            </a:r>
            <a:r>
              <a:rPr sz="2400" spc="2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besoins</a:t>
            </a:r>
            <a:r>
              <a:rPr sz="2400" spc="2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individuels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apprenants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analysant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leurs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d'apprentissage.</a:t>
            </a:r>
            <a:endParaRPr sz="24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2645"/>
              </a:spcBef>
              <a:buClr>
                <a:srgbClr val="006066"/>
              </a:buClr>
              <a:buFont typeface="Wingdings"/>
              <a:buChar char=""/>
            </a:pPr>
            <a:endParaRPr sz="2400">
              <a:latin typeface="Lucida Sans Unicode"/>
              <a:cs typeface="Lucida Sans Unicode"/>
            </a:endParaRPr>
          </a:p>
          <a:p>
            <a:pPr marL="354965" lvl="1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  <a:tab pos="2212975" algn="l"/>
                <a:tab pos="2457450" algn="l"/>
                <a:tab pos="3665854" algn="l"/>
                <a:tab pos="4229735" algn="l"/>
                <a:tab pos="5269230" algn="l"/>
                <a:tab pos="6002020" algn="l"/>
                <a:tab pos="7962265" algn="l"/>
                <a:tab pos="10368915" algn="l"/>
                <a:tab pos="10815320" algn="l"/>
                <a:tab pos="11983085" algn="l"/>
                <a:tab pos="12715875" algn="l"/>
                <a:tab pos="15144115" algn="l"/>
              </a:tabLst>
            </a:pP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Évaluation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mettre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120" dirty="0">
                <a:solidFill>
                  <a:srgbClr val="1D1E1F"/>
                </a:solidFill>
                <a:latin typeface="Lucida Sans Unicode"/>
                <a:cs typeface="Lucida Sans Unicode"/>
              </a:rPr>
              <a:t>place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évaluations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automatiques.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fournir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commentaires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endParaRPr sz="240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735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personnalisés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aux</a:t>
            </a:r>
            <a:r>
              <a:rPr sz="2400" spc="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apprenants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aider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leurs</a:t>
            </a:r>
            <a:r>
              <a:rPr sz="2400" spc="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35" dirty="0">
                <a:solidFill>
                  <a:srgbClr val="1D1E1F"/>
                </a:solidFill>
                <a:latin typeface="Lucida Sans Unicode"/>
                <a:cs typeface="Lucida Sans Unicode"/>
              </a:rPr>
              <a:t>performances.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355600" marR="5715" lvl="1" indent="-342900" algn="just">
              <a:lnSpc>
                <a:spcPct val="16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120" dirty="0">
                <a:solidFill>
                  <a:srgbClr val="006066"/>
                </a:solidFill>
                <a:latin typeface="Arial Black"/>
                <a:cs typeface="Arial Black"/>
              </a:rPr>
              <a:t>Recherche</a:t>
            </a:r>
            <a:r>
              <a:rPr sz="2400" spc="-1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outils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d’IA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peuvent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analyser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Big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Data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afin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d’aider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mieux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comprendre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l'éducation.</a:t>
            </a:r>
            <a:r>
              <a:rPr sz="2400" spc="-2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Vous</a:t>
            </a:r>
            <a:r>
              <a:rPr sz="2400" spc="12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pouvez</a:t>
            </a:r>
            <a:r>
              <a:rPr sz="2400" spc="12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aussi</a:t>
            </a:r>
            <a:r>
              <a:rPr sz="2400" spc="12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12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utiliser</a:t>
            </a:r>
            <a:r>
              <a:rPr sz="2400" spc="12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12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développer</a:t>
            </a:r>
            <a:r>
              <a:rPr sz="2400" spc="12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12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nouvelles</a:t>
            </a:r>
            <a:r>
              <a:rPr sz="2400" spc="12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méthodes</a:t>
            </a:r>
            <a:r>
              <a:rPr sz="2400" spc="12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d'enseignement</a:t>
            </a:r>
            <a:r>
              <a:rPr sz="2400" spc="12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d'apprentissage.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23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856357"/>
            <a:ext cx="14676119" cy="5175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indent="-46164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474345" algn="l"/>
              </a:tabLst>
            </a:pPr>
            <a:r>
              <a:rPr sz="3200" spc="-140" dirty="0">
                <a:solidFill>
                  <a:srgbClr val="006066"/>
                </a:solidFill>
                <a:latin typeface="Arial Black"/>
                <a:cs typeface="Arial Black"/>
              </a:rPr>
              <a:t>L’énergie</a:t>
            </a:r>
            <a:r>
              <a:rPr sz="3200" spc="-3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7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3200" spc="-3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l’environnement</a:t>
            </a:r>
            <a:endParaRPr sz="3200">
              <a:latin typeface="Arial Black"/>
              <a:cs typeface="Arial Black"/>
            </a:endParaRPr>
          </a:p>
          <a:p>
            <a:pPr marL="355600" marR="5080" lvl="1" indent="-342900" algn="just">
              <a:lnSpc>
                <a:spcPct val="160000"/>
              </a:lnSpc>
              <a:spcBef>
                <a:spcPts val="445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Production</a:t>
            </a:r>
            <a:r>
              <a:rPr sz="2400" spc="-15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d'énergie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renouvelable</a:t>
            </a:r>
            <a:r>
              <a:rPr sz="2400" spc="-5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prévision</a:t>
            </a:r>
            <a:r>
              <a:rPr sz="2400" spc="-5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15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changements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climatiques</a:t>
            </a:r>
            <a:r>
              <a:rPr sz="2400" spc="-5" dirty="0">
                <a:solidFill>
                  <a:srgbClr val="006066"/>
                </a:solidFill>
                <a:latin typeface="Arial Black"/>
                <a:cs typeface="Arial Black"/>
              </a:rPr>
              <a:t> 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35" dirty="0">
                <a:solidFill>
                  <a:srgbClr val="1D1E1F"/>
                </a:solidFill>
                <a:latin typeface="Lucida Sans Unicode"/>
                <a:cs typeface="Lucida Sans Unicode"/>
              </a:rPr>
              <a:t>  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professionnels</a:t>
            </a:r>
            <a:r>
              <a:rPr sz="2400" spc="5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5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l'environnement</a:t>
            </a:r>
            <a:r>
              <a:rPr sz="2400" spc="5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peuvent</a:t>
            </a:r>
            <a:r>
              <a:rPr sz="2400" spc="5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prévoir</a:t>
            </a:r>
            <a:r>
              <a:rPr sz="2400" spc="5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5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conditions</a:t>
            </a:r>
            <a:r>
              <a:rPr sz="2400" spc="5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météorologiques</a:t>
            </a:r>
            <a:r>
              <a:rPr sz="2400" spc="5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afin</a:t>
            </a:r>
            <a:r>
              <a:rPr sz="2400" spc="5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de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maximiser</a:t>
            </a:r>
            <a:r>
              <a:rPr sz="2400" spc="1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1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production</a:t>
            </a:r>
            <a:r>
              <a:rPr sz="24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d'énergie</a:t>
            </a:r>
            <a:r>
              <a:rPr sz="2400" spc="1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solaire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11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éolienne.</a:t>
            </a:r>
            <a:r>
              <a:rPr sz="2400" spc="1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1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capteurs</a:t>
            </a:r>
            <a:r>
              <a:rPr sz="24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intelligents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utilisent</a:t>
            </a:r>
            <a:r>
              <a:rPr sz="2400" spc="1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aussi 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surveiller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qualité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l'air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prévoir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niveaux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pollution.</a:t>
            </a:r>
            <a:endParaRPr sz="24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>
              <a:latin typeface="Lucida Sans Unicode"/>
              <a:cs typeface="Lucida Sans Unicode"/>
            </a:endParaRPr>
          </a:p>
          <a:p>
            <a:pPr marL="355600" marR="7620" lvl="1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Gestion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10" dirty="0">
                <a:solidFill>
                  <a:srgbClr val="006066"/>
                </a:solidFill>
                <a:latin typeface="Arial Black"/>
                <a:cs typeface="Arial Black"/>
              </a:rPr>
              <a:t>du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réseau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électrique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3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passe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par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l’optimisation</a:t>
            </a:r>
            <a:r>
              <a:rPr sz="2400" spc="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distribution</a:t>
            </a:r>
            <a:r>
              <a:rPr sz="2400" spc="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l'énergie</a:t>
            </a:r>
            <a:r>
              <a:rPr sz="2400" spc="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1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réponse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aux</a:t>
            </a:r>
            <a:r>
              <a:rPr sz="24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pannes.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24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593619"/>
            <a:ext cx="14436090" cy="6149975"/>
          </a:xfrm>
          <a:prstGeom prst="rect">
            <a:avLst/>
          </a:prstGeom>
        </p:spPr>
        <p:txBody>
          <a:bodyPr vert="horz" wrap="square" lIns="0" tIns="257810" rIns="0" bIns="0" rtlCol="0">
            <a:spAutoFit/>
          </a:bodyPr>
          <a:lstStyle/>
          <a:p>
            <a:pPr marL="414020" indent="-401320">
              <a:lnSpc>
                <a:spcPct val="100000"/>
              </a:lnSpc>
              <a:spcBef>
                <a:spcPts val="2030"/>
              </a:spcBef>
              <a:buAutoNum type="arabicPeriod" startAt="6"/>
              <a:tabLst>
                <a:tab pos="414020" algn="l"/>
              </a:tabLst>
            </a:pPr>
            <a:r>
              <a:rPr sz="2800" spc="-340" dirty="0">
                <a:solidFill>
                  <a:srgbClr val="006066"/>
                </a:solidFill>
                <a:latin typeface="Arial Black"/>
                <a:cs typeface="Arial Black"/>
              </a:rPr>
              <a:t>Le</a:t>
            </a:r>
            <a:r>
              <a:rPr sz="2800" spc="-3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commerce</a:t>
            </a:r>
            <a:r>
              <a:rPr sz="2800" spc="-3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800" spc="-32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40" dirty="0">
                <a:solidFill>
                  <a:srgbClr val="006066"/>
                </a:solidFill>
                <a:latin typeface="Arial Black"/>
                <a:cs typeface="Arial Black"/>
              </a:rPr>
              <a:t>le</a:t>
            </a:r>
            <a:r>
              <a:rPr sz="2800" spc="-3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006066"/>
                </a:solidFill>
                <a:latin typeface="Arial Black"/>
                <a:cs typeface="Arial Black"/>
              </a:rPr>
              <a:t>marketing</a:t>
            </a:r>
            <a:endParaRPr sz="2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28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meilleures</a:t>
            </a:r>
            <a:r>
              <a:rPr sz="28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75" dirty="0">
                <a:solidFill>
                  <a:srgbClr val="1D1E1F"/>
                </a:solidFill>
                <a:latin typeface="Lucida Sans Unicode"/>
                <a:cs typeface="Lucida Sans Unicode"/>
              </a:rPr>
              <a:t>avancées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135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dans</a:t>
            </a:r>
            <a:r>
              <a:rPr sz="28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8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55" dirty="0">
                <a:solidFill>
                  <a:srgbClr val="1D1E1F"/>
                </a:solidFill>
                <a:latin typeface="Lucida Sans Unicode"/>
                <a:cs typeface="Lucida Sans Unicode"/>
              </a:rPr>
              <a:t>commerce</a:t>
            </a:r>
            <a:r>
              <a:rPr sz="28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marketing</a:t>
            </a:r>
            <a:r>
              <a:rPr sz="28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34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800">
              <a:latin typeface="Lucida Sans Unicode"/>
              <a:cs typeface="Lucida Sans Unicode"/>
            </a:endParaRPr>
          </a:p>
          <a:p>
            <a:pPr marL="469900" marR="5080" lvl="1" indent="-457200">
              <a:lnSpc>
                <a:spcPct val="160000"/>
              </a:lnSpc>
              <a:buFont typeface="Wingdings"/>
              <a:buChar char=""/>
              <a:tabLst>
                <a:tab pos="469900" algn="l"/>
              </a:tabLst>
            </a:pPr>
            <a:r>
              <a:rPr sz="2800" spc="-90" dirty="0">
                <a:solidFill>
                  <a:srgbClr val="006066"/>
                </a:solidFill>
                <a:latin typeface="Arial Black"/>
                <a:cs typeface="Arial Black"/>
              </a:rPr>
              <a:t>Personnalisation</a:t>
            </a:r>
            <a:r>
              <a:rPr sz="2800" spc="-2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800" spc="-2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25" dirty="0">
                <a:solidFill>
                  <a:srgbClr val="006066"/>
                </a:solidFill>
                <a:latin typeface="Arial Black"/>
                <a:cs typeface="Arial Black"/>
              </a:rPr>
              <a:t>l'expérience</a:t>
            </a:r>
            <a:r>
              <a:rPr sz="2800" spc="-2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d'achat</a:t>
            </a:r>
            <a:r>
              <a:rPr sz="28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0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800" spc="-2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20" dirty="0">
                <a:solidFill>
                  <a:srgbClr val="006066"/>
                </a:solidFill>
                <a:latin typeface="Arial Black"/>
                <a:cs typeface="Arial Black"/>
              </a:rPr>
              <a:t>clients</a:t>
            </a:r>
            <a:r>
              <a:rPr sz="2800" spc="-2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5" dirty="0">
                <a:solidFill>
                  <a:srgbClr val="006066"/>
                </a:solidFill>
                <a:latin typeface="Arial Black"/>
                <a:cs typeface="Arial Black"/>
              </a:rPr>
              <a:t>selon</a:t>
            </a:r>
            <a:r>
              <a:rPr sz="2800" spc="-2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0" dirty="0">
                <a:solidFill>
                  <a:srgbClr val="006066"/>
                </a:solidFill>
                <a:latin typeface="Arial Black"/>
                <a:cs typeface="Arial Black"/>
              </a:rPr>
              <a:t>leurs</a:t>
            </a:r>
            <a:r>
              <a:rPr sz="2800" spc="-2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5" dirty="0">
                <a:solidFill>
                  <a:srgbClr val="006066"/>
                </a:solidFill>
                <a:latin typeface="Arial Black"/>
                <a:cs typeface="Arial Black"/>
              </a:rPr>
              <a:t>intérêts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25" dirty="0">
                <a:solidFill>
                  <a:srgbClr val="006066"/>
                </a:solidFill>
                <a:latin typeface="Arial Black"/>
                <a:cs typeface="Arial Black"/>
              </a:rPr>
              <a:t>et </a:t>
            </a:r>
            <a:r>
              <a:rPr sz="2800" spc="-114" dirty="0">
                <a:solidFill>
                  <a:srgbClr val="006066"/>
                </a:solidFill>
                <a:latin typeface="Arial Black"/>
                <a:cs typeface="Arial Black"/>
              </a:rPr>
              <a:t>préférences</a:t>
            </a:r>
            <a:r>
              <a:rPr sz="28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8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4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est</a:t>
            </a:r>
            <a:r>
              <a:rPr sz="28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possible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analysant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8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8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d'achat,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telles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que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historiques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d'achat,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clics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8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recherches.</a:t>
            </a:r>
            <a:endParaRPr sz="28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1075"/>
              </a:spcBef>
              <a:buClr>
                <a:srgbClr val="006066"/>
              </a:buClr>
              <a:buFont typeface="Wingdings"/>
              <a:buChar char=""/>
            </a:pPr>
            <a:endParaRPr sz="2800">
              <a:latin typeface="Lucida Sans Unicode"/>
              <a:cs typeface="Lucida Sans Unicode"/>
            </a:endParaRPr>
          </a:p>
          <a:p>
            <a:pPr marL="469900" marR="110489" lvl="1" indent="-457200">
              <a:lnSpc>
                <a:spcPct val="160000"/>
              </a:lnSpc>
              <a:buFont typeface="Wingdings"/>
              <a:buChar char=""/>
              <a:tabLst>
                <a:tab pos="469900" algn="l"/>
              </a:tabLst>
            </a:pP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Recommandation</a:t>
            </a:r>
            <a:r>
              <a:rPr sz="2800" spc="-2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70" dirty="0">
                <a:solidFill>
                  <a:srgbClr val="006066"/>
                </a:solidFill>
                <a:latin typeface="Arial Black"/>
                <a:cs typeface="Arial Black"/>
              </a:rPr>
              <a:t>produits</a:t>
            </a:r>
            <a:r>
              <a:rPr sz="2800" spc="-2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25" dirty="0">
                <a:solidFill>
                  <a:srgbClr val="006066"/>
                </a:solidFill>
                <a:latin typeface="Arial Black"/>
                <a:cs typeface="Arial Black"/>
              </a:rPr>
              <a:t>services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aux</a:t>
            </a:r>
            <a:r>
              <a:rPr sz="2800" spc="-2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20" dirty="0">
                <a:solidFill>
                  <a:srgbClr val="006066"/>
                </a:solidFill>
                <a:latin typeface="Arial Black"/>
                <a:cs typeface="Arial Black"/>
              </a:rPr>
              <a:t>clients</a:t>
            </a:r>
            <a:r>
              <a:rPr sz="2800" spc="-3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80" dirty="0">
                <a:solidFill>
                  <a:srgbClr val="006066"/>
                </a:solidFill>
                <a:latin typeface="Arial Black"/>
                <a:cs typeface="Arial Black"/>
              </a:rPr>
              <a:t>en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85" dirty="0">
                <a:solidFill>
                  <a:srgbClr val="006066"/>
                </a:solidFill>
                <a:latin typeface="Arial Black"/>
                <a:cs typeface="Arial Black"/>
              </a:rPr>
              <a:t>fonction</a:t>
            </a:r>
            <a:r>
              <a:rPr sz="2800" spc="-2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006066"/>
                </a:solidFill>
                <a:latin typeface="Arial Black"/>
                <a:cs typeface="Arial Black"/>
              </a:rPr>
              <a:t>leurs </a:t>
            </a:r>
            <a:r>
              <a:rPr sz="2800" spc="-105" dirty="0">
                <a:solidFill>
                  <a:srgbClr val="006066"/>
                </a:solidFill>
                <a:latin typeface="Arial Black"/>
                <a:cs typeface="Arial Black"/>
              </a:rPr>
              <a:t>intérêts</a:t>
            </a:r>
            <a:r>
              <a:rPr sz="2800" spc="-3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800" spc="-3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14" dirty="0">
                <a:solidFill>
                  <a:srgbClr val="006066"/>
                </a:solidFill>
                <a:latin typeface="Arial Black"/>
                <a:cs typeface="Arial Black"/>
              </a:rPr>
              <a:t>préférences</a:t>
            </a:r>
            <a:r>
              <a:rPr sz="2800" spc="-11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8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4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aide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8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clients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325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8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trouver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8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produits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services </a:t>
            </a:r>
            <a:r>
              <a:rPr sz="28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qu'ils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apprécient,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qu'ils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n'auraient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peut-être</a:t>
            </a:r>
            <a:r>
              <a:rPr sz="28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65" dirty="0">
                <a:solidFill>
                  <a:srgbClr val="1D1E1F"/>
                </a:solidFill>
                <a:latin typeface="Lucida Sans Unicode"/>
                <a:cs typeface="Lucida Sans Unicode"/>
              </a:rPr>
              <a:t>pas</a:t>
            </a:r>
            <a:r>
              <a:rPr sz="28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trouvés</a:t>
            </a:r>
            <a:r>
              <a:rPr sz="28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14" dirty="0">
                <a:solidFill>
                  <a:srgbClr val="1D1E1F"/>
                </a:solidFill>
                <a:latin typeface="Lucida Sans Unicode"/>
                <a:cs typeface="Lucida Sans Unicode"/>
              </a:rPr>
              <a:t>par</a:t>
            </a:r>
            <a:r>
              <a:rPr sz="28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eux-</a:t>
            </a:r>
            <a:r>
              <a:rPr sz="28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mêmes.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25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839592"/>
            <a:ext cx="14301469" cy="449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4020" indent="-401320">
              <a:lnSpc>
                <a:spcPct val="100000"/>
              </a:lnSpc>
              <a:spcBef>
                <a:spcPts val="95"/>
              </a:spcBef>
              <a:buAutoNum type="arabicPeriod" startAt="6"/>
              <a:tabLst>
                <a:tab pos="414020" algn="l"/>
              </a:tabLst>
            </a:pPr>
            <a:r>
              <a:rPr sz="2800" spc="-340" dirty="0">
                <a:solidFill>
                  <a:srgbClr val="006066"/>
                </a:solidFill>
                <a:latin typeface="Arial Black"/>
                <a:cs typeface="Arial Black"/>
              </a:rPr>
              <a:t>Le</a:t>
            </a:r>
            <a:r>
              <a:rPr sz="2800" spc="-31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commerce</a:t>
            </a:r>
            <a:r>
              <a:rPr sz="2800" spc="-2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800" spc="-3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40" dirty="0">
                <a:solidFill>
                  <a:srgbClr val="006066"/>
                </a:solidFill>
                <a:latin typeface="Arial Black"/>
                <a:cs typeface="Arial Black"/>
              </a:rPr>
              <a:t>le</a:t>
            </a:r>
            <a:r>
              <a:rPr sz="2800" spc="-32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50" dirty="0">
                <a:solidFill>
                  <a:srgbClr val="006066"/>
                </a:solidFill>
                <a:latin typeface="Arial Black"/>
                <a:cs typeface="Arial Black"/>
              </a:rPr>
              <a:t>marketing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006066"/>
                </a:solidFill>
                <a:latin typeface="Arial Black"/>
                <a:cs typeface="Arial Black"/>
              </a:rPr>
              <a:t>(suite)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010"/>
              </a:spcBef>
              <a:buClr>
                <a:srgbClr val="006066"/>
              </a:buClr>
              <a:buFont typeface="Arial Black"/>
              <a:buAutoNum type="arabicPeriod" startAt="6"/>
            </a:pPr>
            <a:endParaRPr sz="2800">
              <a:latin typeface="Arial Black"/>
              <a:cs typeface="Arial Black"/>
            </a:endParaRPr>
          </a:p>
          <a:p>
            <a:pPr marL="469900" marR="5080" lvl="1" indent="-457200">
              <a:lnSpc>
                <a:spcPct val="160000"/>
              </a:lnSpc>
              <a:buFont typeface="Wingdings"/>
              <a:buChar char=""/>
              <a:tabLst>
                <a:tab pos="469900" algn="l"/>
              </a:tabLst>
            </a:pPr>
            <a:r>
              <a:rPr sz="2800" spc="-70" dirty="0">
                <a:solidFill>
                  <a:srgbClr val="006066"/>
                </a:solidFill>
                <a:latin typeface="Arial Black"/>
                <a:cs typeface="Arial Black"/>
              </a:rPr>
              <a:t>Automatisation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800" spc="-3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95" dirty="0">
                <a:solidFill>
                  <a:srgbClr val="006066"/>
                </a:solidFill>
                <a:latin typeface="Arial Black"/>
                <a:cs typeface="Arial Black"/>
              </a:rPr>
              <a:t>tâches</a:t>
            </a:r>
            <a:r>
              <a:rPr sz="2800" spc="-3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85" dirty="0">
                <a:solidFill>
                  <a:srgbClr val="006066"/>
                </a:solidFill>
                <a:latin typeface="Arial Black"/>
                <a:cs typeface="Arial Black"/>
              </a:rPr>
              <a:t>commerciales</a:t>
            </a:r>
            <a:r>
              <a:rPr sz="28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,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95" dirty="0">
                <a:solidFill>
                  <a:srgbClr val="1D1E1F"/>
                </a:solidFill>
                <a:latin typeface="Lucida Sans Unicode"/>
                <a:cs typeface="Lucida Sans Unicode"/>
              </a:rPr>
              <a:t>comme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8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prise</a:t>
            </a:r>
            <a:r>
              <a:rPr sz="28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8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rendez-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vous,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la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gestion</a:t>
            </a:r>
            <a:r>
              <a:rPr sz="28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8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60" dirty="0">
                <a:solidFill>
                  <a:srgbClr val="1D1E1F"/>
                </a:solidFill>
                <a:latin typeface="Lucida Sans Unicode"/>
                <a:cs typeface="Lucida Sans Unicode"/>
              </a:rPr>
              <a:t>commandes</a:t>
            </a:r>
            <a:r>
              <a:rPr sz="28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service</a:t>
            </a:r>
            <a:r>
              <a:rPr sz="28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client.</a:t>
            </a:r>
            <a:endParaRPr sz="28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1070"/>
              </a:spcBef>
              <a:buClr>
                <a:srgbClr val="006066"/>
              </a:buClr>
              <a:buFont typeface="Wingdings"/>
              <a:buChar char=""/>
            </a:pPr>
            <a:endParaRPr sz="2800">
              <a:latin typeface="Lucida Sans Unicode"/>
              <a:cs typeface="Lucida Sans Unicode"/>
            </a:endParaRPr>
          </a:p>
          <a:p>
            <a:pPr marL="469900" marR="264795" lvl="1" indent="-457200">
              <a:lnSpc>
                <a:spcPct val="160100"/>
              </a:lnSpc>
              <a:buFont typeface="Wingdings"/>
              <a:buChar char=""/>
              <a:tabLst>
                <a:tab pos="469900" algn="l"/>
              </a:tabLst>
            </a:pPr>
            <a:r>
              <a:rPr sz="2800" spc="-75" dirty="0">
                <a:solidFill>
                  <a:srgbClr val="006066"/>
                </a:solidFill>
                <a:latin typeface="Arial Black"/>
                <a:cs typeface="Arial Black"/>
              </a:rPr>
              <a:t>Analyse</a:t>
            </a:r>
            <a:r>
              <a:rPr sz="2800" spc="-3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6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800" spc="-3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85" dirty="0">
                <a:solidFill>
                  <a:srgbClr val="006066"/>
                </a:solidFill>
                <a:latin typeface="Arial Black"/>
                <a:cs typeface="Arial Black"/>
              </a:rPr>
              <a:t>données</a:t>
            </a:r>
            <a:r>
              <a:rPr sz="2800" spc="-2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80" dirty="0">
                <a:solidFill>
                  <a:srgbClr val="006066"/>
                </a:solidFill>
                <a:latin typeface="Arial Black"/>
                <a:cs typeface="Arial Black"/>
              </a:rPr>
              <a:t>commerciales</a:t>
            </a:r>
            <a:r>
              <a:rPr sz="2800" spc="-28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40" dirty="0">
                <a:solidFill>
                  <a:srgbClr val="006066"/>
                </a:solidFill>
                <a:latin typeface="Arial Black"/>
                <a:cs typeface="Arial Black"/>
              </a:rPr>
              <a:t>(vente,</a:t>
            </a:r>
            <a:r>
              <a:rPr sz="2800" spc="-3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40" dirty="0">
                <a:solidFill>
                  <a:srgbClr val="006066"/>
                </a:solidFill>
                <a:latin typeface="Arial Black"/>
                <a:cs typeface="Arial Black"/>
              </a:rPr>
              <a:t>marketing</a:t>
            </a:r>
            <a:r>
              <a:rPr sz="2800" spc="-3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30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800" spc="-3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105" dirty="0">
                <a:solidFill>
                  <a:srgbClr val="006066"/>
                </a:solidFill>
                <a:latin typeface="Arial Black"/>
                <a:cs typeface="Arial Black"/>
              </a:rPr>
              <a:t>réseaux</a:t>
            </a:r>
            <a:r>
              <a:rPr sz="2800" spc="-3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800" spc="-40" dirty="0">
                <a:solidFill>
                  <a:srgbClr val="006066"/>
                </a:solidFill>
                <a:latin typeface="Arial Black"/>
                <a:cs typeface="Arial Black"/>
              </a:rPr>
              <a:t>sociaux)</a:t>
            </a:r>
            <a:r>
              <a:rPr sz="2800" spc="-40" dirty="0">
                <a:solidFill>
                  <a:srgbClr val="006066"/>
                </a:solidFill>
                <a:latin typeface="Lucida Sans Unicode"/>
                <a:cs typeface="Lucida Sans Unicode"/>
              </a:rPr>
              <a:t>.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mieux</a:t>
            </a:r>
            <a:r>
              <a:rPr sz="28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comprendre</a:t>
            </a:r>
            <a:r>
              <a:rPr sz="28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8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clients</a:t>
            </a:r>
            <a:r>
              <a:rPr sz="28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marché.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26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892933"/>
            <a:ext cx="14312265" cy="532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530" indent="-419100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430530" algn="l"/>
              </a:tabLst>
            </a:pPr>
            <a:r>
              <a:rPr sz="3200" spc="-310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8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production</a:t>
            </a:r>
            <a:endParaRPr sz="3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sz="2800" spc="-140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sert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34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8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34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800">
              <a:latin typeface="Lucida Sans Unicode"/>
              <a:cs typeface="Lucida Sans Unicode"/>
            </a:endParaRPr>
          </a:p>
          <a:p>
            <a:pPr marL="355600" marR="5080" lvl="1" indent="-342900">
              <a:lnSpc>
                <a:spcPct val="160000"/>
              </a:lnSpc>
              <a:spcBef>
                <a:spcPts val="114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60" dirty="0">
                <a:solidFill>
                  <a:srgbClr val="006066"/>
                </a:solidFill>
                <a:latin typeface="Arial Black"/>
                <a:cs typeface="Arial Black"/>
              </a:rPr>
              <a:t>Automatiser</a:t>
            </a:r>
            <a:r>
              <a:rPr sz="2400" spc="-2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400" spc="-2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0" dirty="0">
                <a:solidFill>
                  <a:srgbClr val="006066"/>
                </a:solidFill>
                <a:latin typeface="Arial Black"/>
                <a:cs typeface="Arial Black"/>
              </a:rPr>
              <a:t>tâches</a:t>
            </a:r>
            <a:r>
              <a:rPr sz="2400" spc="-2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0" dirty="0">
                <a:solidFill>
                  <a:srgbClr val="006066"/>
                </a:solidFill>
                <a:latin typeface="Arial Black"/>
                <a:cs typeface="Arial Black"/>
              </a:rPr>
              <a:t>production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,</a:t>
            </a:r>
            <a:r>
              <a:rPr sz="24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70" dirty="0">
                <a:solidFill>
                  <a:srgbClr val="1D1E1F"/>
                </a:solidFill>
                <a:latin typeface="Lucida Sans Unicode"/>
                <a:cs typeface="Lucida Sans Unicode"/>
              </a:rPr>
              <a:t>comme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l'assemblage,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peinture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soudure.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robots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industriels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90" dirty="0">
                <a:solidFill>
                  <a:srgbClr val="1D1E1F"/>
                </a:solidFill>
                <a:latin typeface="Lucida Sans Unicode"/>
                <a:cs typeface="Lucida Sans Unicode"/>
              </a:rPr>
              <a:t>avec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IA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peuvent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aussi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être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utilisés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 l'efficacité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la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production,</a:t>
            </a:r>
            <a:r>
              <a:rPr sz="2400" spc="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optimisant les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35" dirty="0">
                <a:solidFill>
                  <a:srgbClr val="1D1E1F"/>
                </a:solidFill>
                <a:latin typeface="Lucida Sans Unicode"/>
                <a:cs typeface="Lucida Sans Unicode"/>
              </a:rPr>
              <a:t>flux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travail.</a:t>
            </a:r>
            <a:endParaRPr sz="24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>
              <a:latin typeface="Lucida Sans Unicode"/>
              <a:cs typeface="Lucida Sans Unicode"/>
            </a:endParaRPr>
          </a:p>
          <a:p>
            <a:pPr marL="355600" marR="293370" lvl="1" indent="-342900" algn="just">
              <a:lnSpc>
                <a:spcPct val="16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Identifier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29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défauts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9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0" dirty="0">
                <a:solidFill>
                  <a:srgbClr val="006066"/>
                </a:solidFill>
                <a:latin typeface="Arial Black"/>
                <a:cs typeface="Arial Black"/>
              </a:rPr>
              <a:t>fabrication</a:t>
            </a:r>
            <a:r>
              <a:rPr sz="2400" spc="-1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avant</a:t>
            </a:r>
            <a:r>
              <a:rPr sz="2400" spc="-1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qu'ils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25" dirty="0">
                <a:solidFill>
                  <a:srgbClr val="006066"/>
                </a:solidFill>
                <a:latin typeface="Arial Black"/>
                <a:cs typeface="Arial Black"/>
              </a:rPr>
              <a:t>ne</a:t>
            </a:r>
            <a:r>
              <a:rPr sz="2400" spc="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30" dirty="0">
                <a:solidFill>
                  <a:srgbClr val="006066"/>
                </a:solidFill>
                <a:latin typeface="Arial Black"/>
                <a:cs typeface="Arial Black"/>
              </a:rPr>
              <a:t>soient</a:t>
            </a:r>
            <a:r>
              <a:rPr sz="2400" spc="-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envoyés</a:t>
            </a: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aux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35" dirty="0">
                <a:solidFill>
                  <a:srgbClr val="006066"/>
                </a:solidFill>
                <a:latin typeface="Arial Black"/>
                <a:cs typeface="Arial Black"/>
              </a:rPr>
              <a:t>clients</a:t>
            </a:r>
            <a:r>
              <a:rPr sz="2400" spc="-13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spc="1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D1E1F"/>
                </a:solidFill>
                <a:latin typeface="Lucida Sans Unicode"/>
                <a:cs typeface="Lucida Sans Unicode"/>
              </a:rPr>
              <a:t>peut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qualité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produits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coûts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retour.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65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peut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aussi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vous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aider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40" dirty="0">
                <a:solidFill>
                  <a:srgbClr val="1D1E1F"/>
                </a:solidFill>
                <a:latin typeface="Lucida Sans Unicode"/>
                <a:cs typeface="Lucida Sans Unicode"/>
              </a:rPr>
              <a:t>à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développer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produits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durables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4" dirty="0">
                <a:solidFill>
                  <a:srgbClr val="1D1E1F"/>
                </a:solidFill>
                <a:latin typeface="Lucida Sans Unicode"/>
                <a:cs typeface="Lucida Sans Unicode"/>
              </a:rPr>
              <a:t>économes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énergie.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27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892933"/>
            <a:ext cx="14600555" cy="532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530" indent="-419100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430530" algn="l"/>
              </a:tabLst>
            </a:pPr>
            <a:r>
              <a:rPr sz="3200" spc="-310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70" dirty="0">
                <a:solidFill>
                  <a:srgbClr val="006066"/>
                </a:solidFill>
                <a:latin typeface="Arial Black"/>
                <a:cs typeface="Arial Black"/>
              </a:rPr>
              <a:t>production</a:t>
            </a:r>
            <a:r>
              <a:rPr sz="3200" spc="-35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(suite)</a:t>
            </a:r>
            <a:endParaRPr sz="3200">
              <a:latin typeface="Arial Black"/>
              <a:cs typeface="Arial Black"/>
            </a:endParaRPr>
          </a:p>
          <a:p>
            <a:pPr marL="12700" algn="just">
              <a:lnSpc>
                <a:spcPct val="100000"/>
              </a:lnSpc>
              <a:spcBef>
                <a:spcPts val="2130"/>
              </a:spcBef>
            </a:pPr>
            <a:r>
              <a:rPr sz="2800" spc="-140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sert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34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8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34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800">
              <a:latin typeface="Lucida Sans Unicode"/>
              <a:cs typeface="Lucida Sans Unicode"/>
            </a:endParaRPr>
          </a:p>
          <a:p>
            <a:pPr marL="355600" marR="1456690" lvl="1" indent="-342900" algn="just">
              <a:lnSpc>
                <a:spcPct val="160000"/>
              </a:lnSpc>
              <a:spcBef>
                <a:spcPts val="114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Surveiller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29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machines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31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400" spc="11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2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60" dirty="0">
                <a:solidFill>
                  <a:srgbClr val="006066"/>
                </a:solidFill>
                <a:latin typeface="Arial Black"/>
                <a:cs typeface="Arial Black"/>
              </a:rPr>
              <a:t>environnements</a:t>
            </a:r>
            <a:r>
              <a:rPr sz="2400" spc="-1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9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0" dirty="0">
                <a:solidFill>
                  <a:srgbClr val="006066"/>
                </a:solidFill>
                <a:latin typeface="Arial Black"/>
                <a:cs typeface="Arial Black"/>
              </a:rPr>
              <a:t>travail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0" dirty="0">
                <a:solidFill>
                  <a:srgbClr val="006066"/>
                </a:solidFill>
                <a:latin typeface="Arial Black"/>
                <a:cs typeface="Arial Black"/>
              </a:rPr>
              <a:t>pour</a:t>
            </a:r>
            <a:r>
              <a:rPr sz="2400" spc="-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identifier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29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3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risques 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potentiels</a:t>
            </a:r>
            <a:r>
              <a:rPr sz="2400" spc="-110" dirty="0">
                <a:solidFill>
                  <a:srgbClr val="006066"/>
                </a:solidFill>
                <a:latin typeface="Lucida Sans Unicode"/>
                <a:cs typeface="Lucida Sans Unicode"/>
              </a:rPr>
              <a:t>.</a:t>
            </a:r>
            <a:r>
              <a:rPr sz="2400" spc="-5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peut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aider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prévenir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accidents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sécurité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vos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travailleurs.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45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aide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développer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systèmes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prévention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pertes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vols.</a:t>
            </a:r>
            <a:endParaRPr sz="240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919"/>
              </a:spcBef>
              <a:buClr>
                <a:srgbClr val="006066"/>
              </a:buClr>
              <a:buFont typeface="Wingdings"/>
              <a:buChar char=""/>
            </a:pPr>
            <a:endParaRPr sz="2400">
              <a:latin typeface="Lucida Sans Unicode"/>
              <a:cs typeface="Lucida Sans Unicode"/>
            </a:endParaRPr>
          </a:p>
          <a:p>
            <a:pPr marL="355600" marR="5080" lvl="1" indent="-342900">
              <a:lnSpc>
                <a:spcPct val="16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Optimiser</a:t>
            </a:r>
            <a:r>
              <a:rPr sz="2400" spc="-2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-2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chaînes</a:t>
            </a:r>
            <a:r>
              <a:rPr sz="2400" spc="-25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0" dirty="0">
                <a:solidFill>
                  <a:srgbClr val="006066"/>
                </a:solidFill>
                <a:latin typeface="Arial Black"/>
                <a:cs typeface="Arial Black"/>
              </a:rPr>
              <a:t>d'approvisionnement</a:t>
            </a:r>
            <a:r>
              <a:rPr sz="2400" spc="-2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400" spc="-24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-23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0" dirty="0">
                <a:solidFill>
                  <a:srgbClr val="006066"/>
                </a:solidFill>
                <a:latin typeface="Arial Black"/>
                <a:cs typeface="Arial Black"/>
              </a:rPr>
              <a:t>transports</a:t>
            </a:r>
            <a:r>
              <a:rPr sz="2400" spc="-80" dirty="0">
                <a:solidFill>
                  <a:srgbClr val="006066"/>
                </a:solidFill>
                <a:latin typeface="Lucida Sans Unicode"/>
                <a:cs typeface="Lucida Sans Unicode"/>
              </a:rPr>
              <a:t>:</a:t>
            </a:r>
            <a:r>
              <a:rPr sz="2400" spc="-95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coûts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0" dirty="0">
                <a:solidFill>
                  <a:srgbClr val="1D1E1F"/>
                </a:solidFill>
                <a:latin typeface="Lucida Sans Unicode"/>
                <a:cs typeface="Lucida Sans Unicode"/>
              </a:rPr>
              <a:t>et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ponctualité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livraisons.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45" dirty="0">
                <a:solidFill>
                  <a:srgbClr val="1D1E1F"/>
                </a:solidFill>
                <a:latin typeface="Lucida Sans Unicode"/>
                <a:cs typeface="Lucida Sans Unicode"/>
              </a:rPr>
              <a:t>L'IA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peut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aider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suivre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produits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tout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65" dirty="0">
                <a:solidFill>
                  <a:srgbClr val="1D1E1F"/>
                </a:solidFill>
                <a:latin typeface="Lucida Sans Unicode"/>
                <a:cs typeface="Lucida Sans Unicode"/>
              </a:rPr>
              <a:t>au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long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leur </a:t>
            </a:r>
            <a:r>
              <a:rPr sz="2400" spc="114" dirty="0">
                <a:solidFill>
                  <a:srgbClr val="1D1E1F"/>
                </a:solidFill>
                <a:latin typeface="Lucida Sans Unicode"/>
                <a:cs typeface="Lucida Sans Unicode"/>
              </a:rPr>
              <a:t>cycle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vie,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75" dirty="0">
                <a:solidFill>
                  <a:srgbClr val="1D1E1F"/>
                </a:solidFill>
                <a:latin typeface="Lucida Sans Unicode"/>
                <a:cs typeface="Lucida Sans Unicode"/>
              </a:rPr>
              <a:t>ce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qui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améliore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traçabilité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transparence.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45" dirty="0"/>
              <a:t>28</a:t>
            </a:fld>
            <a:endParaRPr spc="-34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9" rIns="0" bIns="0" rtlCol="0">
            <a:spAutoFit/>
          </a:bodyPr>
          <a:lstStyle/>
          <a:p>
            <a:pPr marL="75057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460618"/>
            <a:ext cx="14674850" cy="5998210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474345" indent="-461645">
              <a:lnSpc>
                <a:spcPct val="100000"/>
              </a:lnSpc>
              <a:spcBef>
                <a:spcPts val="2065"/>
              </a:spcBef>
              <a:buAutoNum type="arabicPeriod" startAt="8"/>
              <a:tabLst>
                <a:tab pos="474345" algn="l"/>
              </a:tabLst>
            </a:pPr>
            <a:r>
              <a:rPr sz="3200" spc="-305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3200" spc="-3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5" dirty="0">
                <a:solidFill>
                  <a:srgbClr val="006066"/>
                </a:solidFill>
                <a:latin typeface="Arial Black"/>
                <a:cs typeface="Arial Black"/>
              </a:rPr>
              <a:t>gestion</a:t>
            </a:r>
            <a:r>
              <a:rPr sz="3200" spc="-3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7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3200" spc="-3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0" dirty="0">
                <a:solidFill>
                  <a:srgbClr val="006066"/>
                </a:solidFill>
                <a:latin typeface="Arial Black"/>
                <a:cs typeface="Arial Black"/>
              </a:rPr>
              <a:t>projet</a:t>
            </a:r>
            <a:endParaRPr sz="3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gestion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projet,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30" dirty="0">
                <a:solidFill>
                  <a:srgbClr val="1D1E1F"/>
                </a:solidFill>
                <a:latin typeface="Lucida Sans Unicode"/>
                <a:cs typeface="Lucida Sans Unicode"/>
              </a:rPr>
              <a:t>l’IA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peut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être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utiliser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  <a:p>
            <a:pPr marL="354965" lvl="1" indent="-342265">
              <a:lnSpc>
                <a:spcPct val="100000"/>
              </a:lnSpc>
              <a:spcBef>
                <a:spcPts val="1725"/>
              </a:spcBef>
              <a:buFont typeface="Wingdings"/>
              <a:buChar char=""/>
              <a:tabLst>
                <a:tab pos="354965" algn="l"/>
                <a:tab pos="1789430" algn="l"/>
                <a:tab pos="2528570" algn="l"/>
                <a:tab pos="3580129" algn="l"/>
                <a:tab pos="4148454" algn="l"/>
                <a:tab pos="5252085" algn="l"/>
                <a:tab pos="6099175" algn="l"/>
                <a:tab pos="7242175" algn="l"/>
                <a:tab pos="7727315" algn="l"/>
                <a:tab pos="8575040" algn="l"/>
                <a:tab pos="10104755" algn="l"/>
                <a:tab pos="10344150" algn="l"/>
                <a:tab pos="10901680" algn="l"/>
                <a:tab pos="12602845" algn="l"/>
                <a:tab pos="13331190" algn="l"/>
              </a:tabLst>
            </a:pP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Générer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plans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3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projet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plus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précis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plus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réalistes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30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analysant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endParaRPr sz="240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735"/>
              </a:spcBef>
            </a:pP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historiques,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modélisant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scénarios,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tenant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compte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risques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incertitudes.</a:t>
            </a:r>
            <a:endParaRPr sz="2400">
              <a:latin typeface="Lucida Sans Unicode"/>
              <a:cs typeface="Lucida Sans Unicode"/>
            </a:endParaRPr>
          </a:p>
          <a:p>
            <a:pPr marL="355600" marR="6350" lvl="1" indent="-342900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45" dirty="0">
                <a:solidFill>
                  <a:srgbClr val="006066"/>
                </a:solidFill>
                <a:latin typeface="Arial Black"/>
                <a:cs typeface="Arial Black"/>
              </a:rPr>
              <a:t>Coordonner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activités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différentes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0" dirty="0">
                <a:solidFill>
                  <a:srgbClr val="006066"/>
                </a:solidFill>
                <a:latin typeface="Arial Black"/>
                <a:cs typeface="Arial Black"/>
              </a:rPr>
              <a:t>parties</a:t>
            </a:r>
            <a:r>
              <a:rPr sz="2400" spc="-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006066"/>
                </a:solidFill>
                <a:latin typeface="Arial Black"/>
                <a:cs typeface="Arial Black"/>
              </a:rPr>
              <a:t>prenantes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d'un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0" dirty="0">
                <a:solidFill>
                  <a:srgbClr val="006066"/>
                </a:solidFill>
                <a:latin typeface="Arial Black"/>
                <a:cs typeface="Arial Black"/>
              </a:rPr>
              <a:t>projet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automatisant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tâches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communication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collaboration,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identifiant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risques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conflit.</a:t>
            </a:r>
            <a:endParaRPr sz="2400">
              <a:latin typeface="Lucida Sans Unicode"/>
              <a:cs typeface="Lucida Sans Unicode"/>
            </a:endParaRPr>
          </a:p>
          <a:p>
            <a:pPr marL="355600" marR="5080" lvl="1" indent="-342900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Améliorer</a:t>
            </a: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la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45" dirty="0">
                <a:solidFill>
                  <a:srgbClr val="006066"/>
                </a:solidFill>
                <a:latin typeface="Arial Black"/>
                <a:cs typeface="Arial Black"/>
              </a:rPr>
              <a:t>communication</a:t>
            </a:r>
            <a:r>
              <a:rPr sz="2400" spc="-12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entre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membres</a:t>
            </a: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60" dirty="0">
                <a:solidFill>
                  <a:srgbClr val="006066"/>
                </a:solidFill>
                <a:latin typeface="Arial Black"/>
                <a:cs typeface="Arial Black"/>
              </a:rPr>
              <a:t>l'équipe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d'un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0" dirty="0">
                <a:solidFill>
                  <a:srgbClr val="006066"/>
                </a:solidFill>
                <a:latin typeface="Arial Black"/>
                <a:cs typeface="Arial Black"/>
              </a:rPr>
              <a:t>projet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fournissant</a:t>
            </a:r>
            <a:r>
              <a:rPr sz="24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 </a:t>
            </a:r>
            <a:r>
              <a:rPr sz="24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mises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-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jour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temps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réel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facilitant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collaboration</a:t>
            </a:r>
            <a:r>
              <a:rPr sz="2400" spc="-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entre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4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équipes</a:t>
            </a:r>
            <a:r>
              <a:rPr sz="2400" spc="-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distantes.</a:t>
            </a:r>
            <a:endParaRPr sz="2400">
              <a:latin typeface="Lucida Sans Unicode"/>
              <a:cs typeface="Lucida Sans Unicode"/>
            </a:endParaRPr>
          </a:p>
          <a:p>
            <a:pPr marL="355600" marR="6985" lvl="1" indent="-342900">
              <a:lnSpc>
                <a:spcPct val="160000"/>
              </a:lnSpc>
              <a:buFont typeface="Wingdings"/>
              <a:buChar char=""/>
              <a:tabLst>
                <a:tab pos="355600" algn="l"/>
                <a:tab pos="1519555" algn="l"/>
                <a:tab pos="3866515" algn="l"/>
                <a:tab pos="4723130" algn="l"/>
                <a:tab pos="5826760" algn="l"/>
                <a:tab pos="6309995" algn="l"/>
                <a:tab pos="7905750" algn="l"/>
                <a:tab pos="8526145" algn="l"/>
                <a:tab pos="9859645" algn="l"/>
                <a:tab pos="11610975" algn="l"/>
                <a:tab pos="11850370" algn="l"/>
                <a:tab pos="12406630" algn="l"/>
                <a:tab pos="14103985" algn="l"/>
              </a:tabLst>
            </a:pP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Suivre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l'avancement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d'un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projet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identifier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risques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potentiels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305" dirty="0">
                <a:solidFill>
                  <a:srgbClr val="006066"/>
                </a:solidFill>
                <a:latin typeface="Lucida Sans Unicode"/>
                <a:cs typeface="Lucida Sans Unicode"/>
              </a:rPr>
              <a:t>: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	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analysant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 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spc="-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temps</a:t>
            </a:r>
            <a:r>
              <a:rPr sz="2400" spc="-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1D1E1F"/>
                </a:solidFill>
                <a:latin typeface="Lucida Sans Unicode"/>
                <a:cs typeface="Lucida Sans Unicode"/>
              </a:rPr>
              <a:t>réel,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générant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alertes</a:t>
            </a:r>
            <a:r>
              <a:rPr sz="2400" spc="-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1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400" spc="-10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fournissant</a:t>
            </a:r>
            <a:r>
              <a:rPr sz="24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recommandations.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863089" y="8754247"/>
            <a:ext cx="1894205" cy="4527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rapidement.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425" dirty="0"/>
              <a:t>29</a:t>
            </a:fld>
            <a:endParaRPr spc="-42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577" y="339090"/>
            <a:ext cx="119259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5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0189" y="1985899"/>
            <a:ext cx="14876780" cy="6590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309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1009" algn="l"/>
              </a:tabLst>
            </a:pPr>
            <a:r>
              <a:rPr sz="3200" spc="-409" dirty="0">
                <a:solidFill>
                  <a:srgbClr val="006066"/>
                </a:solidFill>
                <a:latin typeface="Arial Black"/>
                <a:cs typeface="Arial Black"/>
              </a:rPr>
              <a:t>Le</a:t>
            </a:r>
            <a:r>
              <a:rPr sz="3200" spc="-3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95" dirty="0">
                <a:solidFill>
                  <a:srgbClr val="006066"/>
                </a:solidFill>
                <a:latin typeface="Arial Black"/>
                <a:cs typeface="Arial Black"/>
              </a:rPr>
              <a:t>recrutement</a:t>
            </a:r>
            <a:r>
              <a:rPr sz="3200" spc="-35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7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3200" spc="-3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6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3200" spc="-3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395" dirty="0">
                <a:solidFill>
                  <a:srgbClr val="006066"/>
                </a:solidFill>
                <a:latin typeface="Arial Black"/>
                <a:cs typeface="Arial Black"/>
              </a:rPr>
              <a:t>RH</a:t>
            </a:r>
            <a:endParaRPr sz="32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114"/>
              </a:spcBef>
            </a:pP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En</a:t>
            </a:r>
            <a:r>
              <a:rPr sz="2800" spc="3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tant</a:t>
            </a:r>
            <a:r>
              <a:rPr sz="2800" spc="33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que</a:t>
            </a:r>
            <a:r>
              <a:rPr sz="2800" spc="3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professionnel</a:t>
            </a:r>
            <a:r>
              <a:rPr sz="2800" spc="3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90" dirty="0">
                <a:solidFill>
                  <a:srgbClr val="1D1E1F"/>
                </a:solidFill>
                <a:latin typeface="Lucida Sans Unicode"/>
                <a:cs typeface="Lucida Sans Unicode"/>
              </a:rPr>
              <a:t>du</a:t>
            </a:r>
            <a:r>
              <a:rPr sz="2800" spc="31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recrutement</a:t>
            </a:r>
            <a:r>
              <a:rPr sz="2800" spc="34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800" spc="3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800" spc="32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50" dirty="0">
                <a:solidFill>
                  <a:srgbClr val="1D1E1F"/>
                </a:solidFill>
                <a:latin typeface="Lucida Sans Unicode"/>
                <a:cs typeface="Lucida Sans Unicode"/>
              </a:rPr>
              <a:t>RH,</a:t>
            </a:r>
            <a:r>
              <a:rPr sz="2800" spc="3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il</a:t>
            </a:r>
            <a:r>
              <a:rPr sz="2800" spc="3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1D1E1F"/>
                </a:solidFill>
                <a:latin typeface="Lucida Sans Unicode"/>
                <a:cs typeface="Lucida Sans Unicode"/>
              </a:rPr>
              <a:t>est</a:t>
            </a:r>
            <a:r>
              <a:rPr sz="2800" spc="3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possible</a:t>
            </a:r>
            <a:r>
              <a:rPr sz="2800" spc="31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d’exploiter</a:t>
            </a:r>
            <a:r>
              <a:rPr sz="2800" spc="32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la </a:t>
            </a:r>
            <a:r>
              <a:rPr sz="28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force</a:t>
            </a:r>
            <a:r>
              <a:rPr sz="28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150" dirty="0">
                <a:solidFill>
                  <a:srgbClr val="1D1E1F"/>
                </a:solidFill>
                <a:latin typeface="Lucida Sans Unicode"/>
                <a:cs typeface="Lucida Sans Unicode"/>
              </a:rPr>
              <a:t>l’IA</a:t>
            </a:r>
            <a:r>
              <a:rPr sz="2800" spc="-9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1D1E1F"/>
                </a:solidFill>
                <a:latin typeface="Lucida Sans Unicode"/>
                <a:cs typeface="Lucida Sans Unicode"/>
              </a:rPr>
              <a:t>pour</a:t>
            </a:r>
            <a:r>
              <a:rPr sz="2800" spc="-10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800" spc="-345" dirty="0">
                <a:solidFill>
                  <a:srgbClr val="1D1E1F"/>
                </a:solidFill>
                <a:latin typeface="Lucida Sans Unicode"/>
                <a:cs typeface="Lucida Sans Unicode"/>
              </a:rPr>
              <a:t>:</a:t>
            </a:r>
            <a:endParaRPr sz="2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800">
              <a:latin typeface="Lucida Sans Unicode"/>
              <a:cs typeface="Lucida Sans Unicode"/>
            </a:endParaRPr>
          </a:p>
          <a:p>
            <a:pPr marL="354965" marR="5715" lvl="1" indent="-342900">
              <a:lnSpc>
                <a:spcPct val="16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Identifier</a:t>
            </a:r>
            <a:r>
              <a:rPr sz="2400" spc="-2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0" dirty="0">
                <a:solidFill>
                  <a:srgbClr val="006066"/>
                </a:solidFill>
                <a:latin typeface="Arial Black"/>
                <a:cs typeface="Arial Black"/>
              </a:rPr>
              <a:t>candidats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potentiels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75" dirty="0">
                <a:solidFill>
                  <a:srgbClr val="006066"/>
                </a:solidFill>
                <a:latin typeface="Arial Black"/>
                <a:cs typeface="Arial Black"/>
              </a:rPr>
              <a:t>en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30" dirty="0">
                <a:solidFill>
                  <a:srgbClr val="006066"/>
                </a:solidFill>
                <a:latin typeface="Arial Black"/>
                <a:cs typeface="Arial Black"/>
              </a:rPr>
              <a:t>analysant</a:t>
            </a:r>
            <a:r>
              <a:rPr sz="2400" spc="-2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2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40" dirty="0">
                <a:solidFill>
                  <a:srgbClr val="006066"/>
                </a:solidFill>
                <a:latin typeface="Arial Black"/>
                <a:cs typeface="Arial Black"/>
              </a:rPr>
              <a:t>grandes</a:t>
            </a:r>
            <a:r>
              <a:rPr sz="2400" spc="-254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quantités</a:t>
            </a:r>
            <a:r>
              <a:rPr sz="2400" spc="-26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2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données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,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70" dirty="0">
                <a:solidFill>
                  <a:srgbClr val="1D1E1F"/>
                </a:solidFill>
                <a:latin typeface="Lucida Sans Unicode"/>
                <a:cs typeface="Lucida Sans Unicode"/>
              </a:rPr>
              <a:t>comme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 </a:t>
            </a:r>
            <a:r>
              <a:rPr sz="2400" spc="-30" dirty="0">
                <a:solidFill>
                  <a:srgbClr val="1D1E1F"/>
                </a:solidFill>
                <a:latin typeface="Lucida Sans Unicode"/>
                <a:cs typeface="Lucida Sans Unicode"/>
              </a:rPr>
              <a:t>profils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LinkedIn,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9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réseaux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sociaux</a:t>
            </a:r>
            <a:r>
              <a:rPr sz="2400" spc="-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-8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D1E1F"/>
                </a:solidFill>
                <a:latin typeface="Lucida Sans Unicode"/>
                <a:cs typeface="Lucida Sans Unicode"/>
              </a:rPr>
              <a:t>bases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données</a:t>
            </a:r>
            <a:r>
              <a:rPr sz="2400" spc="-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-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candidatures.</a:t>
            </a:r>
            <a:endParaRPr sz="2400">
              <a:latin typeface="Lucida Sans Unicode"/>
              <a:cs typeface="Lucida Sans Unicode"/>
            </a:endParaRPr>
          </a:p>
          <a:p>
            <a:pPr marL="354965" marR="5080" lvl="1" indent="-342900">
              <a:lnSpc>
                <a:spcPct val="160000"/>
              </a:lnSpc>
              <a:buFont typeface="Wingdings"/>
              <a:buChar char=""/>
              <a:tabLst>
                <a:tab pos="354965" algn="l"/>
                <a:tab pos="1778635" algn="l"/>
                <a:tab pos="2473960" algn="l"/>
                <a:tab pos="2740660" algn="l"/>
                <a:tab pos="3601720" algn="l"/>
                <a:tab pos="4321175" algn="l"/>
                <a:tab pos="4479290" algn="l"/>
                <a:tab pos="4958080" algn="l"/>
                <a:tab pos="5313045" algn="l"/>
                <a:tab pos="5677535" algn="l"/>
                <a:tab pos="6811645" algn="l"/>
                <a:tab pos="7049134" algn="l"/>
                <a:tab pos="7760970" algn="l"/>
                <a:tab pos="7841615" algn="l"/>
                <a:tab pos="9356725" algn="l"/>
                <a:tab pos="10149205" algn="l"/>
                <a:tab pos="10327640" algn="l"/>
                <a:tab pos="11359515" algn="l"/>
                <a:tab pos="11687175" algn="l"/>
                <a:tab pos="12313920" algn="l"/>
                <a:tab pos="12893040" algn="l"/>
                <a:tab pos="13522325" algn="l"/>
                <a:tab pos="14079855" algn="l"/>
                <a:tab pos="14655800" algn="l"/>
              </a:tabLst>
            </a:pP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Évaluer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candidats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en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analysant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leurs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compétences,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leurs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expériences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2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	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leurs </a:t>
            </a:r>
            <a:r>
              <a:rPr sz="2400" spc="-10" dirty="0">
                <a:solidFill>
                  <a:srgbClr val="006066"/>
                </a:solidFill>
                <a:latin typeface="Arial Black"/>
                <a:cs typeface="Arial Black"/>
              </a:rPr>
              <a:t>personnalités</a:t>
            </a:r>
            <a:r>
              <a:rPr sz="2400" spc="-10" dirty="0">
                <a:solidFill>
                  <a:srgbClr val="006066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6066"/>
                </a:solidFill>
                <a:latin typeface="Lucida Sans Unicode"/>
                <a:cs typeface="Lucida Sans Unicode"/>
              </a:rPr>
              <a:t>	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Cela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30" dirty="0">
                <a:solidFill>
                  <a:srgbClr val="1D1E1F"/>
                </a:solidFill>
                <a:latin typeface="Lucida Sans Unicode"/>
                <a:cs typeface="Lucida Sans Unicode"/>
              </a:rPr>
              <a:t>vous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	</a:t>
            </a:r>
            <a:r>
              <a:rPr sz="2400" spc="85" dirty="0">
                <a:solidFill>
                  <a:srgbClr val="1D1E1F"/>
                </a:solidFill>
                <a:latin typeface="Lucida Sans Unicode"/>
                <a:cs typeface="Lucida Sans Unicode"/>
              </a:rPr>
              <a:t>aide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24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prendre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des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décisions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éclairées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sur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personnes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	</a:t>
            </a:r>
            <a:r>
              <a:rPr sz="2400" spc="24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endParaRPr sz="2400">
              <a:latin typeface="Lucida Sans Unicode"/>
              <a:cs typeface="Lucida Sans Unicode"/>
            </a:endParaRPr>
          </a:p>
          <a:p>
            <a:pPr marL="354965">
              <a:lnSpc>
                <a:spcPct val="100000"/>
              </a:lnSpc>
              <a:spcBef>
                <a:spcPts val="1730"/>
              </a:spcBef>
            </a:pP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embaucher.</a:t>
            </a:r>
            <a:endParaRPr sz="2400">
              <a:latin typeface="Lucida Sans Unicode"/>
              <a:cs typeface="Lucida Sans Unicode"/>
            </a:endParaRPr>
          </a:p>
          <a:p>
            <a:pPr marL="354965" marR="5080" lvl="1" indent="-342900">
              <a:lnSpc>
                <a:spcPct val="16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Sélectionner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114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2400" spc="-8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45" dirty="0">
                <a:solidFill>
                  <a:srgbClr val="006066"/>
                </a:solidFill>
                <a:latin typeface="Arial Black"/>
                <a:cs typeface="Arial Black"/>
              </a:rPr>
              <a:t>candidats</a:t>
            </a:r>
            <a:r>
              <a:rPr sz="2400" spc="-12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en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60" dirty="0">
                <a:solidFill>
                  <a:srgbClr val="006066"/>
                </a:solidFill>
                <a:latin typeface="Arial Black"/>
                <a:cs typeface="Arial Black"/>
              </a:rPr>
              <a:t>fonction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2400" spc="-1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50" dirty="0">
                <a:solidFill>
                  <a:srgbClr val="006066"/>
                </a:solidFill>
                <a:latin typeface="Arial Black"/>
                <a:cs typeface="Arial Black"/>
              </a:rPr>
              <a:t>leur</a:t>
            </a:r>
            <a:r>
              <a:rPr sz="2400" spc="-11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30" dirty="0">
                <a:solidFill>
                  <a:srgbClr val="006066"/>
                </a:solidFill>
                <a:latin typeface="Arial Black"/>
                <a:cs typeface="Arial Black"/>
              </a:rPr>
              <a:t>adéquation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20" dirty="0">
                <a:solidFill>
                  <a:srgbClr val="006066"/>
                </a:solidFill>
                <a:latin typeface="Arial Black"/>
                <a:cs typeface="Arial Black"/>
              </a:rPr>
              <a:t>aux</a:t>
            </a:r>
            <a:r>
              <a:rPr sz="2400" spc="-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90" dirty="0">
                <a:solidFill>
                  <a:srgbClr val="006066"/>
                </a:solidFill>
                <a:latin typeface="Arial Black"/>
                <a:cs typeface="Arial Black"/>
              </a:rPr>
              <a:t>postes</a:t>
            </a:r>
            <a:r>
              <a:rPr sz="2400" spc="-1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2400" spc="-65" dirty="0">
                <a:solidFill>
                  <a:srgbClr val="006066"/>
                </a:solidFill>
                <a:latin typeface="Arial Black"/>
                <a:cs typeface="Arial Black"/>
              </a:rPr>
              <a:t>vacants</a:t>
            </a:r>
            <a:r>
              <a:rPr sz="2400" spc="-65" dirty="0">
                <a:solidFill>
                  <a:srgbClr val="006066"/>
                </a:solidFill>
                <a:latin typeface="Lucida Sans Unicode"/>
                <a:cs typeface="Lucida Sans Unicode"/>
              </a:rPr>
              <a:t>.</a:t>
            </a:r>
            <a:r>
              <a:rPr sz="2400" spc="-60" dirty="0">
                <a:solidFill>
                  <a:srgbClr val="006066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C’est</a:t>
            </a:r>
            <a:r>
              <a:rPr sz="2400" spc="-5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un</a:t>
            </a:r>
            <a:r>
              <a:rPr sz="2400" spc="-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40" dirty="0">
                <a:solidFill>
                  <a:srgbClr val="1D1E1F"/>
                </a:solidFill>
                <a:latin typeface="Lucida Sans Unicode"/>
                <a:cs typeface="Lucida Sans Unicode"/>
              </a:rPr>
              <a:t>bon </a:t>
            </a:r>
            <a:r>
              <a:rPr sz="2400" spc="105" dirty="0">
                <a:solidFill>
                  <a:srgbClr val="1D1E1F"/>
                </a:solidFill>
                <a:latin typeface="Lucida Sans Unicode"/>
                <a:cs typeface="Lucida Sans Unicode"/>
              </a:rPr>
              <a:t>moyen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réduire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nombre</a:t>
            </a:r>
            <a:r>
              <a:rPr sz="2400" spc="8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D1E1F"/>
                </a:solidFill>
                <a:latin typeface="Lucida Sans Unicode"/>
                <a:cs typeface="Lucida Sans Unicode"/>
              </a:rPr>
              <a:t>candidats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1D1E1F"/>
                </a:solidFill>
                <a:latin typeface="Lucida Sans Unicode"/>
                <a:cs typeface="Lucida Sans Unicode"/>
              </a:rPr>
              <a:t>à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interviewer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D1E1F"/>
                </a:solidFill>
                <a:latin typeface="Lucida Sans Unicode"/>
                <a:cs typeface="Lucida Sans Unicode"/>
              </a:rPr>
              <a:t>et</a:t>
            </a:r>
            <a:r>
              <a:rPr sz="2400" spc="7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D1E1F"/>
                </a:solidFill>
                <a:latin typeface="Lucida Sans Unicode"/>
                <a:cs typeface="Lucida Sans Unicode"/>
              </a:rPr>
              <a:t>de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trouver</a:t>
            </a:r>
            <a:r>
              <a:rPr sz="2400" spc="7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les</a:t>
            </a:r>
            <a:r>
              <a:rPr sz="2400" spc="65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D1E1F"/>
                </a:solidFill>
                <a:latin typeface="Lucida Sans Unicode"/>
                <a:cs typeface="Lucida Sans Unicode"/>
              </a:rPr>
              <a:t>meilleurs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D1E1F"/>
                </a:solidFill>
                <a:latin typeface="Lucida Sans Unicode"/>
                <a:cs typeface="Lucida Sans Unicode"/>
              </a:rPr>
              <a:t>profils</a:t>
            </a:r>
            <a:r>
              <a:rPr sz="2400" spc="60" dirty="0">
                <a:solidFill>
                  <a:srgbClr val="1D1E1F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D1E1F"/>
                </a:solidFill>
                <a:latin typeface="Lucida Sans Unicode"/>
                <a:cs typeface="Lucida Sans Unicode"/>
              </a:rPr>
              <a:t>plus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922877" y="8819169"/>
            <a:ext cx="975994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305" dirty="0">
                <a:solidFill>
                  <a:srgbClr val="D7D7D7"/>
                </a:solidFill>
                <a:latin typeface="Arial Black"/>
                <a:cs typeface="Arial Black"/>
              </a:rPr>
              <a:t>30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707" y="378714"/>
            <a:ext cx="12931140" cy="1228797"/>
          </a:xfrm>
          <a:prstGeom prst="rect">
            <a:avLst/>
          </a:prstGeom>
        </p:spPr>
        <p:txBody>
          <a:bodyPr vert="horz" wrap="square" lIns="0" tIns="393953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4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30" dirty="0">
                <a:solidFill>
                  <a:srgbClr val="006066"/>
                </a:solidFill>
                <a:latin typeface="Arial Black"/>
                <a:cs typeface="Arial Black"/>
              </a:rPr>
              <a:t>domaines d’application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5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35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4844" y="2892933"/>
            <a:ext cx="64217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85" dirty="0">
                <a:solidFill>
                  <a:srgbClr val="006066"/>
                </a:solidFill>
                <a:latin typeface="Arial Black"/>
                <a:cs typeface="Arial Black"/>
              </a:rPr>
              <a:t>10.</a:t>
            </a:r>
            <a:r>
              <a:rPr sz="3200" spc="-3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55" dirty="0">
                <a:solidFill>
                  <a:srgbClr val="006066"/>
                </a:solidFill>
                <a:latin typeface="Arial Black"/>
                <a:cs typeface="Arial Black"/>
              </a:rPr>
              <a:t>Jeu</a:t>
            </a:r>
            <a:r>
              <a:rPr sz="3200" spc="-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85" dirty="0">
                <a:solidFill>
                  <a:srgbClr val="006066"/>
                </a:solidFill>
                <a:latin typeface="Arial Black"/>
                <a:cs typeface="Arial Black"/>
              </a:rPr>
              <a:t>vidéo</a:t>
            </a:r>
            <a:r>
              <a:rPr sz="3200" spc="-37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175" dirty="0">
                <a:solidFill>
                  <a:srgbClr val="006066"/>
                </a:solidFill>
                <a:latin typeface="Arial Black"/>
                <a:cs typeface="Arial Black"/>
              </a:rPr>
              <a:t>et</a:t>
            </a:r>
            <a:r>
              <a:rPr sz="3200" spc="-3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3200" spc="-65" dirty="0">
                <a:solidFill>
                  <a:srgbClr val="006066"/>
                </a:solidFill>
                <a:latin typeface="Arial Black"/>
                <a:cs typeface="Arial Black"/>
              </a:rPr>
              <a:t>divertissement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4844" y="4409694"/>
            <a:ext cx="14673580" cy="448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solidFill>
                  <a:srgbClr val="15171A"/>
                </a:solidFill>
                <a:latin typeface="Lucida Sans Unicode"/>
                <a:cs typeface="Lucida Sans Unicode"/>
              </a:rPr>
              <a:t>L'IA</a:t>
            </a:r>
            <a:r>
              <a:rPr sz="2400" spc="3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est</a:t>
            </a:r>
            <a:r>
              <a:rPr sz="2400" spc="3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5171A"/>
                </a:solidFill>
                <a:latin typeface="Lucida Sans Unicode"/>
                <a:cs typeface="Lucida Sans Unicode"/>
              </a:rPr>
              <a:t>également</a:t>
            </a:r>
            <a:r>
              <a:rPr sz="2400" spc="35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5171A"/>
                </a:solidFill>
                <a:latin typeface="Lucida Sans Unicode"/>
                <a:cs typeface="Lucida Sans Unicode"/>
              </a:rPr>
              <a:t>largement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utilisée</a:t>
            </a:r>
            <a:r>
              <a:rPr sz="2400" spc="3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5171A"/>
                </a:solidFill>
                <a:latin typeface="Lucida Sans Unicode"/>
                <a:cs typeface="Lucida Sans Unicode"/>
              </a:rPr>
              <a:t>dans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l'industrie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15171A"/>
                </a:solidFill>
                <a:latin typeface="Lucida Sans Unicode"/>
                <a:cs typeface="Lucida Sans Unicode"/>
              </a:rPr>
              <a:t>du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jeu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vidéo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et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5171A"/>
                </a:solidFill>
                <a:latin typeface="Lucida Sans Unicode"/>
                <a:cs typeface="Lucida Sans Unicode"/>
              </a:rPr>
              <a:t>du</a:t>
            </a:r>
            <a:r>
              <a:rPr sz="2400" spc="35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divertissement</a:t>
            </a:r>
            <a:r>
              <a:rPr sz="2400" spc="3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pour</a:t>
            </a:r>
            <a:endParaRPr sz="240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1725"/>
              </a:spcBef>
            </a:pP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-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l'expérience</a:t>
            </a:r>
            <a:r>
              <a:rPr sz="2400" spc="-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jeu</a:t>
            </a:r>
            <a:r>
              <a:rPr sz="2400" spc="-5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et</a:t>
            </a:r>
            <a:r>
              <a:rPr sz="2400" spc="-5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créer</a:t>
            </a:r>
            <a:r>
              <a:rPr sz="2400" spc="-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5171A"/>
                </a:solidFill>
                <a:latin typeface="Lucida Sans Unicode"/>
                <a:cs typeface="Lucida Sans Unicode"/>
              </a:rPr>
              <a:t>des</a:t>
            </a:r>
            <a:r>
              <a:rPr sz="2400" spc="-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15171A"/>
                </a:solidFill>
                <a:latin typeface="Lucida Sans Unicode"/>
                <a:cs typeface="Lucida Sans Unicode"/>
              </a:rPr>
              <a:t>mondes</a:t>
            </a:r>
            <a:r>
              <a:rPr sz="2400" spc="-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virtuels</a:t>
            </a:r>
            <a:r>
              <a:rPr sz="2400" spc="-6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plus</a:t>
            </a:r>
            <a:r>
              <a:rPr sz="2400" spc="-6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immersifs.</a:t>
            </a:r>
            <a:endParaRPr sz="2400">
              <a:latin typeface="Lucida Sans Unicode"/>
              <a:cs typeface="Lucida Sans Unicode"/>
            </a:endParaRPr>
          </a:p>
          <a:p>
            <a:pPr marL="355600" marR="5080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4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algorithmes</a:t>
            </a:r>
            <a:r>
              <a:rPr sz="2400" spc="-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15171A"/>
                </a:solidFill>
                <a:latin typeface="Lucida Sans Unicode"/>
                <a:cs typeface="Lucida Sans Unicode"/>
              </a:rPr>
              <a:t>d'IA</a:t>
            </a:r>
            <a:r>
              <a:rPr sz="2400" spc="-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sont</a:t>
            </a:r>
            <a:r>
              <a:rPr sz="2400" spc="-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utilisés</a:t>
            </a:r>
            <a:r>
              <a:rPr sz="2400" spc="-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pour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5171A"/>
                </a:solidFill>
                <a:latin typeface="Lucida Sans Unicode"/>
                <a:cs typeface="Lucida Sans Unicode"/>
              </a:rPr>
              <a:t>créer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5171A"/>
                </a:solidFill>
                <a:latin typeface="Lucida Sans Unicode"/>
                <a:cs typeface="Lucida Sans Unicode"/>
              </a:rPr>
              <a:t>des</a:t>
            </a:r>
            <a:r>
              <a:rPr sz="2400" spc="-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15171A"/>
                </a:solidFill>
                <a:latin typeface="Lucida Sans Unicode"/>
                <a:cs typeface="Lucida Sans Unicode"/>
              </a:rPr>
              <a:t>personnages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non-joueurs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215" dirty="0">
                <a:solidFill>
                  <a:srgbClr val="15171A"/>
                </a:solidFill>
                <a:latin typeface="Lucida Sans Unicode"/>
                <a:cs typeface="Lucida Sans Unicode"/>
              </a:rPr>
              <a:t>(PNJ)</a:t>
            </a:r>
            <a:r>
              <a:rPr sz="2400" spc="-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intelligents</a:t>
            </a:r>
            <a:r>
              <a:rPr sz="2400" spc="-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solidFill>
                  <a:srgbClr val="15171A"/>
                </a:solidFill>
                <a:latin typeface="Lucida Sans Unicode"/>
                <a:cs typeface="Lucida Sans Unicode"/>
              </a:rPr>
              <a:t>et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réalistes,</a:t>
            </a:r>
            <a:r>
              <a:rPr sz="2400" spc="30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Arial Black"/>
                <a:cs typeface="Arial Black"/>
              </a:rPr>
              <a:t>générer</a:t>
            </a:r>
            <a:r>
              <a:rPr sz="2400" spc="250" dirty="0">
                <a:solidFill>
                  <a:srgbClr val="15171A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15171A"/>
                </a:solidFill>
                <a:latin typeface="Arial Black"/>
                <a:cs typeface="Arial Black"/>
              </a:rPr>
              <a:t>des</a:t>
            </a:r>
            <a:r>
              <a:rPr sz="2400" spc="245" dirty="0">
                <a:solidFill>
                  <a:srgbClr val="15171A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Arial Black"/>
                <a:cs typeface="Arial Black"/>
              </a:rPr>
              <a:t>environnements</a:t>
            </a:r>
            <a:r>
              <a:rPr sz="2400" spc="250" dirty="0">
                <a:solidFill>
                  <a:srgbClr val="15171A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15171A"/>
                </a:solidFill>
                <a:latin typeface="Arial Black"/>
                <a:cs typeface="Arial Black"/>
              </a:rPr>
              <a:t>dynamiques</a:t>
            </a:r>
            <a:r>
              <a:rPr sz="2400" spc="250" dirty="0">
                <a:solidFill>
                  <a:srgbClr val="15171A"/>
                </a:solidFill>
                <a:latin typeface="Arial Black"/>
                <a:cs typeface="Arial Black"/>
              </a:rPr>
              <a:t> </a:t>
            </a:r>
            <a:r>
              <a:rPr sz="2400" spc="50" dirty="0">
                <a:solidFill>
                  <a:srgbClr val="15171A"/>
                </a:solidFill>
                <a:latin typeface="Lucida Sans Unicode"/>
                <a:cs typeface="Lucida Sans Unicode"/>
              </a:rPr>
              <a:t>et</a:t>
            </a:r>
            <a:r>
              <a:rPr sz="2400" spc="28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10" dirty="0">
                <a:solidFill>
                  <a:srgbClr val="15171A"/>
                </a:solidFill>
                <a:latin typeface="Lucida Sans Unicode"/>
                <a:cs typeface="Lucida Sans Unicode"/>
              </a:rPr>
              <a:t>adapter</a:t>
            </a:r>
            <a:r>
              <a:rPr sz="2400" spc="30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le</a:t>
            </a:r>
            <a:r>
              <a:rPr sz="2400" spc="28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5171A"/>
                </a:solidFill>
                <a:latin typeface="Lucida Sans Unicode"/>
                <a:cs typeface="Lucida Sans Unicode"/>
              </a:rPr>
              <a:t>niveau</a:t>
            </a:r>
            <a:r>
              <a:rPr sz="2400" spc="29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29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difficulté</a:t>
            </a:r>
            <a:r>
              <a:rPr sz="2400" spc="28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5171A"/>
                </a:solidFill>
                <a:latin typeface="Lucida Sans Unicode"/>
                <a:cs typeface="Lucida Sans Unicode"/>
              </a:rPr>
              <a:t>en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fonction</a:t>
            </a:r>
            <a:r>
              <a:rPr sz="2400" spc="-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5171A"/>
                </a:solidFill>
                <a:latin typeface="Lucida Sans Unicode"/>
                <a:cs typeface="Lucida Sans Unicode"/>
              </a:rPr>
              <a:t>des</a:t>
            </a:r>
            <a:r>
              <a:rPr sz="2400" spc="-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14" dirty="0">
                <a:solidFill>
                  <a:srgbClr val="15171A"/>
                </a:solidFill>
                <a:latin typeface="Lucida Sans Unicode"/>
                <a:cs typeface="Lucida Sans Unicode"/>
              </a:rPr>
              <a:t>compétences</a:t>
            </a:r>
            <a:r>
              <a:rPr sz="2400" spc="-5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5171A"/>
                </a:solidFill>
                <a:latin typeface="Lucida Sans Unicode"/>
                <a:cs typeface="Lucida Sans Unicode"/>
              </a:rPr>
              <a:t>du</a:t>
            </a:r>
            <a:r>
              <a:rPr sz="2400" spc="-6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joueur.</a:t>
            </a:r>
            <a:endParaRPr sz="2400">
              <a:latin typeface="Lucida Sans Unicode"/>
              <a:cs typeface="Lucida Sans Unicode"/>
            </a:endParaRPr>
          </a:p>
          <a:p>
            <a:pPr marL="355600" marR="6985" indent="-342900" algn="just">
              <a:lnSpc>
                <a:spcPct val="160000"/>
              </a:lnSpc>
              <a:buFont typeface="Wingdings"/>
              <a:buChar char=""/>
              <a:tabLst>
                <a:tab pos="355600" algn="l"/>
                <a:tab pos="436245" algn="l"/>
              </a:tabLst>
            </a:pP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	L'IA</a:t>
            </a:r>
            <a:r>
              <a:rPr sz="2400" spc="4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est</a:t>
            </a:r>
            <a:r>
              <a:rPr sz="2400" spc="4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5171A"/>
                </a:solidFill>
                <a:latin typeface="Lucida Sans Unicode"/>
                <a:cs typeface="Lucida Sans Unicode"/>
              </a:rPr>
              <a:t>également</a:t>
            </a:r>
            <a:r>
              <a:rPr sz="2400" spc="484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utilisée</a:t>
            </a:r>
            <a:r>
              <a:rPr sz="2400" spc="4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pour</a:t>
            </a:r>
            <a:r>
              <a:rPr sz="2400" spc="47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optimiser</a:t>
            </a:r>
            <a:r>
              <a:rPr sz="2400" spc="47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48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graphismes,</a:t>
            </a:r>
            <a:r>
              <a:rPr sz="2400" spc="47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5171A"/>
                </a:solidFill>
                <a:latin typeface="Lucida Sans Unicode"/>
                <a:cs typeface="Lucida Sans Unicode"/>
              </a:rPr>
              <a:t>la</a:t>
            </a:r>
            <a:r>
              <a:rPr sz="2400" spc="4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physique</a:t>
            </a:r>
            <a:r>
              <a:rPr sz="2400" spc="47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et</a:t>
            </a:r>
            <a:r>
              <a:rPr sz="2400" spc="47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l'audio</a:t>
            </a:r>
            <a:r>
              <a:rPr sz="2400" spc="49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15171A"/>
                </a:solidFill>
                <a:latin typeface="Lucida Sans Unicode"/>
                <a:cs typeface="Lucida Sans Unicode"/>
              </a:rPr>
              <a:t>des</a:t>
            </a:r>
            <a:r>
              <a:rPr sz="2400" spc="46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jeux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vidéo.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2400" spc="-310" dirty="0">
                <a:solidFill>
                  <a:srgbClr val="666666"/>
                </a:solidFill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139285" y="8819169"/>
            <a:ext cx="759460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1145" dirty="0">
                <a:solidFill>
                  <a:srgbClr val="D7D7D7"/>
                </a:solidFill>
                <a:latin typeface="Arial Black"/>
                <a:cs typeface="Arial Black"/>
              </a:rPr>
              <a:t>31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2613" y="4794885"/>
            <a:ext cx="17138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006066"/>
                </a:solidFill>
                <a:latin typeface="Arial Black"/>
                <a:cs typeface="Arial Black"/>
              </a:rPr>
              <a:t>Devoir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11B77CAB-C952-8CA0-8CB9-FB3560F17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"/>
            <a:ext cx="18288000" cy="10285730"/>
            <a:chOff x="0" y="62"/>
            <a:chExt cx="18288000" cy="1028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"/>
              <a:ext cx="18288000" cy="10285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67778" y="1811909"/>
              <a:ext cx="6659880" cy="6660515"/>
            </a:xfrm>
            <a:custGeom>
              <a:avLst/>
              <a:gdLst/>
              <a:ahLst/>
              <a:cxnLst/>
              <a:rect l="l" t="t" r="r" b="b"/>
              <a:pathLst>
                <a:path w="6659880" h="6660515">
                  <a:moveTo>
                    <a:pt x="3329901" y="0"/>
                  </a:moveTo>
                  <a:lnTo>
                    <a:pt x="0" y="3329940"/>
                  </a:lnTo>
                  <a:lnTo>
                    <a:pt x="3329901" y="6660007"/>
                  </a:lnTo>
                  <a:lnTo>
                    <a:pt x="6659841" y="3329940"/>
                  </a:lnTo>
                  <a:lnTo>
                    <a:pt x="3329901" y="0"/>
                  </a:lnTo>
                  <a:close/>
                </a:path>
              </a:pathLst>
            </a:custGeom>
            <a:solidFill>
              <a:srgbClr val="3B3B3B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6027" y="2330196"/>
              <a:ext cx="5623560" cy="5623560"/>
            </a:xfrm>
            <a:custGeom>
              <a:avLst/>
              <a:gdLst/>
              <a:ahLst/>
              <a:cxnLst/>
              <a:rect l="l" t="t" r="r" b="b"/>
              <a:pathLst>
                <a:path w="5623559" h="5623559">
                  <a:moveTo>
                    <a:pt x="2811653" y="0"/>
                  </a:moveTo>
                  <a:lnTo>
                    <a:pt x="0" y="2811653"/>
                  </a:lnTo>
                  <a:lnTo>
                    <a:pt x="2811653" y="5623433"/>
                  </a:lnTo>
                  <a:lnTo>
                    <a:pt x="5623306" y="2811653"/>
                  </a:lnTo>
                  <a:lnTo>
                    <a:pt x="281165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36951" y="4718684"/>
            <a:ext cx="35236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220" dirty="0">
                <a:solidFill>
                  <a:srgbClr val="FFFFFF"/>
                </a:solidFill>
                <a:latin typeface="Arial Black"/>
                <a:cs typeface="Arial Black"/>
              </a:rPr>
              <a:t>Outils</a:t>
            </a:r>
            <a:r>
              <a:rPr sz="4400" b="0" spc="-3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400" b="0" spc="-9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4400" b="0" spc="-3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400" b="0" spc="-275" dirty="0">
                <a:solidFill>
                  <a:srgbClr val="FFFFFF"/>
                </a:solidFill>
                <a:latin typeface="Arial Black"/>
                <a:cs typeface="Arial Black"/>
              </a:rPr>
              <a:t>l’IA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215765">
              <a:lnSpc>
                <a:spcPct val="100000"/>
              </a:lnSpc>
              <a:spcBef>
                <a:spcPts val="100"/>
              </a:spcBef>
            </a:pPr>
            <a:r>
              <a:rPr sz="5400" b="0" spc="-265" dirty="0">
                <a:solidFill>
                  <a:srgbClr val="006066"/>
                </a:solidFill>
                <a:latin typeface="Arial Black"/>
                <a:cs typeface="Arial Black"/>
              </a:rPr>
              <a:t>Outils</a:t>
            </a:r>
            <a:r>
              <a:rPr sz="5400" b="0" spc="-50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5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65" dirty="0">
                <a:solidFill>
                  <a:srgbClr val="006066"/>
                </a:solidFill>
                <a:latin typeface="Arial Black"/>
                <a:cs typeface="Arial Black"/>
              </a:rPr>
              <a:t>l’</a:t>
            </a:r>
            <a:r>
              <a:rPr sz="5400" b="0" spc="-4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500" dirty="0">
                <a:solidFill>
                  <a:srgbClr val="006066"/>
                </a:solidFill>
                <a:latin typeface="Arial Black"/>
                <a:cs typeface="Arial Black"/>
              </a:rPr>
              <a:t>IA</a:t>
            </a:r>
            <a:endParaRPr sz="5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357" y="2605785"/>
            <a:ext cx="11096625" cy="421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outils </a:t>
            </a:r>
            <a:r>
              <a:rPr sz="2400" spc="-55" dirty="0">
                <a:solidFill>
                  <a:srgbClr val="15171A"/>
                </a:solidFill>
                <a:latin typeface="Lucida Sans Unicode"/>
                <a:cs typeface="Lucida Sans Unicode"/>
              </a:rPr>
              <a:t>d'IA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révolutionnent</a:t>
            </a:r>
            <a:r>
              <a:rPr sz="2400" spc="-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pratiques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et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améliorent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15171A"/>
                </a:solidFill>
                <a:latin typeface="Lucida Sans Unicode"/>
                <a:cs typeface="Lucida Sans Unicode"/>
              </a:rPr>
              <a:t>la</a:t>
            </a:r>
            <a:r>
              <a:rPr sz="2400" spc="-1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productivité.</a:t>
            </a:r>
            <a:endParaRPr sz="2400">
              <a:latin typeface="Lucida Sans Unicode"/>
              <a:cs typeface="Lucida Sans Unicode"/>
            </a:endParaRPr>
          </a:p>
          <a:p>
            <a:pPr marL="354965" indent="-34226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14" dirty="0">
                <a:solidFill>
                  <a:srgbClr val="15171A"/>
                </a:solidFill>
                <a:latin typeface="Lucida Sans Unicode"/>
                <a:cs typeface="Lucida Sans Unicode"/>
              </a:rPr>
              <a:t>Il</a:t>
            </a:r>
            <a:r>
              <a:rPr sz="2400" spc="-1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existe</a:t>
            </a:r>
            <a:r>
              <a:rPr sz="2400" spc="-1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15171A"/>
                </a:solidFill>
                <a:latin typeface="Lucida Sans Unicode"/>
                <a:cs typeface="Lucida Sans Unicode"/>
              </a:rPr>
              <a:t>une</a:t>
            </a:r>
            <a:r>
              <a:rPr sz="2400" spc="-1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5171A"/>
                </a:solidFill>
                <a:latin typeface="Lucida Sans Unicode"/>
                <a:cs typeface="Lucida Sans Unicode"/>
              </a:rPr>
              <a:t>variété</a:t>
            </a:r>
            <a:r>
              <a:rPr sz="2400" spc="-114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30" dirty="0">
                <a:solidFill>
                  <a:srgbClr val="15171A"/>
                </a:solidFill>
                <a:latin typeface="Lucida Sans Unicode"/>
                <a:cs typeface="Lucida Sans Unicode"/>
              </a:rPr>
              <a:t>d’outils</a:t>
            </a:r>
            <a:r>
              <a:rPr sz="2400" spc="-1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d’IA: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15171A"/>
              </a:buClr>
              <a:buFont typeface="Arial MT"/>
              <a:buChar char="•"/>
            </a:pPr>
            <a:endParaRPr sz="2400">
              <a:latin typeface="Lucida Sans Unicode"/>
              <a:cs typeface="Lucida Sans Unicode"/>
            </a:endParaRPr>
          </a:p>
          <a:p>
            <a:pPr marL="937260" lvl="1" indent="-243204">
              <a:lnSpc>
                <a:spcPct val="100000"/>
              </a:lnSpc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1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outils</a:t>
            </a:r>
            <a:r>
              <a:rPr sz="2400" spc="-1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2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5171A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-114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texte</a:t>
            </a:r>
            <a:endParaRPr sz="2400">
              <a:latin typeface="Lucida Sans Unicode"/>
              <a:cs typeface="Lucida Sans Unicode"/>
            </a:endParaRPr>
          </a:p>
          <a:p>
            <a:pPr marL="937260" lvl="1" indent="-243204">
              <a:lnSpc>
                <a:spcPct val="100000"/>
              </a:lnSpc>
              <a:spcBef>
                <a:spcPts val="505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1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outils</a:t>
            </a:r>
            <a:r>
              <a:rPr sz="2400" spc="-1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5171A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-114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15171A"/>
                </a:solidFill>
                <a:latin typeface="Lucida Sans Unicode"/>
                <a:cs typeface="Lucida Sans Unicode"/>
              </a:rPr>
              <a:t>d’image</a:t>
            </a:r>
            <a:endParaRPr sz="2400">
              <a:latin typeface="Lucida Sans Unicode"/>
              <a:cs typeface="Lucida Sans Unicode"/>
            </a:endParaRPr>
          </a:p>
          <a:p>
            <a:pPr marL="937260" lvl="1" indent="-243204">
              <a:lnSpc>
                <a:spcPct val="100000"/>
              </a:lnSpc>
              <a:spcBef>
                <a:spcPts val="515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1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outils</a:t>
            </a:r>
            <a:r>
              <a:rPr sz="2400" spc="-1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15171A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-1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5171A"/>
                </a:solidFill>
                <a:latin typeface="Lucida Sans Unicode"/>
                <a:cs typeface="Lucida Sans Unicode"/>
              </a:rPr>
              <a:t>vidéo</a:t>
            </a:r>
            <a:endParaRPr sz="2400">
              <a:latin typeface="Lucida Sans Unicode"/>
              <a:cs typeface="Lucida Sans Unicode"/>
            </a:endParaRPr>
          </a:p>
          <a:p>
            <a:pPr marL="937260" lvl="1" indent="-243204">
              <a:lnSpc>
                <a:spcPct val="100000"/>
              </a:lnSpc>
              <a:spcBef>
                <a:spcPts val="520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1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outils</a:t>
            </a:r>
            <a:r>
              <a:rPr sz="2400" spc="-1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2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5171A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-114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présentation</a:t>
            </a:r>
            <a:endParaRPr sz="2400">
              <a:latin typeface="Lucida Sans Unicode"/>
              <a:cs typeface="Lucida Sans Unicode"/>
            </a:endParaRPr>
          </a:p>
          <a:p>
            <a:pPr marL="937260" lvl="1" indent="-243204">
              <a:lnSpc>
                <a:spcPct val="100000"/>
              </a:lnSpc>
              <a:spcBef>
                <a:spcPts val="500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13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outils</a:t>
            </a:r>
            <a:r>
              <a:rPr sz="2400" spc="-14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2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15171A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-114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3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15171A"/>
                </a:solidFill>
                <a:latin typeface="Lucida Sans Unicode"/>
                <a:cs typeface="Lucida Sans Unicode"/>
              </a:rPr>
              <a:t>code</a:t>
            </a:r>
            <a:endParaRPr sz="2400">
              <a:latin typeface="Lucida Sans Unicode"/>
              <a:cs typeface="Lucida Sans Unicode"/>
            </a:endParaRPr>
          </a:p>
          <a:p>
            <a:pPr marL="937260" lvl="1" indent="-243204">
              <a:lnSpc>
                <a:spcPct val="100000"/>
              </a:lnSpc>
              <a:spcBef>
                <a:spcPts val="520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sz="2400" spc="-10" dirty="0">
                <a:solidFill>
                  <a:srgbClr val="15171A"/>
                </a:solidFill>
                <a:latin typeface="Lucida Sans Unicode"/>
                <a:cs typeface="Lucida Sans Unicode"/>
              </a:rPr>
              <a:t>Les</a:t>
            </a:r>
            <a:r>
              <a:rPr sz="2400" spc="-20" dirty="0">
                <a:solidFill>
                  <a:srgbClr val="15171A"/>
                </a:solidFill>
                <a:latin typeface="Lucida Sans Unicode"/>
                <a:cs typeface="Lucida Sans Unicode"/>
              </a:rPr>
              <a:t> outils</a:t>
            </a:r>
            <a:r>
              <a:rPr sz="2400" spc="-2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-75" dirty="0">
                <a:solidFill>
                  <a:srgbClr val="15171A"/>
                </a:solidFill>
                <a:latin typeface="Lucida Sans Unicode"/>
                <a:cs typeface="Lucida Sans Unicode"/>
              </a:rPr>
              <a:t>d’</a:t>
            </a:r>
            <a:r>
              <a:rPr sz="2400" spc="-1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15171A"/>
                </a:solidFill>
                <a:latin typeface="Lucida Sans Unicode"/>
                <a:cs typeface="Lucida Sans Unicode"/>
              </a:rPr>
              <a:t>amélioration</a:t>
            </a:r>
            <a:r>
              <a:rPr sz="2400" spc="20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15171A"/>
                </a:solidFill>
                <a:latin typeface="Lucida Sans Unicode"/>
                <a:cs typeface="Lucida Sans Unicode"/>
              </a:rPr>
              <a:t>de</a:t>
            </a:r>
            <a:r>
              <a:rPr sz="2400" spc="-15" dirty="0">
                <a:solidFill>
                  <a:srgbClr val="15171A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15171A"/>
                </a:solidFill>
                <a:latin typeface="Lucida Sans Unicode"/>
                <a:cs typeface="Lucida Sans Unicode"/>
              </a:rPr>
              <a:t>prompts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323" y="1792604"/>
            <a:ext cx="5083810" cy="1443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5585"/>
              </a:lnSpc>
              <a:spcBef>
                <a:spcPts val="95"/>
              </a:spcBef>
            </a:pPr>
            <a:r>
              <a:rPr b="0" spc="-54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b="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b="0" spc="-160" dirty="0">
                <a:solidFill>
                  <a:srgbClr val="006066"/>
                </a:solidFill>
                <a:latin typeface="Arial Black"/>
                <a:cs typeface="Arial Black"/>
              </a:rPr>
              <a:t>générateurs</a:t>
            </a:r>
            <a:endParaRPr b="0" spc="-160" dirty="0">
              <a:solidFill>
                <a:srgbClr val="006066"/>
              </a:solidFill>
              <a:latin typeface="Arial Black"/>
              <a:cs typeface="Arial Black"/>
            </a:endParaRPr>
          </a:p>
          <a:p>
            <a:pPr marR="5080" algn="r">
              <a:lnSpc>
                <a:spcPts val="5585"/>
              </a:lnSpc>
            </a:pPr>
            <a:r>
              <a:rPr b="0" spc="-10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b="0" spc="-45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b="0" spc="-350" dirty="0">
                <a:solidFill>
                  <a:srgbClr val="006066"/>
                </a:solidFill>
                <a:latin typeface="Arial Black"/>
                <a:cs typeface="Arial Black"/>
              </a:rPr>
              <a:t>texte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35393" y="2130932"/>
            <a:ext cx="105644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outils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génération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 de</a:t>
            </a:r>
            <a:r>
              <a:rPr sz="2800" spc="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texte</a:t>
            </a:r>
            <a:r>
              <a:rPr sz="28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utilisent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1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modèles</a:t>
            </a:r>
            <a:r>
              <a:rPr sz="2800" spc="1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60" dirty="0">
                <a:solidFill>
                  <a:srgbClr val="3B3B3B"/>
                </a:solidFill>
                <a:latin typeface="Lucida Sans Unicode"/>
                <a:cs typeface="Lucida Sans Unicode"/>
              </a:rPr>
              <a:t>(la 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machine</a:t>
            </a:r>
            <a:r>
              <a:rPr sz="2800" spc="-1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80" dirty="0">
                <a:solidFill>
                  <a:srgbClr val="3B3B3B"/>
                </a:solidFill>
                <a:latin typeface="Lucida Sans Unicode"/>
                <a:cs typeface="Lucida Sans Unicode"/>
              </a:rPr>
              <a:t>«</a:t>
            </a:r>
            <a:r>
              <a:rPr sz="2800" spc="-1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apprend</a:t>
            </a:r>
            <a:r>
              <a:rPr sz="2800" spc="-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»)</a:t>
            </a:r>
            <a:r>
              <a:rPr sz="28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800" spc="-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créer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du</a:t>
            </a:r>
            <a:r>
              <a:rPr sz="2800" spc="-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contenu</a:t>
            </a:r>
            <a:r>
              <a:rPr sz="28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textuel.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0119" y="5889497"/>
            <a:ext cx="41040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0" dirty="0">
                <a:solidFill>
                  <a:srgbClr val="3B3B3B"/>
                </a:solidFill>
                <a:latin typeface="Arial Black"/>
                <a:cs typeface="Arial Black"/>
              </a:rPr>
              <a:t>Exemple:</a:t>
            </a:r>
            <a:r>
              <a:rPr sz="2400" spc="-7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i="1" spc="-40" dirty="0">
                <a:solidFill>
                  <a:srgbClr val="3B3B3B"/>
                </a:solidFill>
                <a:latin typeface="Verdana"/>
                <a:cs typeface="Verdana"/>
              </a:rPr>
              <a:t>ChatGPT,</a:t>
            </a:r>
            <a:r>
              <a:rPr sz="2400" i="1" spc="-110" dirty="0">
                <a:solidFill>
                  <a:srgbClr val="3B3B3B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3B3B3B"/>
                </a:solidFill>
                <a:latin typeface="Verdana"/>
                <a:cs typeface="Verdana"/>
              </a:rPr>
              <a:t>Gemini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3927" y="1846910"/>
            <a:ext cx="5083810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r">
              <a:lnSpc>
                <a:spcPts val="5585"/>
              </a:lnSpc>
              <a:spcBef>
                <a:spcPts val="95"/>
              </a:spcBef>
            </a:pPr>
            <a:r>
              <a:rPr b="0" spc="-54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b="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b="0" spc="-160" dirty="0">
                <a:solidFill>
                  <a:srgbClr val="006066"/>
                </a:solidFill>
                <a:latin typeface="Arial Black"/>
                <a:cs typeface="Arial Black"/>
              </a:rPr>
              <a:t>générateurs d’images</a:t>
            </a:r>
            <a:endParaRPr b="0" spc="-10" dirty="0">
              <a:solidFill>
                <a:srgbClr val="006066"/>
              </a:solidFill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0481" y="1639062"/>
            <a:ext cx="9146540" cy="2499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indent="-4552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outils</a:t>
            </a:r>
            <a:r>
              <a:rPr sz="28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génération</a:t>
            </a:r>
            <a:r>
              <a:rPr sz="28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d'images</a:t>
            </a:r>
            <a:r>
              <a:rPr sz="28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utilisent</a:t>
            </a:r>
            <a:r>
              <a:rPr sz="28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endParaRPr sz="2800">
              <a:latin typeface="Lucida Sans Unicode"/>
              <a:cs typeface="Lucida Sans Unicode"/>
            </a:endParaRPr>
          </a:p>
          <a:p>
            <a:pPr marL="469900" marR="5080" algn="just">
              <a:lnSpc>
                <a:spcPct val="160000"/>
              </a:lnSpc>
            </a:pP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réseaux</a:t>
            </a:r>
            <a:r>
              <a:rPr sz="2800" spc="5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5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neurones</a:t>
            </a:r>
            <a:r>
              <a:rPr sz="2800" spc="5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800" spc="5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créer</a:t>
            </a:r>
            <a:r>
              <a:rPr sz="2800" spc="5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5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images</a:t>
            </a:r>
            <a:r>
              <a:rPr sz="2800" spc="5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275" dirty="0">
                <a:solidFill>
                  <a:srgbClr val="3B3B3B"/>
                </a:solidFill>
                <a:latin typeface="Lucida Sans Unicode"/>
                <a:cs typeface="Lucida Sans Unicode"/>
              </a:rPr>
              <a:t>à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partir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descriptions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70" dirty="0">
                <a:solidFill>
                  <a:srgbClr val="3B3B3B"/>
                </a:solidFill>
                <a:latin typeface="Lucida Sans Unicode"/>
                <a:cs typeface="Lucida Sans Unicode"/>
              </a:rPr>
              <a:t>(via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prompts)</a:t>
            </a:r>
            <a:r>
              <a:rPr sz="28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ou</a:t>
            </a:r>
            <a:r>
              <a:rPr sz="28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pour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retoucher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photos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automatiquement.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6845" y="6232652"/>
            <a:ext cx="6149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3B3B3B"/>
                </a:solidFill>
                <a:latin typeface="Arial Black"/>
                <a:cs typeface="Arial Black"/>
              </a:rPr>
              <a:t>Exemple:</a:t>
            </a:r>
            <a:r>
              <a:rPr sz="2400" spc="-6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NightCafe</a:t>
            </a:r>
            <a:r>
              <a:rPr sz="24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Creator</a:t>
            </a:r>
            <a:r>
              <a:rPr sz="2400" i="1" dirty="0">
                <a:solidFill>
                  <a:srgbClr val="3B3B3B"/>
                </a:solidFill>
                <a:latin typeface="Verdana"/>
                <a:cs typeface="Verdana"/>
              </a:rPr>
              <a:t>,</a:t>
            </a:r>
            <a:r>
              <a:rPr sz="2400" i="1" spc="-85" dirty="0">
                <a:solidFill>
                  <a:srgbClr val="3B3B3B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Midjourney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5346" y="2202941"/>
            <a:ext cx="5085080" cy="1443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0" algn="r">
              <a:lnSpc>
                <a:spcPts val="5585"/>
              </a:lnSpc>
              <a:spcBef>
                <a:spcPts val="95"/>
              </a:spcBef>
            </a:pPr>
            <a:r>
              <a:rPr b="0" spc="-54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b="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b="0" spc="-160" dirty="0">
                <a:solidFill>
                  <a:srgbClr val="006066"/>
                </a:solidFill>
                <a:latin typeface="Arial Black"/>
                <a:cs typeface="Arial Black"/>
              </a:rPr>
              <a:t>générateurs</a:t>
            </a:r>
            <a:endParaRPr b="0" spc="-160" dirty="0">
              <a:solidFill>
                <a:srgbClr val="006066"/>
              </a:solidFill>
              <a:latin typeface="Arial Black"/>
              <a:cs typeface="Arial Black"/>
            </a:endParaRPr>
          </a:p>
          <a:p>
            <a:pPr marR="5080" algn="r">
              <a:lnSpc>
                <a:spcPts val="5585"/>
              </a:lnSpc>
            </a:pPr>
            <a:r>
              <a:rPr b="0" spc="-10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b="0" spc="-45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b="0" spc="-20" dirty="0">
                <a:solidFill>
                  <a:srgbClr val="006066"/>
                </a:solidFill>
                <a:latin typeface="Arial Black"/>
                <a:cs typeface="Arial Black"/>
              </a:rPr>
              <a:t>vidéo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6985" indent="-34163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Les</a:t>
            </a:r>
            <a:r>
              <a:rPr spc="425" dirty="0"/>
              <a:t> </a:t>
            </a:r>
            <a:r>
              <a:rPr dirty="0"/>
              <a:t>outils</a:t>
            </a:r>
            <a:r>
              <a:rPr spc="434" dirty="0"/>
              <a:t> </a:t>
            </a:r>
            <a:r>
              <a:rPr spc="135" dirty="0"/>
              <a:t>de</a:t>
            </a:r>
            <a:r>
              <a:rPr spc="420" dirty="0"/>
              <a:t> </a:t>
            </a:r>
            <a:r>
              <a:rPr spc="60" dirty="0"/>
              <a:t>génération</a:t>
            </a:r>
            <a:r>
              <a:rPr spc="434" dirty="0"/>
              <a:t> </a:t>
            </a:r>
            <a:r>
              <a:rPr spc="135" dirty="0"/>
              <a:t>de</a:t>
            </a:r>
            <a:r>
              <a:rPr spc="420" dirty="0"/>
              <a:t> </a:t>
            </a:r>
            <a:r>
              <a:rPr spc="60" dirty="0"/>
              <a:t>vidéos</a:t>
            </a:r>
            <a:r>
              <a:rPr spc="430" dirty="0"/>
              <a:t> </a:t>
            </a:r>
            <a:r>
              <a:rPr dirty="0"/>
              <a:t>utilisent</a:t>
            </a:r>
            <a:r>
              <a:rPr spc="434" dirty="0"/>
              <a:t> </a:t>
            </a:r>
            <a:r>
              <a:rPr spc="-55" dirty="0"/>
              <a:t>l'IA 	</a:t>
            </a:r>
            <a:r>
              <a:rPr dirty="0"/>
              <a:t>pour</a:t>
            </a:r>
            <a:r>
              <a:rPr spc="-60" dirty="0"/>
              <a:t>  </a:t>
            </a:r>
            <a:r>
              <a:rPr spc="70" dirty="0"/>
              <a:t>créer</a:t>
            </a:r>
            <a:r>
              <a:rPr spc="-50" dirty="0"/>
              <a:t>  </a:t>
            </a:r>
            <a:r>
              <a:rPr spc="110" dirty="0"/>
              <a:t>des</a:t>
            </a:r>
            <a:r>
              <a:rPr spc="-50" dirty="0"/>
              <a:t>  </a:t>
            </a:r>
            <a:r>
              <a:rPr spc="55" dirty="0"/>
              <a:t>vidéos</a:t>
            </a:r>
            <a:r>
              <a:rPr spc="-50" dirty="0"/>
              <a:t>  </a:t>
            </a:r>
            <a:r>
              <a:rPr spc="325" dirty="0"/>
              <a:t>à</a:t>
            </a:r>
            <a:r>
              <a:rPr spc="-60" dirty="0"/>
              <a:t>  </a:t>
            </a:r>
            <a:r>
              <a:rPr dirty="0"/>
              <a:t>partir</a:t>
            </a:r>
            <a:r>
              <a:rPr spc="-55" dirty="0"/>
              <a:t>  </a:t>
            </a:r>
            <a:r>
              <a:rPr spc="135" dirty="0"/>
              <a:t>de</a:t>
            </a:r>
            <a:r>
              <a:rPr spc="-60" dirty="0"/>
              <a:t>  </a:t>
            </a:r>
            <a:r>
              <a:rPr spc="95" dirty="0"/>
              <a:t>séquences 	</a:t>
            </a:r>
            <a:r>
              <a:rPr dirty="0"/>
              <a:t>d'images,</a:t>
            </a:r>
            <a:r>
              <a:rPr spc="180" dirty="0"/>
              <a:t> </a:t>
            </a:r>
            <a:r>
              <a:rPr spc="135" dirty="0"/>
              <a:t>de</a:t>
            </a:r>
            <a:r>
              <a:rPr spc="180" dirty="0"/>
              <a:t> </a:t>
            </a:r>
            <a:r>
              <a:rPr spc="-10" dirty="0"/>
              <a:t>textes,</a:t>
            </a:r>
            <a:r>
              <a:rPr spc="185" dirty="0"/>
              <a:t> </a:t>
            </a:r>
            <a:r>
              <a:rPr dirty="0"/>
              <a:t>d’audio,</a:t>
            </a:r>
            <a:r>
              <a:rPr spc="185" dirty="0"/>
              <a:t> </a:t>
            </a:r>
            <a:r>
              <a:rPr dirty="0"/>
              <a:t>ou</a:t>
            </a:r>
            <a:r>
              <a:rPr spc="180" dirty="0"/>
              <a:t> </a:t>
            </a:r>
            <a:r>
              <a:rPr spc="135" dirty="0"/>
              <a:t>de</a:t>
            </a:r>
            <a:r>
              <a:rPr spc="180" dirty="0"/>
              <a:t> </a:t>
            </a:r>
            <a:r>
              <a:rPr spc="-10" dirty="0"/>
              <a:t>descriptions 	textuelles.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355600" algn="l"/>
                <a:tab pos="448309" algn="l"/>
              </a:tabLst>
            </a:pPr>
            <a:r>
              <a:rPr dirty="0"/>
              <a:t>	Le</a:t>
            </a:r>
            <a:r>
              <a:rPr spc="650" dirty="0"/>
              <a:t>  </a:t>
            </a:r>
            <a:r>
              <a:rPr spc="60" dirty="0"/>
              <a:t>processus</a:t>
            </a:r>
            <a:r>
              <a:rPr spc="655" dirty="0"/>
              <a:t>  </a:t>
            </a:r>
            <a:r>
              <a:rPr spc="135" dirty="0"/>
              <a:t>de</a:t>
            </a:r>
            <a:r>
              <a:rPr spc="650" dirty="0"/>
              <a:t>  </a:t>
            </a:r>
            <a:r>
              <a:rPr spc="70" dirty="0"/>
              <a:t>création</a:t>
            </a:r>
            <a:r>
              <a:rPr spc="650" dirty="0"/>
              <a:t>  </a:t>
            </a:r>
            <a:r>
              <a:rPr spc="135" dirty="0"/>
              <a:t>de</a:t>
            </a:r>
            <a:r>
              <a:rPr spc="645" dirty="0"/>
              <a:t>  </a:t>
            </a:r>
            <a:r>
              <a:rPr spc="60" dirty="0"/>
              <a:t>vidéos</a:t>
            </a:r>
            <a:r>
              <a:rPr spc="655" dirty="0"/>
              <a:t>  </a:t>
            </a:r>
            <a:r>
              <a:rPr spc="75" dirty="0"/>
              <a:t>se </a:t>
            </a:r>
            <a:r>
              <a:rPr spc="100" dirty="0"/>
              <a:t>rapproche</a:t>
            </a:r>
            <a:r>
              <a:rPr spc="-95" dirty="0"/>
              <a:t> </a:t>
            </a:r>
            <a:r>
              <a:rPr spc="135" dirty="0"/>
              <a:t>de</a:t>
            </a:r>
            <a:r>
              <a:rPr spc="-110" dirty="0"/>
              <a:t> </a:t>
            </a:r>
            <a:r>
              <a:rPr dirty="0"/>
              <a:t>celui</a:t>
            </a:r>
            <a:r>
              <a:rPr spc="-75" dirty="0"/>
              <a:t> </a:t>
            </a:r>
            <a:r>
              <a:rPr spc="110" dirty="0"/>
              <a:t>des</a:t>
            </a:r>
            <a:r>
              <a:rPr spc="-95" dirty="0"/>
              <a:t> </a:t>
            </a:r>
            <a:r>
              <a:rPr spc="-100" dirty="0"/>
              <a:t>IA</a:t>
            </a:r>
            <a:r>
              <a:rPr spc="-90" dirty="0"/>
              <a:t> </a:t>
            </a:r>
            <a:r>
              <a:rPr spc="70" dirty="0"/>
              <a:t>génératives</a:t>
            </a:r>
            <a:r>
              <a:rPr spc="-65" dirty="0"/>
              <a:t> </a:t>
            </a:r>
            <a:r>
              <a:rPr spc="-10" dirty="0"/>
              <a:t>d’images.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6845" y="6232652"/>
            <a:ext cx="4039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3B3B3B"/>
                </a:solidFill>
                <a:latin typeface="Arial Black"/>
                <a:cs typeface="Arial Black"/>
              </a:rPr>
              <a:t>Exemple:</a:t>
            </a:r>
            <a:r>
              <a:rPr sz="2400" spc="-9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InVideo,</a:t>
            </a:r>
            <a:r>
              <a:rPr sz="2400" spc="-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Lumen5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25346" y="2202941"/>
            <a:ext cx="5085080" cy="2136482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1275" marR="5080" indent="-29209">
              <a:lnSpc>
                <a:spcPts val="5290"/>
              </a:lnSpc>
              <a:spcBef>
                <a:spcPts val="760"/>
              </a:spcBef>
            </a:pPr>
            <a:r>
              <a:rPr sz="4900" spc="-54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490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4900" spc="-165" dirty="0">
                <a:solidFill>
                  <a:srgbClr val="006066"/>
                </a:solidFill>
                <a:latin typeface="Arial Black"/>
                <a:cs typeface="Arial Black"/>
              </a:rPr>
              <a:t>générateurs </a:t>
            </a:r>
            <a:r>
              <a:rPr sz="4900" spc="-10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4900" spc="-45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4900" spc="-185" dirty="0">
                <a:solidFill>
                  <a:srgbClr val="006066"/>
                </a:solidFill>
                <a:latin typeface="Arial Black"/>
                <a:cs typeface="Arial Black"/>
              </a:rPr>
              <a:t>présentations</a:t>
            </a:r>
            <a:endParaRPr sz="49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6483" y="1772488"/>
            <a:ext cx="8198484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5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outils</a:t>
            </a:r>
            <a:r>
              <a:rPr sz="2400" spc="5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5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5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5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présentations</a:t>
            </a:r>
            <a:r>
              <a:rPr sz="2400" spc="5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aident</a:t>
            </a:r>
            <a:r>
              <a:rPr sz="2400" spc="5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85" dirty="0">
                <a:solidFill>
                  <a:srgbClr val="3B3B3B"/>
                </a:solidFill>
                <a:latin typeface="Lucida Sans Unicode"/>
                <a:cs typeface="Lucida Sans Unicode"/>
              </a:rPr>
              <a:t>à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créer</a:t>
            </a:r>
            <a:r>
              <a:rPr sz="2400" spc="3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3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4" dirty="0">
                <a:solidFill>
                  <a:srgbClr val="3B3B3B"/>
                </a:solidFill>
                <a:latin typeface="Lucida Sans Unicode"/>
                <a:cs typeface="Lucida Sans Unicode"/>
              </a:rPr>
              <a:t>diaporamas</a:t>
            </a:r>
            <a:r>
              <a:rPr sz="2400" spc="32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3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utilisant</a:t>
            </a:r>
            <a:r>
              <a:rPr sz="2400" spc="3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3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algorithmes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d'intelligence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artificielle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créer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automatiquement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4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contenu</a:t>
            </a:r>
            <a:r>
              <a:rPr sz="2400" spc="4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4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partir</a:t>
            </a:r>
            <a:r>
              <a:rPr sz="2400" spc="4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40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descriptions</a:t>
            </a:r>
            <a:r>
              <a:rPr sz="2400" spc="4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textuelles</a:t>
            </a:r>
            <a:r>
              <a:rPr sz="2400" spc="4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</a:t>
            </a:r>
            <a:r>
              <a:rPr sz="2400" spc="4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données</a:t>
            </a:r>
            <a:r>
              <a:rPr sz="24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brutes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6845" y="6232652"/>
            <a:ext cx="3220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3B3B3B"/>
                </a:solidFill>
                <a:latin typeface="Arial Black"/>
                <a:cs typeface="Arial Black"/>
              </a:rPr>
              <a:t>Exemple:</a:t>
            </a:r>
            <a:r>
              <a:rPr sz="2400" spc="-45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Beautiful.ai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5346" y="2202941"/>
            <a:ext cx="5083175" cy="1443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5585"/>
              </a:lnSpc>
              <a:spcBef>
                <a:spcPts val="95"/>
              </a:spcBef>
            </a:pPr>
            <a:r>
              <a:rPr b="0" spc="-540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b="0" spc="-47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b="0" spc="-160" dirty="0">
                <a:solidFill>
                  <a:srgbClr val="006066"/>
                </a:solidFill>
                <a:latin typeface="Arial Black"/>
                <a:cs typeface="Arial Black"/>
              </a:rPr>
              <a:t>générateurs</a:t>
            </a:r>
            <a:endParaRPr b="0" spc="-160" dirty="0">
              <a:solidFill>
                <a:srgbClr val="006066"/>
              </a:solidFill>
              <a:latin typeface="Arial Black"/>
              <a:cs typeface="Arial Black"/>
            </a:endParaRPr>
          </a:p>
          <a:p>
            <a:pPr marR="5080" algn="r">
              <a:lnSpc>
                <a:spcPts val="5585"/>
              </a:lnSpc>
            </a:pPr>
            <a:r>
              <a:rPr b="0" spc="-105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b="0" spc="-459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b="0" spc="-20" dirty="0">
                <a:solidFill>
                  <a:srgbClr val="006066"/>
                </a:solidFill>
                <a:latin typeface="Arial Black"/>
                <a:cs typeface="Arial Black"/>
              </a:rPr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6483" y="1353439"/>
            <a:ext cx="820039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5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outils</a:t>
            </a:r>
            <a:r>
              <a:rPr sz="2400" spc="5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5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génération</a:t>
            </a:r>
            <a:r>
              <a:rPr sz="2400" spc="5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5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0" dirty="0">
                <a:solidFill>
                  <a:srgbClr val="3B3B3B"/>
                </a:solidFill>
                <a:latin typeface="Lucida Sans Unicode"/>
                <a:cs typeface="Lucida Sans Unicode"/>
              </a:rPr>
              <a:t>code</a:t>
            </a:r>
            <a:r>
              <a:rPr sz="2400" spc="5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permettent</a:t>
            </a:r>
            <a:r>
              <a:rPr sz="2400" spc="5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 	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générer</a:t>
            </a:r>
            <a:r>
              <a:rPr sz="2400" spc="3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automatiquement</a:t>
            </a:r>
            <a:r>
              <a:rPr sz="2400" spc="4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du</a:t>
            </a:r>
            <a:r>
              <a:rPr sz="2400" spc="3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code</a:t>
            </a:r>
            <a:r>
              <a:rPr sz="2400" spc="3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source</a:t>
            </a:r>
            <a:r>
              <a:rPr sz="2400" spc="3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4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se 	</a:t>
            </a:r>
            <a:r>
              <a:rPr sz="2400" spc="114" dirty="0">
                <a:solidFill>
                  <a:srgbClr val="3B3B3B"/>
                </a:solidFill>
                <a:latin typeface="Lucida Sans Unicode"/>
                <a:cs typeface="Lucida Sans Unicode"/>
              </a:rPr>
              <a:t>basant</a:t>
            </a:r>
            <a:r>
              <a:rPr sz="2400" spc="2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sur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2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modèles</a:t>
            </a:r>
            <a:r>
              <a:rPr sz="2400" spc="2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</a:t>
            </a:r>
            <a:r>
              <a:rPr sz="2400" spc="28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descriptions 	fonctionnelles.</a:t>
            </a:r>
            <a:endParaRPr sz="2400">
              <a:latin typeface="Lucida Sans Unicode"/>
              <a:cs typeface="Lucida Sans Unicode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Ils</a:t>
            </a:r>
            <a:r>
              <a:rPr sz="2400" spc="3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sont</a:t>
            </a:r>
            <a:r>
              <a:rPr sz="2400" spc="3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utilisés</a:t>
            </a:r>
            <a:r>
              <a:rPr sz="2400" spc="3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3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3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3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productivité</a:t>
            </a:r>
            <a:r>
              <a:rPr sz="2400" spc="3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des 	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développeurs</a:t>
            </a:r>
            <a:r>
              <a:rPr sz="2400" spc="30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31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automatiser</a:t>
            </a:r>
            <a:r>
              <a:rPr sz="2400" spc="30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certaines</a:t>
            </a:r>
            <a:r>
              <a:rPr sz="2400" spc="30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4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parties 	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répétitives</a:t>
            </a:r>
            <a:r>
              <a:rPr sz="2400" spc="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du</a:t>
            </a:r>
            <a:r>
              <a:rPr sz="2400" spc="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développement.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6845" y="6232652"/>
            <a:ext cx="3749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3B3B3B"/>
                </a:solidFill>
                <a:latin typeface="Arial Black"/>
                <a:cs typeface="Arial Black"/>
              </a:rPr>
              <a:t>Exemple:</a:t>
            </a:r>
            <a:r>
              <a:rPr sz="2400" spc="-70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GitHub</a:t>
            </a:r>
            <a:r>
              <a:rPr sz="24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Copilot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4890770">
              <a:lnSpc>
                <a:spcPct val="100000"/>
              </a:lnSpc>
              <a:spcBef>
                <a:spcPts val="100"/>
              </a:spcBef>
            </a:pPr>
            <a:r>
              <a:rPr sz="5400" b="0" spc="-265" dirty="0">
                <a:solidFill>
                  <a:srgbClr val="006066"/>
                </a:solidFill>
                <a:latin typeface="Arial Black"/>
                <a:cs typeface="Arial Black"/>
              </a:rPr>
              <a:t>Outils</a:t>
            </a:r>
            <a:r>
              <a:rPr sz="5400" b="0" spc="-50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5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340" dirty="0">
                <a:solidFill>
                  <a:srgbClr val="006066"/>
                </a:solidFill>
                <a:latin typeface="Arial Black"/>
                <a:cs typeface="Arial Black"/>
              </a:rPr>
              <a:t>l’IA</a:t>
            </a:r>
            <a:endParaRPr sz="5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7908" y="2640939"/>
            <a:ext cx="15849600" cy="75157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5440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707" y="378714"/>
            <a:ext cx="12931140" cy="983166"/>
          </a:xfrm>
          <a:prstGeom prst="rect">
            <a:avLst/>
          </a:prstGeom>
        </p:spPr>
        <p:txBody>
          <a:bodyPr vert="horz" wrap="square" lIns="0" tIns="1506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595" dirty="0">
                <a:solidFill>
                  <a:srgbClr val="006066"/>
                </a:solidFill>
                <a:latin typeface="Arial Black"/>
                <a:cs typeface="Arial Black"/>
              </a:rPr>
              <a:t>Les</a:t>
            </a:r>
            <a:r>
              <a:rPr sz="5400" b="0" spc="-50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60" dirty="0">
                <a:solidFill>
                  <a:srgbClr val="006066"/>
                </a:solidFill>
                <a:latin typeface="Arial Black"/>
                <a:cs typeface="Arial Black"/>
              </a:rPr>
              <a:t>outils</a:t>
            </a:r>
            <a:r>
              <a:rPr sz="5400" b="0" spc="-4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dirty="0">
                <a:solidFill>
                  <a:srgbClr val="006066"/>
                </a:solidFill>
                <a:latin typeface="Arial Black"/>
                <a:cs typeface="Arial Black"/>
              </a:rPr>
              <a:t>d’</a:t>
            </a:r>
            <a:r>
              <a:rPr sz="5400" b="0" spc="-4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lang="fr-FR" sz="5400" b="0" spc="-180" dirty="0">
                <a:solidFill>
                  <a:srgbClr val="006066"/>
                </a:solidFill>
                <a:latin typeface="Arial Black"/>
                <a:cs typeface="Arial Black"/>
              </a:rPr>
              <a:t>amélioration</a:t>
            </a:r>
            <a:r>
              <a:rPr sz="5400" b="0" spc="-48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14" dirty="0">
                <a:solidFill>
                  <a:srgbClr val="006066"/>
                </a:solidFill>
                <a:latin typeface="Arial Black"/>
                <a:cs typeface="Arial Black"/>
              </a:rPr>
              <a:t>de</a:t>
            </a:r>
            <a:r>
              <a:rPr sz="5400" b="0" spc="-49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10" dirty="0">
                <a:solidFill>
                  <a:srgbClr val="006066"/>
                </a:solidFill>
                <a:latin typeface="Arial Black"/>
                <a:cs typeface="Arial Black"/>
              </a:rPr>
              <a:t>prompts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9302" y="2685415"/>
            <a:ext cx="15186025" cy="624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Améliorer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prompt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consiste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personnaliser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optimiser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consignes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manière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maximiser</a:t>
            </a:r>
            <a:endParaRPr sz="240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725"/>
              </a:spcBef>
            </a:pP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qualité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réponses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générées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par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modèle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langage.</a:t>
            </a:r>
            <a:endParaRPr sz="2400">
              <a:latin typeface="Lucida Sans Unicode"/>
              <a:cs typeface="Lucida Sans Unicode"/>
            </a:endParaRPr>
          </a:p>
          <a:p>
            <a:pPr marL="353060" indent="-340360" algn="just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2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modèles</a:t>
            </a:r>
            <a:r>
              <a:rPr sz="2400" spc="2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d’IA</a:t>
            </a:r>
            <a:r>
              <a:rPr sz="2400" spc="2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qui</a:t>
            </a:r>
            <a:r>
              <a:rPr sz="2400" spc="2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améliorent</a:t>
            </a:r>
            <a:r>
              <a:rPr sz="2400" spc="22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2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prompts</a:t>
            </a:r>
            <a:r>
              <a:rPr sz="2400" spc="2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vont</a:t>
            </a:r>
            <a:r>
              <a:rPr sz="2400" spc="2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utiliser</a:t>
            </a:r>
            <a:r>
              <a:rPr sz="2400" spc="2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un</a:t>
            </a:r>
            <a:r>
              <a:rPr sz="2400" spc="22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processus</a:t>
            </a:r>
            <a:r>
              <a:rPr sz="2400" spc="22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itératif</a:t>
            </a:r>
            <a:r>
              <a:rPr sz="2400" spc="22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22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générant</a:t>
            </a:r>
            <a:r>
              <a:rPr sz="2400" spc="22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du</a:t>
            </a:r>
            <a:endParaRPr sz="240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730"/>
              </a:spcBef>
            </a:pP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texte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basé</a:t>
            </a:r>
            <a:r>
              <a:rPr sz="24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sur</a:t>
            </a:r>
            <a:r>
              <a:rPr sz="24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indications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fournies</a:t>
            </a:r>
            <a:r>
              <a:rPr sz="24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par</a:t>
            </a:r>
            <a:r>
              <a:rPr sz="24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l’utilisateur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4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20" dirty="0">
                <a:solidFill>
                  <a:srgbClr val="3B3B3B"/>
                </a:solidFill>
                <a:latin typeface="Arial Black"/>
                <a:cs typeface="Arial Black"/>
              </a:rPr>
              <a:t>Exemple</a:t>
            </a:r>
            <a:r>
              <a:rPr sz="2400" spc="-275" dirty="0">
                <a:solidFill>
                  <a:srgbClr val="3B3B3B"/>
                </a:solidFill>
                <a:latin typeface="Arial Black"/>
                <a:cs typeface="Arial Black"/>
              </a:rPr>
              <a:t> </a:t>
            </a:r>
            <a:r>
              <a:rPr sz="2400" spc="-254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4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LearnPrompting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353060" marR="5080" indent="-340360" algn="just">
              <a:lnSpc>
                <a:spcPct val="16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LearnPrompting.org</a:t>
            </a:r>
            <a:r>
              <a:rPr sz="24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est</a:t>
            </a:r>
            <a:r>
              <a:rPr sz="2400" spc="4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400" spc="48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plateforme</a:t>
            </a:r>
            <a:r>
              <a:rPr sz="24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ligne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développée</a:t>
            </a:r>
            <a:r>
              <a:rPr sz="24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par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l'Université</a:t>
            </a:r>
            <a:r>
              <a:rPr sz="2400" spc="4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du</a:t>
            </a:r>
            <a:r>
              <a:rPr sz="24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Maryland</a:t>
            </a:r>
            <a:r>
              <a:rPr sz="2400" spc="4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qui 	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fournit</a:t>
            </a:r>
            <a:r>
              <a:rPr sz="2400" spc="50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5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outils</a:t>
            </a:r>
            <a:r>
              <a:rPr sz="2400" spc="5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d'apprentissage</a:t>
            </a:r>
            <a:r>
              <a:rPr sz="2400" spc="5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400" spc="509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langage</a:t>
            </a:r>
            <a:r>
              <a:rPr sz="2400" spc="5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naturel</a:t>
            </a:r>
            <a:r>
              <a:rPr sz="2400" spc="5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5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aider</a:t>
            </a:r>
            <a:r>
              <a:rPr sz="2400" spc="5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400" spc="5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utilisateurs</a:t>
            </a:r>
            <a:r>
              <a:rPr sz="2400" spc="5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400" spc="5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créer</a:t>
            </a:r>
            <a:r>
              <a:rPr sz="2400" spc="5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des 	</a:t>
            </a:r>
            <a:r>
              <a:rPr sz="24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prompts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qualité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l'entraînement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4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modèles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langage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114" dirty="0">
                <a:solidFill>
                  <a:srgbClr val="3B3B3B"/>
                </a:solidFill>
                <a:latin typeface="Lucida Sans Unicode"/>
                <a:cs typeface="Lucida Sans Unicode"/>
              </a:rPr>
              <a:t>basés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sur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l'IA.</a:t>
            </a:r>
            <a:endParaRPr sz="2400">
              <a:latin typeface="Lucida Sans Unicode"/>
              <a:cs typeface="Lucida Sans Unicode"/>
            </a:endParaRPr>
          </a:p>
          <a:p>
            <a:pPr marL="353060" indent="-340360" algn="just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plateforme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est</a:t>
            </a:r>
            <a:r>
              <a:rPr sz="24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gratuite</a:t>
            </a:r>
            <a:r>
              <a:rPr sz="24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4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open</a:t>
            </a:r>
            <a:r>
              <a:rPr sz="2400" spc="-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source.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092040" y="8819169"/>
            <a:ext cx="806450" cy="1092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6000" spc="-985" dirty="0">
                <a:solidFill>
                  <a:srgbClr val="D7D7D7"/>
                </a:solidFill>
                <a:latin typeface="Arial Black"/>
                <a:cs typeface="Arial Black"/>
              </a:rPr>
              <a:t>41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7815" y="9748139"/>
            <a:ext cx="1563370" cy="2755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707" y="378714"/>
            <a:ext cx="12931140" cy="1437444"/>
          </a:xfrm>
          <a:prstGeom prst="rect">
            <a:avLst/>
          </a:prstGeom>
        </p:spPr>
        <p:txBody>
          <a:bodyPr vert="horz" wrap="square" lIns="0" tIns="600582" rIns="0" bIns="0" rtlCol="0">
            <a:spAutoFit/>
          </a:bodyPr>
          <a:lstStyle/>
          <a:p>
            <a:pPr marL="2740660">
              <a:lnSpc>
                <a:spcPct val="100000"/>
              </a:lnSpc>
              <a:spcBef>
                <a:spcPts val="100"/>
              </a:spcBef>
            </a:pPr>
            <a:r>
              <a:rPr sz="5400" b="0" spc="-280" dirty="0" err="1">
                <a:solidFill>
                  <a:srgbClr val="006066"/>
                </a:solidFill>
                <a:latin typeface="Arial Black"/>
                <a:cs typeface="Arial Black"/>
              </a:rPr>
              <a:t>L’i</a:t>
            </a:r>
            <a:r>
              <a:rPr lang="fr-FR" sz="5400" b="0" spc="-280" dirty="0" err="1">
                <a:solidFill>
                  <a:srgbClr val="006066"/>
                </a:solidFill>
                <a:latin typeface="Arial Black"/>
                <a:cs typeface="Arial Black"/>
              </a:rPr>
              <a:t>ngénierie</a:t>
            </a:r>
            <a:r>
              <a:rPr sz="5400" b="0" spc="-465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210" dirty="0">
                <a:solidFill>
                  <a:srgbClr val="006066"/>
                </a:solidFill>
                <a:latin typeface="Arial Black"/>
                <a:cs typeface="Arial Black"/>
              </a:rPr>
              <a:t>des</a:t>
            </a:r>
            <a:r>
              <a:rPr sz="5400" b="0" spc="-490" dirty="0">
                <a:solidFill>
                  <a:srgbClr val="006066"/>
                </a:solidFill>
                <a:latin typeface="Arial Black"/>
                <a:cs typeface="Arial Black"/>
              </a:rPr>
              <a:t> </a:t>
            </a:r>
            <a:r>
              <a:rPr sz="5400" b="0" spc="-50" dirty="0">
                <a:solidFill>
                  <a:srgbClr val="006066"/>
                </a:solidFill>
                <a:latin typeface="Arial Black"/>
                <a:cs typeface="Arial Black"/>
              </a:rPr>
              <a:t>prompts</a:t>
            </a:r>
            <a:endParaRPr sz="54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7875" y="2831338"/>
            <a:ext cx="15193644" cy="5231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L’ingénierie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-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prompt</a:t>
            </a:r>
            <a:r>
              <a:rPr sz="28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est</a:t>
            </a:r>
            <a:r>
              <a:rPr sz="28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8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discipline</a:t>
            </a:r>
            <a:r>
              <a:rPr sz="2800" spc="-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émergente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dans</a:t>
            </a:r>
            <a:r>
              <a:rPr sz="2800" spc="-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</a:t>
            </a:r>
            <a:r>
              <a:rPr sz="28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20" dirty="0">
                <a:solidFill>
                  <a:srgbClr val="3B3B3B"/>
                </a:solidFill>
                <a:latin typeface="Lucida Sans Unicode"/>
                <a:cs typeface="Lucida Sans Unicode"/>
              </a:rPr>
              <a:t>domaine</a:t>
            </a:r>
            <a:r>
              <a:rPr sz="2800" spc="-1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-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l’IA.</a:t>
            </a:r>
            <a:endParaRPr sz="2800">
              <a:latin typeface="Lucida Sans Unicode"/>
              <a:cs typeface="Lucida Sans Unicode"/>
            </a:endParaRPr>
          </a:p>
          <a:p>
            <a:pPr marL="469265" indent="-4565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Elle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concerne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l'utilisation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Large</a:t>
            </a:r>
            <a:r>
              <a:rPr sz="24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Language</a:t>
            </a:r>
            <a:r>
              <a:rPr sz="24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B3B3B"/>
                </a:solidFill>
                <a:latin typeface="Lucida Sans Unicode"/>
                <a:cs typeface="Lucida Sans Unicode"/>
              </a:rPr>
              <a:t>Model</a:t>
            </a:r>
            <a:r>
              <a:rPr sz="24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(LLM).</a:t>
            </a:r>
            <a:endParaRPr sz="2800">
              <a:latin typeface="Lucida Sans Unicode"/>
              <a:cs typeface="Lucida Sans Unicode"/>
            </a:endParaRPr>
          </a:p>
          <a:p>
            <a:pPr marL="467995" marR="6350" indent="-455295" algn="just">
              <a:lnSpc>
                <a:spcPts val="5380"/>
              </a:lnSpc>
              <a:spcBef>
                <a:spcPts val="509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Il</a:t>
            </a:r>
            <a:r>
              <a:rPr sz="28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s'agit</a:t>
            </a:r>
            <a:r>
              <a:rPr sz="28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l'art</a:t>
            </a:r>
            <a:r>
              <a:rPr sz="28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formuler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instructions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claires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optimisées,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 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appelées 	</a:t>
            </a:r>
            <a:r>
              <a:rPr sz="28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"prompts",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8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que</a:t>
            </a:r>
            <a:r>
              <a:rPr sz="28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204" dirty="0">
                <a:solidFill>
                  <a:srgbClr val="3B3B3B"/>
                </a:solidFill>
                <a:latin typeface="Lucida Sans Unicode"/>
                <a:cs typeface="Lucida Sans Unicode"/>
              </a:rPr>
              <a:t>LLM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génèrent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réponses</a:t>
            </a:r>
            <a:r>
              <a:rPr sz="28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pertinentes</a:t>
            </a:r>
            <a:r>
              <a:rPr sz="28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8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précises.</a:t>
            </a:r>
            <a:endParaRPr sz="2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Clr>
                <a:srgbClr val="3B3B3B"/>
              </a:buClr>
              <a:buFont typeface="Arial MT"/>
              <a:buChar char="•"/>
            </a:pPr>
            <a:endParaRPr sz="2800">
              <a:latin typeface="Lucida Sans Unicode"/>
              <a:cs typeface="Lucida Sans Unicode"/>
            </a:endParaRPr>
          </a:p>
          <a:p>
            <a:pPr marL="467995" marR="5080" indent="-455295" algn="just">
              <a:lnSpc>
                <a:spcPct val="16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5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prompt</a:t>
            </a:r>
            <a:r>
              <a:rPr sz="2800" spc="5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engineers</a:t>
            </a:r>
            <a:r>
              <a:rPr sz="2800" spc="5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doivent</a:t>
            </a:r>
            <a:r>
              <a:rPr sz="2800" spc="5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formuler</a:t>
            </a:r>
            <a:r>
              <a:rPr sz="2800" spc="5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5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questions</a:t>
            </a:r>
            <a:r>
              <a:rPr sz="2800" spc="5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800" spc="5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58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énoncés,</a:t>
            </a:r>
            <a:r>
              <a:rPr sz="2800" spc="5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clairs</a:t>
            </a:r>
            <a:r>
              <a:rPr sz="2800" spc="5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30" dirty="0">
                <a:solidFill>
                  <a:srgbClr val="3B3B3B"/>
                </a:solidFill>
                <a:latin typeface="Lucida Sans Unicode"/>
                <a:cs typeface="Lucida Sans Unicode"/>
              </a:rPr>
              <a:t>et 	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spécifiques</a:t>
            </a:r>
            <a:r>
              <a:rPr sz="2800" spc="1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95" dirty="0">
                <a:solidFill>
                  <a:srgbClr val="3B3B3B"/>
                </a:solidFill>
                <a:latin typeface="Lucida Sans Unicode"/>
                <a:cs typeface="Lucida Sans Unicode"/>
              </a:rPr>
              <a:t>au</a:t>
            </a:r>
            <a:r>
              <a:rPr sz="28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contexte,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afin</a:t>
            </a:r>
            <a:r>
              <a:rPr sz="28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d’obtenir</a:t>
            </a:r>
            <a:r>
              <a:rPr sz="2800" spc="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réponses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plus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pertinentes</a:t>
            </a:r>
            <a:r>
              <a:rPr sz="2800" spc="1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plus 	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précises</a:t>
            </a:r>
            <a:r>
              <a:rPr sz="28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5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-1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la</a:t>
            </a:r>
            <a:r>
              <a:rPr sz="2800" spc="-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75" dirty="0">
                <a:solidFill>
                  <a:srgbClr val="3B3B3B"/>
                </a:solidFill>
                <a:latin typeface="Lucida Sans Unicode"/>
                <a:cs typeface="Lucida Sans Unicode"/>
              </a:rPr>
              <a:t>part</a:t>
            </a:r>
            <a:r>
              <a:rPr sz="2800" spc="-1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0" dirty="0">
                <a:solidFill>
                  <a:srgbClr val="3B3B3B"/>
                </a:solidFill>
                <a:latin typeface="Lucida Sans Unicode"/>
                <a:cs typeface="Lucida Sans Unicode"/>
              </a:rPr>
              <a:t>du</a:t>
            </a:r>
            <a:r>
              <a:rPr sz="2800" spc="-1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modèle.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5" dirty="0"/>
              <a:t>42</a:t>
            </a:fld>
            <a:endParaRPr spc="-35" dirty="0"/>
          </a:p>
        </p:txBody>
      </p:sp>
      <p:sp>
        <p:nvSpPr>
          <p:cNvPr id="5" name="object 5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5205">
              <a:lnSpc>
                <a:spcPts val="5585"/>
              </a:lnSpc>
              <a:spcBef>
                <a:spcPts val="95"/>
              </a:spcBef>
            </a:pPr>
            <a:r>
              <a:rPr spc="-125" dirty="0"/>
              <a:t>Quelques</a:t>
            </a:r>
            <a:r>
              <a:rPr spc="-160" dirty="0"/>
              <a:t> </a:t>
            </a:r>
            <a:r>
              <a:rPr spc="-195" dirty="0"/>
              <a:t>bonnes</a:t>
            </a:r>
            <a:r>
              <a:rPr spc="-165" dirty="0"/>
              <a:t> </a:t>
            </a:r>
            <a:r>
              <a:rPr spc="-140" dirty="0"/>
              <a:t>pratiques</a:t>
            </a:r>
            <a:r>
              <a:rPr spc="-145" dirty="0"/>
              <a:t> </a:t>
            </a:r>
            <a:r>
              <a:rPr spc="-140" dirty="0"/>
              <a:t>d’ingénierie</a:t>
            </a:r>
          </a:p>
          <a:p>
            <a:pPr marL="1005205">
              <a:lnSpc>
                <a:spcPts val="5585"/>
              </a:lnSpc>
            </a:pPr>
            <a:r>
              <a:rPr spc="-175" dirty="0"/>
              <a:t>des</a:t>
            </a:r>
            <a:r>
              <a:rPr spc="-185" dirty="0"/>
              <a:t> </a:t>
            </a:r>
            <a:r>
              <a:rPr spc="-10" dirty="0"/>
              <a:t>prompts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0010" y="2730500"/>
            <a:ext cx="14589760" cy="5231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Contexte</a:t>
            </a:r>
            <a:r>
              <a:rPr sz="2800" spc="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approprié</a:t>
            </a:r>
            <a:endParaRPr sz="2800" dirty="0">
              <a:latin typeface="Lucida Sans Unicode"/>
              <a:cs typeface="Lucida Sans Unicode"/>
            </a:endParaRPr>
          </a:p>
          <a:p>
            <a:pPr marL="469265" indent="-4565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Division</a:t>
            </a:r>
            <a:r>
              <a:rPr sz="2800" spc="-114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lang="fr-FR"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es</a:t>
            </a:r>
            <a:r>
              <a:rPr sz="2800" spc="-1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tâches</a:t>
            </a:r>
            <a:r>
              <a:rPr sz="28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40" dirty="0">
                <a:solidFill>
                  <a:srgbClr val="3B3B3B"/>
                </a:solidFill>
                <a:latin typeface="Lucida Sans Unicode"/>
                <a:cs typeface="Lucida Sans Unicode"/>
              </a:rPr>
              <a:t>complexes</a:t>
            </a:r>
            <a:endParaRPr sz="2800" dirty="0">
              <a:latin typeface="Lucida Sans Unicode"/>
              <a:cs typeface="Lucida Sans Unicode"/>
            </a:endParaRPr>
          </a:p>
          <a:p>
            <a:pPr marL="563880" indent="-551180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563880" algn="l"/>
              </a:tabLst>
            </a:pP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Utilisation</a:t>
            </a:r>
            <a:r>
              <a:rPr sz="28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verbes</a:t>
            </a:r>
            <a:r>
              <a:rPr sz="28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d’action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295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8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“Écrire”,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“Classer”,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“Résumer”,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“Traduire”</a:t>
            </a:r>
            <a:r>
              <a:rPr sz="28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340" dirty="0">
                <a:solidFill>
                  <a:srgbClr val="3B3B3B"/>
                </a:solidFill>
                <a:latin typeface="Lucida Sans Unicode"/>
                <a:cs typeface="Lucida Sans Unicode"/>
              </a:rPr>
              <a:t>,</a:t>
            </a:r>
            <a:r>
              <a:rPr sz="28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etc</a:t>
            </a:r>
            <a:endParaRPr sz="2800" dirty="0">
              <a:latin typeface="Lucida Sans Unicode"/>
              <a:cs typeface="Lucida Sans Unicode"/>
            </a:endParaRPr>
          </a:p>
          <a:p>
            <a:pPr marL="469265" indent="-4565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Précision</a:t>
            </a:r>
            <a:endParaRPr sz="2800" dirty="0">
              <a:latin typeface="Lucida Sans Unicode"/>
              <a:cs typeface="Lucida Sans Unicode"/>
            </a:endParaRPr>
          </a:p>
          <a:p>
            <a:pPr marL="469265" indent="-45656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Utiliser</a:t>
            </a:r>
            <a:r>
              <a:rPr sz="2800" spc="-1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1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35" dirty="0">
                <a:solidFill>
                  <a:srgbClr val="3B3B3B"/>
                </a:solidFill>
                <a:latin typeface="Lucida Sans Unicode"/>
                <a:cs typeface="Lucida Sans Unicode"/>
              </a:rPr>
              <a:t>exemples</a:t>
            </a:r>
            <a:endParaRPr sz="2800" dirty="0">
              <a:latin typeface="Lucida Sans Unicode"/>
              <a:cs typeface="Lucida Sans Unicode"/>
            </a:endParaRPr>
          </a:p>
          <a:p>
            <a:pPr marL="469265" indent="-45656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Utilisation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contraintes:</a:t>
            </a:r>
            <a:r>
              <a:rPr sz="2800" spc="1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(exemple:</a:t>
            </a:r>
            <a:r>
              <a:rPr sz="2800" spc="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Résume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20" dirty="0">
                <a:solidFill>
                  <a:srgbClr val="3B3B3B"/>
                </a:solidFill>
                <a:latin typeface="Lucida Sans Unicode"/>
                <a:cs typeface="Lucida Sans Unicode"/>
              </a:rPr>
              <a:t>cet</a:t>
            </a:r>
            <a:r>
              <a:rPr sz="2800" spc="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article 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moins 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de</a:t>
            </a: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320" dirty="0">
                <a:solidFill>
                  <a:srgbClr val="3B3B3B"/>
                </a:solidFill>
                <a:latin typeface="Lucida Sans Unicode"/>
                <a:cs typeface="Lucida Sans Unicode"/>
              </a:rPr>
              <a:t>100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45" dirty="0">
                <a:solidFill>
                  <a:srgbClr val="3B3B3B"/>
                </a:solidFill>
                <a:latin typeface="Lucida Sans Unicode"/>
                <a:cs typeface="Lucida Sans Unicode"/>
              </a:rPr>
              <a:t>mots.)</a:t>
            </a:r>
            <a:endParaRPr sz="2800" dirty="0">
              <a:latin typeface="Lucida Sans Unicode"/>
              <a:cs typeface="Lucida Sans Unicode"/>
            </a:endParaRPr>
          </a:p>
          <a:p>
            <a:pPr marL="469900" marR="637540" indent="-457200">
              <a:lnSpc>
                <a:spcPct val="16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Bon</a:t>
            </a:r>
            <a:r>
              <a:rPr sz="2800" spc="-10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65" dirty="0">
                <a:solidFill>
                  <a:srgbClr val="3B3B3B"/>
                </a:solidFill>
                <a:latin typeface="Lucida Sans Unicode"/>
                <a:cs typeface="Lucida Sans Unicode"/>
              </a:rPr>
              <a:t>accompagnement</a:t>
            </a:r>
            <a:r>
              <a:rPr sz="28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295" dirty="0">
                <a:solidFill>
                  <a:srgbClr val="3B3B3B"/>
                </a:solidFill>
                <a:latin typeface="Lucida Sans Unicode"/>
                <a:cs typeface="Lucida Sans Unicode"/>
              </a:rPr>
              <a:t>:</a:t>
            </a:r>
            <a:r>
              <a:rPr sz="28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“N’hésite</a:t>
            </a:r>
            <a:r>
              <a:rPr sz="28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65" dirty="0">
                <a:solidFill>
                  <a:srgbClr val="3B3B3B"/>
                </a:solidFill>
                <a:latin typeface="Lucida Sans Unicode"/>
                <a:cs typeface="Lucida Sans Unicode"/>
              </a:rPr>
              <a:t>pas</a:t>
            </a:r>
            <a:r>
              <a:rPr sz="2800" spc="-12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325" dirty="0">
                <a:solidFill>
                  <a:srgbClr val="3B3B3B"/>
                </a:solidFill>
                <a:latin typeface="Lucida Sans Unicode"/>
                <a:cs typeface="Lucida Sans Unicode"/>
              </a:rPr>
              <a:t>à</a:t>
            </a:r>
            <a:r>
              <a:rPr sz="28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204" dirty="0">
                <a:solidFill>
                  <a:srgbClr val="3B3B3B"/>
                </a:solidFill>
                <a:latin typeface="Lucida Sans Unicode"/>
                <a:cs typeface="Lucida Sans Unicode"/>
              </a:rPr>
              <a:t>me</a:t>
            </a:r>
            <a:r>
              <a:rPr sz="28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poser</a:t>
            </a:r>
            <a:r>
              <a:rPr sz="28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questions</a:t>
            </a:r>
            <a:r>
              <a:rPr sz="2800" spc="-10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pour</a:t>
            </a:r>
            <a:r>
              <a:rPr sz="28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mieux 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comprendre</a:t>
            </a:r>
            <a:r>
              <a:rPr sz="2800" spc="-9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290" dirty="0">
                <a:solidFill>
                  <a:srgbClr val="3B3B3B"/>
                </a:solidFill>
                <a:latin typeface="Lucida Sans Unicode"/>
                <a:cs typeface="Lucida Sans Unicode"/>
              </a:rPr>
              <a:t>ma</a:t>
            </a:r>
            <a:r>
              <a:rPr sz="2800" spc="-1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85" dirty="0">
                <a:solidFill>
                  <a:srgbClr val="3B3B3B"/>
                </a:solidFill>
                <a:latin typeface="Lucida Sans Unicode"/>
                <a:cs typeface="Lucida Sans Unicode"/>
              </a:rPr>
              <a:t>demande.”</a:t>
            </a:r>
            <a:endParaRPr sz="28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00"/>
              </a:spcBef>
            </a:pPr>
            <a:fld id="{81D60167-4931-47E6-BA6A-407CBD079E47}" type="slidenum">
              <a:rPr spc="-35" dirty="0"/>
              <a:t>43</a:t>
            </a:fld>
            <a:endParaRPr spc="-35" dirty="0"/>
          </a:p>
        </p:txBody>
      </p:sp>
      <p:sp>
        <p:nvSpPr>
          <p:cNvPr id="6" name="object 6"/>
          <p:cNvSpPr txBox="1"/>
          <p:nvPr/>
        </p:nvSpPr>
        <p:spPr>
          <a:xfrm>
            <a:off x="16307815" y="8819169"/>
            <a:ext cx="161607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89E9F"/>
                </a:solidFill>
                <a:latin typeface="Lucida Sans Unicode"/>
                <a:cs typeface="Lucida Sans Unicode"/>
              </a:rPr>
              <a:t>Introduction </a:t>
            </a:r>
            <a:r>
              <a:rPr sz="1400" spc="170" dirty="0">
                <a:solidFill>
                  <a:srgbClr val="889E9F"/>
                </a:solidFill>
                <a:latin typeface="Lucida Sans Unicode"/>
                <a:cs typeface="Lucida Sans Unicode"/>
              </a:rPr>
              <a:t>à</a:t>
            </a:r>
            <a:r>
              <a:rPr sz="1400" spc="-10" dirty="0">
                <a:solidFill>
                  <a:srgbClr val="889E9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889E9F"/>
                </a:solidFill>
                <a:latin typeface="Lucida Sans Unicode"/>
                <a:cs typeface="Lucida Sans Unicode"/>
              </a:rPr>
              <a:t>l'IA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5205">
              <a:lnSpc>
                <a:spcPts val="5585"/>
              </a:lnSpc>
              <a:spcBef>
                <a:spcPts val="95"/>
              </a:spcBef>
            </a:pPr>
            <a:r>
              <a:rPr spc="-125" dirty="0"/>
              <a:t>Quelques</a:t>
            </a:r>
            <a:r>
              <a:rPr spc="-160" dirty="0"/>
              <a:t> </a:t>
            </a:r>
            <a:r>
              <a:rPr spc="-195" dirty="0"/>
              <a:t>bonnes</a:t>
            </a:r>
            <a:r>
              <a:rPr spc="-165" dirty="0"/>
              <a:t> </a:t>
            </a:r>
            <a:r>
              <a:rPr spc="-140" dirty="0"/>
              <a:t>pratiques</a:t>
            </a:r>
            <a:r>
              <a:rPr spc="-145" dirty="0"/>
              <a:t> </a:t>
            </a:r>
            <a:r>
              <a:rPr spc="-140" dirty="0"/>
              <a:t>d’ingénierie</a:t>
            </a:r>
          </a:p>
          <a:p>
            <a:pPr marL="1005205">
              <a:lnSpc>
                <a:spcPts val="5585"/>
              </a:lnSpc>
            </a:pPr>
            <a:r>
              <a:rPr spc="-175" dirty="0"/>
              <a:t>des</a:t>
            </a:r>
            <a:r>
              <a:rPr spc="-185" dirty="0"/>
              <a:t> </a:t>
            </a:r>
            <a:r>
              <a:rPr spc="-10" dirty="0"/>
              <a:t>prompts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108" y="3127629"/>
            <a:ext cx="15135225" cy="232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005454"/>
                </a:solidFill>
                <a:latin typeface="Arial Black"/>
                <a:cs typeface="Arial Black"/>
              </a:rPr>
              <a:t>Exemple</a:t>
            </a:r>
            <a:r>
              <a:rPr sz="2400" spc="-265" dirty="0">
                <a:solidFill>
                  <a:srgbClr val="005454"/>
                </a:solidFill>
                <a:latin typeface="Arial Black"/>
                <a:cs typeface="Arial Black"/>
              </a:rPr>
              <a:t> </a:t>
            </a:r>
            <a:r>
              <a:rPr sz="2400" spc="-55" dirty="0">
                <a:solidFill>
                  <a:srgbClr val="005454"/>
                </a:solidFill>
                <a:latin typeface="Arial Black"/>
                <a:cs typeface="Arial Black"/>
              </a:rPr>
              <a:t>de</a:t>
            </a:r>
            <a:r>
              <a:rPr sz="2400" spc="-265" dirty="0">
                <a:solidFill>
                  <a:srgbClr val="00545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005454"/>
                </a:solidFill>
                <a:latin typeface="Arial Black"/>
                <a:cs typeface="Arial Black"/>
              </a:rPr>
              <a:t>prompt</a:t>
            </a: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4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5"/>
              </a:spcBef>
            </a:pPr>
            <a:r>
              <a:rPr sz="2800" spc="-204" dirty="0">
                <a:solidFill>
                  <a:srgbClr val="FF0000"/>
                </a:solidFill>
                <a:latin typeface="Arial Black"/>
                <a:cs typeface="Arial Black"/>
              </a:rPr>
              <a:t>X</a:t>
            </a:r>
            <a:r>
              <a:rPr sz="2800" spc="-120" dirty="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sz="2800" spc="-185" dirty="0">
                <a:solidFill>
                  <a:srgbClr val="3B3B3B"/>
                </a:solidFill>
                <a:latin typeface="Lucida Sans Unicode"/>
                <a:cs typeface="Lucida Sans Unicode"/>
              </a:rPr>
              <a:t>«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Écris</a:t>
            </a:r>
            <a:r>
              <a:rPr sz="28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8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description</a:t>
            </a:r>
            <a:r>
              <a:rPr sz="28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d’un</a:t>
            </a:r>
            <a:r>
              <a:rPr sz="2800" spc="-8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0" dirty="0">
                <a:solidFill>
                  <a:srgbClr val="3B3B3B"/>
                </a:solidFill>
                <a:latin typeface="Lucida Sans Unicode"/>
                <a:cs typeface="Lucida Sans Unicode"/>
              </a:rPr>
              <a:t>chat,</a:t>
            </a:r>
            <a:r>
              <a:rPr sz="28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en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expliquant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d’où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viennent</a:t>
            </a:r>
            <a:r>
              <a:rPr sz="28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chats,</a:t>
            </a:r>
            <a:r>
              <a:rPr sz="28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0" dirty="0">
                <a:solidFill>
                  <a:srgbClr val="3B3B3B"/>
                </a:solidFill>
                <a:latin typeface="Lucida Sans Unicode"/>
                <a:cs typeface="Lucida Sans Unicode"/>
              </a:rPr>
              <a:t>combien</a:t>
            </a:r>
            <a:r>
              <a:rPr sz="2800" spc="-5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05" dirty="0">
                <a:solidFill>
                  <a:srgbClr val="3B3B3B"/>
                </a:solidFill>
                <a:latin typeface="Lucida Sans Unicode"/>
                <a:cs typeface="Lucida Sans Unicode"/>
              </a:rPr>
              <a:t>de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variétés</a:t>
            </a:r>
            <a:r>
              <a:rPr sz="2800" spc="-3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existent,</a:t>
            </a:r>
            <a:r>
              <a:rPr sz="2800" spc="-6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210" dirty="0">
                <a:solidFill>
                  <a:srgbClr val="3B3B3B"/>
                </a:solidFill>
                <a:latin typeface="Lucida Sans Unicode"/>
                <a:cs typeface="Lucida Sans Unicode"/>
              </a:rPr>
              <a:t>ce</a:t>
            </a:r>
            <a:r>
              <a:rPr sz="2800" spc="-65" dirty="0">
                <a:solidFill>
                  <a:srgbClr val="3B3B3B"/>
                </a:solidFill>
                <a:latin typeface="Lucida Sans Unicode"/>
                <a:cs typeface="Lucida Sans Unicode"/>
              </a:rPr>
              <a:t> qu’ils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30" dirty="0">
                <a:solidFill>
                  <a:srgbClr val="3B3B3B"/>
                </a:solidFill>
                <a:latin typeface="Lucida Sans Unicode"/>
                <a:cs typeface="Lucida Sans Unicode"/>
              </a:rPr>
              <a:t>mangent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5" dirty="0">
                <a:solidFill>
                  <a:srgbClr val="3B3B3B"/>
                </a:solidFill>
                <a:latin typeface="Lucida Sans Unicode"/>
                <a:cs typeface="Lucida Sans Unicode"/>
              </a:rPr>
              <a:t>et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40" dirty="0">
                <a:solidFill>
                  <a:srgbClr val="3B3B3B"/>
                </a:solidFill>
                <a:latin typeface="Lucida Sans Unicode"/>
                <a:cs typeface="Lucida Sans Unicode"/>
              </a:rPr>
              <a:t>comment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90" dirty="0">
                <a:solidFill>
                  <a:srgbClr val="3B3B3B"/>
                </a:solidFill>
                <a:latin typeface="Lucida Sans Unicode"/>
                <a:cs typeface="Lucida Sans Unicode"/>
              </a:rPr>
              <a:t>ils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interagissent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215" dirty="0">
                <a:solidFill>
                  <a:srgbClr val="3B3B3B"/>
                </a:solidFill>
                <a:latin typeface="Lucida Sans Unicode"/>
                <a:cs typeface="Lucida Sans Unicode"/>
              </a:rPr>
              <a:t>avec</a:t>
            </a:r>
            <a:r>
              <a:rPr sz="2800" spc="-7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les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humains.</a:t>
            </a:r>
            <a:r>
              <a:rPr sz="2800" spc="-7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»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108" y="7052564"/>
            <a:ext cx="14687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95"/>
              </a:spcBef>
              <a:buClr>
                <a:srgbClr val="00AF50"/>
              </a:buClr>
              <a:buFont typeface="Wingdings"/>
              <a:buChar char=""/>
              <a:tabLst>
                <a:tab pos="387350" algn="l"/>
              </a:tabLst>
            </a:pPr>
            <a:r>
              <a:rPr sz="2800" spc="-185" dirty="0">
                <a:solidFill>
                  <a:srgbClr val="3B3B3B"/>
                </a:solidFill>
                <a:latin typeface="Lucida Sans Unicode"/>
                <a:cs typeface="Lucida Sans Unicode"/>
              </a:rPr>
              <a:t>«</a:t>
            </a:r>
            <a:r>
              <a:rPr sz="28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60" dirty="0">
                <a:solidFill>
                  <a:srgbClr val="3B3B3B"/>
                </a:solidFill>
                <a:latin typeface="Lucida Sans Unicode"/>
                <a:cs typeface="Lucida Sans Unicode"/>
              </a:rPr>
              <a:t>Rédige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70" dirty="0">
                <a:solidFill>
                  <a:srgbClr val="3B3B3B"/>
                </a:solidFill>
                <a:latin typeface="Lucida Sans Unicode"/>
                <a:cs typeface="Lucida Sans Unicode"/>
              </a:rPr>
              <a:t>une</a:t>
            </a:r>
            <a:r>
              <a:rPr sz="2800" spc="-4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description</a:t>
            </a:r>
            <a:r>
              <a:rPr sz="2800" spc="-2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95" dirty="0">
                <a:solidFill>
                  <a:srgbClr val="3B3B3B"/>
                </a:solidFill>
                <a:latin typeface="Lucida Sans Unicode"/>
                <a:cs typeface="Lucida Sans Unicode"/>
              </a:rPr>
              <a:t>comportements</a:t>
            </a:r>
            <a:r>
              <a:rPr sz="2800" spc="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55" dirty="0">
                <a:solidFill>
                  <a:srgbClr val="3B3B3B"/>
                </a:solidFill>
                <a:latin typeface="Lucida Sans Unicode"/>
                <a:cs typeface="Lucida Sans Unicode"/>
              </a:rPr>
              <a:t>typiques</a:t>
            </a:r>
            <a:r>
              <a:rPr sz="28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10" dirty="0">
                <a:solidFill>
                  <a:srgbClr val="3B3B3B"/>
                </a:solidFill>
                <a:latin typeface="Lucida Sans Unicode"/>
                <a:cs typeface="Lucida Sans Unicode"/>
              </a:rPr>
              <a:t>des</a:t>
            </a:r>
            <a:r>
              <a:rPr sz="2800" spc="-45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125" dirty="0">
                <a:solidFill>
                  <a:srgbClr val="3B3B3B"/>
                </a:solidFill>
                <a:latin typeface="Lucida Sans Unicode"/>
                <a:cs typeface="Lucida Sans Unicode"/>
              </a:rPr>
              <a:t>chats</a:t>
            </a:r>
            <a:r>
              <a:rPr sz="2800" spc="-3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3B3B3B"/>
                </a:solidFill>
                <a:latin typeface="Lucida Sans Unicode"/>
                <a:cs typeface="Lucida Sans Unicode"/>
              </a:rPr>
              <a:t>domestiques.</a:t>
            </a:r>
            <a:r>
              <a:rPr sz="2800" spc="-10" dirty="0">
                <a:solidFill>
                  <a:srgbClr val="3B3B3B"/>
                </a:solidFill>
                <a:latin typeface="Lucida Sans Unicode"/>
                <a:cs typeface="Lucida Sans Unicode"/>
              </a:rPr>
              <a:t> </a:t>
            </a:r>
            <a:r>
              <a:rPr sz="2800" spc="-50" dirty="0">
                <a:solidFill>
                  <a:srgbClr val="3B3B3B"/>
                </a:solidFill>
                <a:latin typeface="Lucida Sans Unicode"/>
                <a:cs typeface="Lucida Sans Unicode"/>
              </a:rPr>
              <a:t>»</a:t>
            </a:r>
            <a:endParaRPr sz="2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</TotalTime>
  <Words>12811</Words>
  <Application>Microsoft Office PowerPoint</Application>
  <PresentationFormat>Personnalisé</PresentationFormat>
  <Paragraphs>1228</Paragraphs>
  <Slides>43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52" baseType="lpstr">
      <vt:lpstr>Arial Black</vt:lpstr>
      <vt:lpstr>Arial MT</vt:lpstr>
      <vt:lpstr>Calibri</vt:lpstr>
      <vt:lpstr>Lucida Sans Unicode</vt:lpstr>
      <vt:lpstr>Tahoma</vt:lpstr>
      <vt:lpstr>Times New Roman</vt:lpstr>
      <vt:lpstr>Verdana</vt:lpstr>
      <vt:lpstr>Wingdings</vt:lpstr>
      <vt:lpstr>Office Theme</vt:lpstr>
      <vt:lpstr>Introduction et Ethiques de l’Intelligence Artificielle</vt:lpstr>
      <vt:lpstr>Définitions, types, et historique de l’IA</vt:lpstr>
      <vt:lpstr>Introduction</vt:lpstr>
      <vt:lpstr>Qu‘est ce que l’intelligence artificielle ?</vt:lpstr>
      <vt:lpstr>Définition</vt:lpstr>
      <vt:lpstr>Présentation PowerPoint</vt:lpstr>
      <vt:lpstr>Présentation PowerPoint</vt:lpstr>
      <vt:lpstr>Présentation PowerPoint</vt:lpstr>
      <vt:lpstr>Figures clés</vt:lpstr>
      <vt:lpstr>L’IA en chiffre</vt:lpstr>
      <vt:lpstr>L’IA en chiffre</vt:lpstr>
      <vt:lpstr>Présentation PowerPoint</vt:lpstr>
      <vt:lpstr>Présentation PowerPoint</vt:lpstr>
      <vt:lpstr>L’IA en chiffre</vt:lpstr>
      <vt:lpstr>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Les domaines d’application de l’IA</vt:lpstr>
      <vt:lpstr>Présentation PowerPoint</vt:lpstr>
      <vt:lpstr>Outils de l’IA</vt:lpstr>
      <vt:lpstr>Outils de l’ IA</vt:lpstr>
      <vt:lpstr>Les générateurs de texte</vt:lpstr>
      <vt:lpstr>Les générateurs d’images</vt:lpstr>
      <vt:lpstr>Les générateurs de vidéo</vt:lpstr>
      <vt:lpstr>Présentation PowerPoint</vt:lpstr>
      <vt:lpstr>Les générateurs de code</vt:lpstr>
      <vt:lpstr>Outils de l’IA</vt:lpstr>
      <vt:lpstr>Les outils d’ amélioration de prompts</vt:lpstr>
      <vt:lpstr>L’ingénierie des prompts</vt:lpstr>
      <vt:lpstr>Quelques bonnes pratiques d’ingénierie des prompts</vt:lpstr>
      <vt:lpstr>Quelques bonnes pratiques d’ingénierie des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Polaris</dc:title>
  <dc:creator>hp</dc:creator>
  <cp:lastModifiedBy>ABDERRAHMANE</cp:lastModifiedBy>
  <cp:revision>101</cp:revision>
  <dcterms:created xsi:type="dcterms:W3CDTF">2025-10-22T14:04:58Z</dcterms:created>
  <dcterms:modified xsi:type="dcterms:W3CDTF">2025-10-23T01:03:48Z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2025-10-22T00:00:00Z</vt:filetime>
  </property>
  <property fmtid="{D5CDD505-2E9C-101B-9397-08002B2CF9AE}" pid="5" name="Producer">
    <vt:lpwstr>Microsoft® PowerPoint® 2019</vt:lpwstr>
  </property>
</Properties>
</file>